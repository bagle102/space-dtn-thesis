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b9f2da82b04513" /><Relationship Type="http://schemas.openxmlformats.org/officeDocument/2006/relationships/extended-properties" Target="/docProps/app.xml" Id="R0fcb73e60f7a4d87" /><Relationship Type="http://schemas.openxmlformats.org/officeDocument/2006/relationships/officeDocument" Target="/ppt/presentation.xml" Id="Rd6b192446e0345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c54a2d3284862"/>
  </p:sldMasterIdLst>
  <p:notesMasterIdLst>
    <p:notesMasterId xmlns:r="http://schemas.openxmlformats.org/officeDocument/2006/relationships" r:id="Rd12b28da116240c5"/>
  </p:notesMasterIdLst>
  <p:sldIdLst>
    <p:sldId xmlns:r="http://schemas.openxmlformats.org/officeDocument/2006/relationships" id="256" r:id="R25bbff3772bb4e51"/>
    <p:sldId xmlns:r="http://schemas.openxmlformats.org/officeDocument/2006/relationships" id="257" r:id="Rf575cd8b1cc74e68"/>
    <p:sldId xmlns:r="http://schemas.openxmlformats.org/officeDocument/2006/relationships" id="258" r:id="R10eb9564879e47c7"/>
    <p:sldId xmlns:r="http://schemas.openxmlformats.org/officeDocument/2006/relationships" id="259" r:id="R95775f276067482c"/>
    <p:sldId xmlns:r="http://schemas.openxmlformats.org/officeDocument/2006/relationships" id="260" r:id="R870ce946eef74ddf"/>
    <p:sldId xmlns:r="http://schemas.openxmlformats.org/officeDocument/2006/relationships" id="261" r:id="R682d6422839e424a"/>
    <p:sldId xmlns:r="http://schemas.openxmlformats.org/officeDocument/2006/relationships" id="262" r:id="Rd3af2fcbf47a4f72"/>
    <p:sldId xmlns:r="http://schemas.openxmlformats.org/officeDocument/2006/relationships" id="263" r:id="R884527751792416f"/>
    <p:sldId xmlns:r="http://schemas.openxmlformats.org/officeDocument/2006/relationships" id="264" r:id="Rf62e19e4cc6e4ec1"/>
    <p:sldId xmlns:r="http://schemas.openxmlformats.org/officeDocument/2006/relationships" id="265" r:id="R3595d493ce184fd5"/>
    <p:sldId xmlns:r="http://schemas.openxmlformats.org/officeDocument/2006/relationships" id="266" r:id="R9bbb794a66164a79"/>
    <p:sldId xmlns:r="http://schemas.openxmlformats.org/officeDocument/2006/relationships" id="267" r:id="Rac40553035b743bb"/>
    <p:sldId xmlns:r="http://schemas.openxmlformats.org/officeDocument/2006/relationships" id="268" r:id="Rc69bbad18fc443e7"/>
    <p:sldId xmlns:r="http://schemas.openxmlformats.org/officeDocument/2006/relationships" id="269" r:id="R65af0b4fa1914365"/>
    <p:sldId xmlns:r="http://schemas.openxmlformats.org/officeDocument/2006/relationships" id="270" r:id="R6bc8892945454886"/>
    <p:sldId xmlns:r="http://schemas.openxmlformats.org/officeDocument/2006/relationships" id="271" r:id="Rd0fac058c0914e2c"/>
    <p:sldId xmlns:r="http://schemas.openxmlformats.org/officeDocument/2006/relationships" id="272" r:id="Reb331af984ac4b09"/>
    <p:sldId xmlns:r="http://schemas.openxmlformats.org/officeDocument/2006/relationships" id="273" r:id="R33ac6842b3f84f3a"/>
    <p:sldId xmlns:r="http://schemas.openxmlformats.org/officeDocument/2006/relationships" id="274" r:id="R11bc11e3bae644d8"/>
    <p:sldId xmlns:r="http://schemas.openxmlformats.org/officeDocument/2006/relationships" id="275" r:id="Rb26fadb816084fca"/>
    <p:sldId xmlns:r="http://schemas.openxmlformats.org/officeDocument/2006/relationships" id="276" r:id="Rf517a2d2a4ac4dc0"/>
    <p:sldId xmlns:r="http://schemas.openxmlformats.org/officeDocument/2006/relationships" id="277" r:id="R37fd3873b01f4725"/>
    <p:sldId xmlns:r="http://schemas.openxmlformats.org/officeDocument/2006/relationships" id="278" r:id="R0c210d9bdf4e45c1"/>
    <p:sldId xmlns:r="http://schemas.openxmlformats.org/officeDocument/2006/relationships" id="279" r:id="Rd24f51e8c7934999"/>
    <p:sldId xmlns:r="http://schemas.openxmlformats.org/officeDocument/2006/relationships" id="280" r:id="R1d4ffe25ae624762"/>
    <p:sldId xmlns:r="http://schemas.openxmlformats.org/officeDocument/2006/relationships" id="281" r:id="R74db3e8dffb8406b"/>
    <p:sldId xmlns:r="http://schemas.openxmlformats.org/officeDocument/2006/relationships" id="282" r:id="Rc0db2fa7ccfb459c"/>
    <p:sldId xmlns:r="http://schemas.openxmlformats.org/officeDocument/2006/relationships" id="283" r:id="Rffc8ef13374b423f"/>
    <p:sldId xmlns:r="http://schemas.openxmlformats.org/officeDocument/2006/relationships" id="284" r:id="R3e02b15d73bd4edd"/>
    <p:sldId xmlns:r="http://schemas.openxmlformats.org/officeDocument/2006/relationships" id="285" r:id="R69abb9f75102499a"/>
    <p:sldId xmlns:r="http://schemas.openxmlformats.org/officeDocument/2006/relationships" id="286" r:id="R566f481504074325"/>
    <p:sldId xmlns:r="http://schemas.openxmlformats.org/officeDocument/2006/relationships" id="287" r:id="R203b87b42f21433e"/>
    <p:sldId xmlns:r="http://schemas.openxmlformats.org/officeDocument/2006/relationships" id="288" r:id="R9f63c0ae67b64963"/>
    <p:sldId xmlns:r="http://schemas.openxmlformats.org/officeDocument/2006/relationships" id="289" r:id="Rc3e5de6b7df7464d"/>
    <p:sldId xmlns:r="http://schemas.openxmlformats.org/officeDocument/2006/relationships" id="290" r:id="R8afdde1148484af6"/>
    <p:sldId xmlns:r="http://schemas.openxmlformats.org/officeDocument/2006/relationships" id="291" r:id="R9c61b403647e44ef"/>
    <p:sldId xmlns:r="http://schemas.openxmlformats.org/officeDocument/2006/relationships" id="292" r:id="R5df171dc363343e1"/>
    <p:sldId xmlns:r="http://schemas.openxmlformats.org/officeDocument/2006/relationships" id="293" r:id="R3d8329785c11439f"/>
    <p:sldId xmlns:r="http://schemas.openxmlformats.org/officeDocument/2006/relationships" id="294" r:id="R0aa918c459544c0d"/>
    <p:sldId xmlns:r="http://schemas.openxmlformats.org/officeDocument/2006/relationships" id="295" r:id="R1312b7c93c62408d"/>
    <p:sldId xmlns:r="http://schemas.openxmlformats.org/officeDocument/2006/relationships" id="296" r:id="Rfcc3d238b78a4d20"/>
    <p:sldId xmlns:r="http://schemas.openxmlformats.org/officeDocument/2006/relationships" id="297" r:id="Rcb91515c86734e78"/>
    <p:sldId xmlns:r="http://schemas.openxmlformats.org/officeDocument/2006/relationships" id="298" r:id="Rb4d5921958be4e7e"/>
    <p:sldId xmlns:r="http://schemas.openxmlformats.org/officeDocument/2006/relationships" id="299" r:id="Rb9d6377e42e2493f"/>
    <p:sldId xmlns:r="http://schemas.openxmlformats.org/officeDocument/2006/relationships" id="300" r:id="R2ffb0474eda0432c"/>
    <p:sldId xmlns:r="http://schemas.openxmlformats.org/officeDocument/2006/relationships" id="301" r:id="R9c42f807f33f43a4"/>
    <p:sldId xmlns:r="http://schemas.openxmlformats.org/officeDocument/2006/relationships" id="302" r:id="R5ecee0d04e554c5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95de07d3b24a71" /><Relationship Type="http://schemas.openxmlformats.org/officeDocument/2006/relationships/slideMaster" Target="/ppt/slideMasters/slideMaster1.xml" Id="R511c54a2d3284862" /><Relationship Type="http://schemas.openxmlformats.org/officeDocument/2006/relationships/notesMaster" Target="/ppt/notesMasters/notesMaster1.xml" Id="Rd12b28da116240c5" /><Relationship Type="http://schemas.openxmlformats.org/officeDocument/2006/relationships/presProps" Target="/ppt/presProps.xml" Id="R0266017a147349ff" /><Relationship Type="http://schemas.openxmlformats.org/officeDocument/2006/relationships/viewProps" Target="/ppt/viewProps.xml" Id="R0dd8c1f88c6b4adf" /><Relationship Type="http://schemas.openxmlformats.org/officeDocument/2006/relationships/tableStyles" Target="/ppt/tableStyles.xml" Id="R948e708c7b814902" /><Relationship Type="http://schemas.openxmlformats.org/officeDocument/2006/relationships/slide" Target="/ppt/slides/slide1.xml" Id="R25bbff3772bb4e51" /><Relationship Type="http://schemas.openxmlformats.org/officeDocument/2006/relationships/slide" Target="/ppt/slides/slide2.xml" Id="Rf575cd8b1cc74e68" /><Relationship Type="http://schemas.openxmlformats.org/officeDocument/2006/relationships/slide" Target="/ppt/slides/slide3.xml" Id="R10eb9564879e47c7" /><Relationship Type="http://schemas.openxmlformats.org/officeDocument/2006/relationships/slide" Target="/ppt/slides/slide4.xml" Id="R95775f276067482c" /><Relationship Type="http://schemas.openxmlformats.org/officeDocument/2006/relationships/slide" Target="/ppt/slides/slide5.xml" Id="R870ce946eef74ddf" /><Relationship Type="http://schemas.openxmlformats.org/officeDocument/2006/relationships/slide" Target="/ppt/slides/slide6.xml" Id="R682d6422839e424a" /><Relationship Type="http://schemas.openxmlformats.org/officeDocument/2006/relationships/slide" Target="/ppt/slides/slide7.xml" Id="Rd3af2fcbf47a4f72" /><Relationship Type="http://schemas.openxmlformats.org/officeDocument/2006/relationships/slide" Target="/ppt/slides/slide8.xml" Id="R884527751792416f" /><Relationship Type="http://schemas.openxmlformats.org/officeDocument/2006/relationships/slide" Target="/ppt/slides/slide9.xml" Id="Rf62e19e4cc6e4ec1" /><Relationship Type="http://schemas.openxmlformats.org/officeDocument/2006/relationships/slide" Target="/ppt/slides/slide10.xml" Id="R3595d493ce184fd5" /><Relationship Type="http://schemas.openxmlformats.org/officeDocument/2006/relationships/slide" Target="/ppt/slides/slide11.xml" Id="R9bbb794a66164a79" /><Relationship Type="http://schemas.openxmlformats.org/officeDocument/2006/relationships/slide" Target="/ppt/slides/slide12.xml" Id="Rac40553035b743bb" /><Relationship Type="http://schemas.openxmlformats.org/officeDocument/2006/relationships/slide" Target="/ppt/slides/slide13.xml" Id="Rc69bbad18fc443e7" /><Relationship Type="http://schemas.openxmlformats.org/officeDocument/2006/relationships/slide" Target="/ppt/slides/slide14.xml" Id="R65af0b4fa1914365" /><Relationship Type="http://schemas.openxmlformats.org/officeDocument/2006/relationships/slide" Target="/ppt/slides/slide15.xml" Id="R6bc8892945454886" /><Relationship Type="http://schemas.openxmlformats.org/officeDocument/2006/relationships/slide" Target="/ppt/slides/slide16.xml" Id="Rd0fac058c0914e2c" /><Relationship Type="http://schemas.openxmlformats.org/officeDocument/2006/relationships/slide" Target="/ppt/slides/slide17.xml" Id="Reb331af984ac4b09" /><Relationship Type="http://schemas.openxmlformats.org/officeDocument/2006/relationships/slide" Target="/ppt/slides/slide18.xml" Id="R33ac6842b3f84f3a" /><Relationship Type="http://schemas.openxmlformats.org/officeDocument/2006/relationships/slide" Target="/ppt/slides/slide19.xml" Id="R11bc11e3bae644d8" /><Relationship Type="http://schemas.openxmlformats.org/officeDocument/2006/relationships/slide" Target="/ppt/slides/slide20.xml" Id="Rb26fadb816084fca" /><Relationship Type="http://schemas.openxmlformats.org/officeDocument/2006/relationships/slide" Target="/ppt/slides/slide21.xml" Id="Rf517a2d2a4ac4dc0" /><Relationship Type="http://schemas.openxmlformats.org/officeDocument/2006/relationships/slide" Target="/ppt/slides/slide22.xml" Id="R37fd3873b01f4725" /><Relationship Type="http://schemas.openxmlformats.org/officeDocument/2006/relationships/slide" Target="/ppt/slides/slide23.xml" Id="R0c210d9bdf4e45c1" /><Relationship Type="http://schemas.openxmlformats.org/officeDocument/2006/relationships/slide" Target="/ppt/slides/slide24.xml" Id="Rd24f51e8c7934999" /><Relationship Type="http://schemas.openxmlformats.org/officeDocument/2006/relationships/slide" Target="/ppt/slides/slide25.xml" Id="R1d4ffe25ae624762" /><Relationship Type="http://schemas.openxmlformats.org/officeDocument/2006/relationships/slide" Target="/ppt/slides/slide26.xml" Id="R74db3e8dffb8406b" /><Relationship Type="http://schemas.openxmlformats.org/officeDocument/2006/relationships/slide" Target="/ppt/slides/slide27.xml" Id="Rc0db2fa7ccfb459c" /><Relationship Type="http://schemas.openxmlformats.org/officeDocument/2006/relationships/slide" Target="/ppt/slides/slide28.xml" Id="Rffc8ef13374b423f" /><Relationship Type="http://schemas.openxmlformats.org/officeDocument/2006/relationships/slide" Target="/ppt/slides/slide29.xml" Id="R3e02b15d73bd4edd" /><Relationship Type="http://schemas.openxmlformats.org/officeDocument/2006/relationships/slide" Target="/ppt/slides/slide30.xml" Id="R69abb9f75102499a" /><Relationship Type="http://schemas.openxmlformats.org/officeDocument/2006/relationships/slide" Target="/ppt/slides/slide31.xml" Id="R566f481504074325" /><Relationship Type="http://schemas.openxmlformats.org/officeDocument/2006/relationships/slide" Target="/ppt/slides/slide32.xml" Id="R203b87b42f21433e" /><Relationship Type="http://schemas.openxmlformats.org/officeDocument/2006/relationships/slide" Target="/ppt/slides/slide33.xml" Id="R9f63c0ae67b64963" /><Relationship Type="http://schemas.openxmlformats.org/officeDocument/2006/relationships/slide" Target="/ppt/slides/slide34.xml" Id="Rc3e5de6b7df7464d" /><Relationship Type="http://schemas.openxmlformats.org/officeDocument/2006/relationships/slide" Target="/ppt/slides/slide35.xml" Id="R8afdde1148484af6" /><Relationship Type="http://schemas.openxmlformats.org/officeDocument/2006/relationships/slide" Target="/ppt/slides/slide36.xml" Id="R9c61b403647e44ef" /><Relationship Type="http://schemas.openxmlformats.org/officeDocument/2006/relationships/slide" Target="/ppt/slides/slide37.xml" Id="R5df171dc363343e1" /><Relationship Type="http://schemas.openxmlformats.org/officeDocument/2006/relationships/slide" Target="/ppt/slides/slide38.xml" Id="R3d8329785c11439f" /><Relationship Type="http://schemas.openxmlformats.org/officeDocument/2006/relationships/slide" Target="/ppt/slides/slide39.xml" Id="R0aa918c459544c0d" /><Relationship Type="http://schemas.openxmlformats.org/officeDocument/2006/relationships/slide" Target="/ppt/slides/slide40.xml" Id="R1312b7c93c62408d" /><Relationship Type="http://schemas.openxmlformats.org/officeDocument/2006/relationships/slide" Target="/ppt/slides/slide41.xml" Id="Rfcc3d238b78a4d20" /><Relationship Type="http://schemas.openxmlformats.org/officeDocument/2006/relationships/slide" Target="/ppt/slides/slide42.xml" Id="Rcb91515c86734e78" /><Relationship Type="http://schemas.openxmlformats.org/officeDocument/2006/relationships/slide" Target="/ppt/slides/slide43.xml" Id="Rb4d5921958be4e7e" /><Relationship Type="http://schemas.openxmlformats.org/officeDocument/2006/relationships/slide" Target="/ppt/slides/slide44.xml" Id="Rb9d6377e42e2493f" /><Relationship Type="http://schemas.openxmlformats.org/officeDocument/2006/relationships/slide" Target="/ppt/slides/slide45.xml" Id="R2ffb0474eda0432c" /><Relationship Type="http://schemas.openxmlformats.org/officeDocument/2006/relationships/slide" Target="/ppt/slides/slide46.xml" Id="R9c42f807f33f43a4" /><Relationship Type="http://schemas.openxmlformats.org/officeDocument/2006/relationships/slide" Target="/ppt/slides/slide47.xml" Id="R5ecee0d04e554c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2315690e9e49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1fba3dab594bd1" /><Relationship Type="http://schemas.openxmlformats.org/officeDocument/2006/relationships/notesMaster" Target="/ppt/notesMasters/notesMaster1.xml" Id="R2638e1a779c44f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bf6ba51d584249" /><Relationship Type="http://schemas.openxmlformats.org/officeDocument/2006/relationships/notesMaster" Target="/ppt/notesMasters/notesMaster1.xml" Id="R01572f3cdab1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aa847bbbf944a8" /><Relationship Type="http://schemas.openxmlformats.org/officeDocument/2006/relationships/notesMaster" Target="/ppt/notesMasters/notesMaster1.xml" Id="R26cf52696b0645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6650e3c17248aa" /><Relationship Type="http://schemas.openxmlformats.org/officeDocument/2006/relationships/notesMaster" Target="/ppt/notesMasters/notesMaster1.xml" Id="R54d364fafdea48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42c36e15d340fa" /><Relationship Type="http://schemas.openxmlformats.org/officeDocument/2006/relationships/notesMaster" Target="/ppt/notesMasters/notesMaster1.xml" Id="R9223733e5ff248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e4858b77ac43e5" /><Relationship Type="http://schemas.openxmlformats.org/officeDocument/2006/relationships/notesMaster" Target="/ppt/notesMasters/notesMaster1.xml" Id="R071e827d4ab742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708db243b2431e" /><Relationship Type="http://schemas.openxmlformats.org/officeDocument/2006/relationships/notesMaster" Target="/ppt/notesMasters/notesMaster1.xml" Id="R7fabe503047043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0237e41af849ae" /><Relationship Type="http://schemas.openxmlformats.org/officeDocument/2006/relationships/notesMaster" Target="/ppt/notesMasters/notesMaster1.xml" Id="Rf55316c272bd4c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eb14672c7d49b2" /><Relationship Type="http://schemas.openxmlformats.org/officeDocument/2006/relationships/notesMaster" Target="/ppt/notesMasters/notesMaster1.xml" Id="Re1f3d38b95ca46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f02173765f4a87" /><Relationship Type="http://schemas.openxmlformats.org/officeDocument/2006/relationships/notesMaster" Target="/ppt/notesMasters/notesMaster1.xml" Id="Re40bdf9d9ca54a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f865cfd39242e7" /><Relationship Type="http://schemas.openxmlformats.org/officeDocument/2006/relationships/notesMaster" Target="/ppt/notesMasters/notesMaster1.xml" Id="Rfc81c6bfeb314c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da266aff7f4e48" /><Relationship Type="http://schemas.openxmlformats.org/officeDocument/2006/relationships/notesMaster" Target="/ppt/notesMasters/notesMaster1.xml" Id="R20717164107b46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db0abf2ae0455a" /><Relationship Type="http://schemas.openxmlformats.org/officeDocument/2006/relationships/notesMaster" Target="/ppt/notesMasters/notesMaster1.xml" Id="R15d05742df4649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e117fad06d4e1e" /><Relationship Type="http://schemas.openxmlformats.org/officeDocument/2006/relationships/notesMaster" Target="/ppt/notesMasters/notesMaster1.xml" Id="R0f9bd6f0232944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725f4393aa49e3" /><Relationship Type="http://schemas.openxmlformats.org/officeDocument/2006/relationships/notesMaster" Target="/ppt/notesMasters/notesMaster1.xml" Id="R5d8d73662d3b40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a7a5f69d724727" /><Relationship Type="http://schemas.openxmlformats.org/officeDocument/2006/relationships/notesMaster" Target="/ppt/notesMasters/notesMaster1.xml" Id="R2f84d0b7d94247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9b06e49ed14646" /><Relationship Type="http://schemas.openxmlformats.org/officeDocument/2006/relationships/notesMaster" Target="/ppt/notesMasters/notesMaster1.xml" Id="Rb97da12d8c8749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b68c9988a614cd0" /><Relationship Type="http://schemas.openxmlformats.org/officeDocument/2006/relationships/notesMaster" Target="/ppt/notesMasters/notesMaster1.xml" Id="R07ade9c6a4684b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65dd25a73142aa" /><Relationship Type="http://schemas.openxmlformats.org/officeDocument/2006/relationships/notesMaster" Target="/ppt/notesMasters/notesMaster1.xml" Id="R94d931546b7c48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3388e1dd894bb7" /><Relationship Type="http://schemas.openxmlformats.org/officeDocument/2006/relationships/notesMaster" Target="/ppt/notesMasters/notesMaster1.xml" Id="Rc63b9e47b4ef47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b39b48676f4542" /><Relationship Type="http://schemas.openxmlformats.org/officeDocument/2006/relationships/notesMaster" Target="/ppt/notesMasters/notesMaster1.xml" Id="Rd9609706979740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d28440701d4f03" /><Relationship Type="http://schemas.openxmlformats.org/officeDocument/2006/relationships/notesMaster" Target="/ppt/notesMasters/notesMaster1.xml" Id="R7a7ebc17ac0f4e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a6be1bb8502449c" /><Relationship Type="http://schemas.openxmlformats.org/officeDocument/2006/relationships/notesMaster" Target="/ppt/notesMasters/notesMaster1.xml" Id="R9893e6812d40496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19e60baf33348a0" /><Relationship Type="http://schemas.openxmlformats.org/officeDocument/2006/relationships/notesMaster" Target="/ppt/notesMasters/notesMaster1.xml" Id="R727f4ea41eb143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8370c5eea54e6e" /><Relationship Type="http://schemas.openxmlformats.org/officeDocument/2006/relationships/notesMaster" Target="/ppt/notesMasters/notesMaster1.xml" Id="R140b9439743b45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720171a02942f1" /><Relationship Type="http://schemas.openxmlformats.org/officeDocument/2006/relationships/notesMaster" Target="/ppt/notesMasters/notesMaster1.xml" Id="R755422de79794e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5e50ab64da47f3" /><Relationship Type="http://schemas.openxmlformats.org/officeDocument/2006/relationships/notesMaster" Target="/ppt/notesMasters/notesMaster1.xml" Id="Rb4e385fb2a3946d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278ced895354112" /><Relationship Type="http://schemas.openxmlformats.org/officeDocument/2006/relationships/notesMaster" Target="/ppt/notesMasters/notesMaster1.xml" Id="Re5c359be139c4f6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5bceeae2123461e" /><Relationship Type="http://schemas.openxmlformats.org/officeDocument/2006/relationships/notesMaster" Target="/ppt/notesMasters/notesMaster1.xml" Id="R18b14d8ad2ef45c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5c41e6d8f314daf" /><Relationship Type="http://schemas.openxmlformats.org/officeDocument/2006/relationships/notesMaster" Target="/ppt/notesMasters/notesMaster1.xml" Id="Re7167299c272415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dae80a00ade4731" /><Relationship Type="http://schemas.openxmlformats.org/officeDocument/2006/relationships/notesMaster" Target="/ppt/notesMasters/notesMaster1.xml" Id="Rc4548b531677468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658b1f1987407a" /><Relationship Type="http://schemas.openxmlformats.org/officeDocument/2006/relationships/notesMaster" Target="/ppt/notesMasters/notesMaster1.xml" Id="Rd118840a2f2a4e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3c4fa95fb874c10" /><Relationship Type="http://schemas.openxmlformats.org/officeDocument/2006/relationships/notesMaster" Target="/ppt/notesMasters/notesMaster1.xml" Id="Re8729f9f0a6d4c9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49ef5fe8c3449e7" /><Relationship Type="http://schemas.openxmlformats.org/officeDocument/2006/relationships/notesMaster" Target="/ppt/notesMasters/notesMaster1.xml" Id="Rf5cc212d18f74ca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a84696dfb7c43af" /><Relationship Type="http://schemas.openxmlformats.org/officeDocument/2006/relationships/notesMaster" Target="/ppt/notesMasters/notesMaster1.xml" Id="Raff9aed119c5449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92ffec583b8457f" /><Relationship Type="http://schemas.openxmlformats.org/officeDocument/2006/relationships/notesMaster" Target="/ppt/notesMasters/notesMaster1.xml" Id="Ra08c4b21f28f4e3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c2a265f95d94ad9" /><Relationship Type="http://schemas.openxmlformats.org/officeDocument/2006/relationships/notesMaster" Target="/ppt/notesMasters/notesMaster1.xml" Id="R556a605894bd423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3eaff3db6fa4cce" /><Relationship Type="http://schemas.openxmlformats.org/officeDocument/2006/relationships/notesMaster" Target="/ppt/notesMasters/notesMaster1.xml" Id="Rb09d5ca0fc17467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d7f619cfd1f432b" /><Relationship Type="http://schemas.openxmlformats.org/officeDocument/2006/relationships/notesMaster" Target="/ppt/notesMasters/notesMaster1.xml" Id="R5fded56d661141e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3835d5c51ce4e38" /><Relationship Type="http://schemas.openxmlformats.org/officeDocument/2006/relationships/notesMaster" Target="/ppt/notesMasters/notesMaster1.xml" Id="R48d6e69490fc447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a05e3403b7341e5" /><Relationship Type="http://schemas.openxmlformats.org/officeDocument/2006/relationships/notesMaster" Target="/ppt/notesMasters/notesMaster1.xml" Id="R91de882f1838481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a04ad7e75974e07" /><Relationship Type="http://schemas.openxmlformats.org/officeDocument/2006/relationships/notesMaster" Target="/ppt/notesMasters/notesMaster1.xml" Id="R73bc8d0deb854d5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5ad028abebb4368" /><Relationship Type="http://schemas.openxmlformats.org/officeDocument/2006/relationships/notesMaster" Target="/ppt/notesMasters/notesMaster1.xml" Id="R08d39bf1c8d94c5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1f02c66b3d1476a" /><Relationship Type="http://schemas.openxmlformats.org/officeDocument/2006/relationships/notesMaster" Target="/ppt/notesMasters/notesMaster1.xml" Id="R2ba0343b4924483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b026290a6214583" /><Relationship Type="http://schemas.openxmlformats.org/officeDocument/2006/relationships/notesMaster" Target="/ppt/notesMasters/notesMaster1.xml" Id="Rcd3a0b42f28c43a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e52f6031f4d4af8" /><Relationship Type="http://schemas.openxmlformats.org/officeDocument/2006/relationships/notesMaster" Target="/ppt/notesMasters/notesMaster1.xml" Id="R0fab282d1baf43b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cb3b451282142c8" /><Relationship Type="http://schemas.openxmlformats.org/officeDocument/2006/relationships/notesMaster" Target="/ppt/notesMasters/notesMaster1.xml" Id="Rf7c482b59be845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  <a:endParaRPr/>
          </a:p>
          <a:p xmlns:a="http://schemas.openxmlformats.org/drawingml/2006/main">
            <a:r>
              <a:t>• 依序處理不可分割的 bundle</a:t>
            </a:r>
            <a:endParaRPr/>
          </a:p>
          <a:p xmlns:a="http://schemas.openxmlformats.org/drawingml/2006/main">
            <a:r>
              <a:t>• 以 Label Setting 搜尋最早完整到達路徑</a:t>
            </a:r>
            <a:endParaRPr/>
          </a:p>
          <a:p xmlns:a="http://schemas.openxmlformats.org/drawingml/2006/main">
            <a:r>
              <a:t>• 研究進度與演算法正確性驗證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講者備註：</a:t>
            </a:r>
            <a:endParaRPr/>
          </a:p>
          <a:p xmlns:a="http://schemas.openxmlformats.org/drawingml/2006/main">
            <a:r>
              <a:t>本簡報說明目前版本，不主張已完成連續時間或實際傳輸排程的完整解法。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一句話重點：目前範圍：離散時間、剩餘可分配資料量與逐 byte 緩衝區占用。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bundle 不可分割，單次傳輸須完成整包</a:t>
            </a:r>
          </a:p>
          <a:p xmlns:a="http://schemas.openxmlformats.org/drawingml/2006/main">
            <a:r>
              <a:t>• 通訊機會有開始、結束與剩餘容量</a:t>
            </a:r>
          </a:p>
          <a:p xmlns:a="http://schemas.openxmlformats.org/drawingml/2006/main">
            <a:r>
              <a:t>• 前一包選定路徑後，會占用沿途緩衝區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bundle 在此指完整資料單位；本版本每次搜尋一包，依固定順序處理多包。最早到達指最後一個 byte 抵達目的地。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一句話重點：目標：找出滿足容量與緩衝區限制的最早完整到達路徑。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單包不可分割；完整接收後才能轉送</a:t>
            </a:r>
          </a:p>
          <a:p xmlns:a="http://schemas.openxmlformats.org/drawingml/2006/main">
            <a:r>
              <a:t>• 逐 byte 接收，逐 byte 釋放已送出的資料</a:t>
            </a:r>
          </a:p>
          <a:p xmlns:a="http://schemas.openxmlformats.org/drawingml/2006/main">
            <a:r>
              <a:t>• 先前接受的路徑形成既有占用 Oᵥ(t)</a:t>
            </a:r>
          </a:p>
          <a:p xmlns:a="http://schemas.openxmlformats.org/drawingml/2006/main">
            <a:r>
              <a:t>• 傳輸起始時間限定在間隔 Δ 的時間格點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每個節點具有固定上限 Mᵥ。S 為本包大小，速率固定且為正；不保留已送出資料副本，不考慮無線電競爭。接觸邊界、S/r、傳播延遲等與格點對齊；規劃範圍為有限 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一句話重點：緩衝區限制需要檢查整段接收、等待與發送期間。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讀取本次剩餘資料量 R 與既有占用 O(t)</a:t>
            </a:r>
          </a:p>
          <a:p xmlns:a="http://schemas.openxmlformats.org/drawingml/2006/main">
            <a:r>
              <a:t>• 本次搜尋中，所有候選路徑共用相同資源資料</a:t>
            </a:r>
          </a:p>
          <a:p xmlns:a="http://schemas.openxmlformats.org/drawingml/2006/main">
            <a:r>
              <a:t>• 選定完整路徑後，才更新 R 與 O(t)</a:t>
            </a:r>
          </a:p>
          <a:p xmlns:a="http://schemas.openxmlformats.org/drawingml/2006/main">
            <a:r>
              <a:t>• 下一包使用更新後的資料重新搜尋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本版本不會為了後續 bundle 回頭修改已接受的路徑，因此不主張多包整體最優。搜尋期間 R 與 O 固定不表示未來時間的占用不變，而是既有預約函數不被候選路徑改寫。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一句話重點：候選路徑不先占用資源；只有接受的完整路徑會預約資源。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v：目前所在節點</a:t>
            </a:r>
          </a:p>
          <a:p xmlns:a="http://schemas.openxmlformats.org/drawingml/2006/main">
            <a:r>
              <a:t>• a：本包完整抵達 v 的時間</a:t>
            </a:r>
          </a:p>
          <a:p xmlns:a="http://schemas.openxmlformats.org/drawingml/2006/main">
            <a:r>
              <a:t>• U[c]：此候選路徑已使用 contact c 的資料量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另保留前一個標籤、所用 contact 與發送起始時間供路徑回溯。U 用於檢查候選路徑重複經過同一 contact 時的容量；目前模型允許循環，並未強制簡單路徑。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一句話重點：標籤 L = (v, a, U)；不能只用節點與到達時間判斷。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s ≥ max(a, contact 開始時間)</a:t>
            </a:r>
          </a:p>
          <a:p xmlns:a="http://schemas.openxmlformats.org/drawingml/2006/main">
            <a:r>
              <a:t>• f = s + S/r ≤ contact 結束時間</a:t>
            </a:r>
          </a:p>
          <a:p xmlns:a="http://schemas.openxmlformats.org/drawingml/2006/main">
            <a:r>
              <a:t>• a′ = f + δ ≤ T</a:t>
            </a:r>
          </a:p>
          <a:p xmlns:a="http://schemas.openxmlformats.org/drawingml/2006/main">
            <a:r>
              <a:t>• U[c] + S ≤ R[c]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s 為發送開始，f 為發送完成，δ 為傳播延遲，接收開始 h=s+δ，完整到達 a′=f+δ。S 與 R 用相同資料單位；r 為每秒資料量。只滿足剩餘容量，仍不代表能在 contact 結束前完成整包傳輸。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一句話重點：每個可用 contact，都要檢查各個符合條件的格點起始時間 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發送端等待：bᵤ(t) = S，a ≤ t ≤ s</a:t>
            </a:r>
          </a:p>
          <a:p xmlns:a="http://schemas.openxmlformats.org/drawingml/2006/main">
            <a:r>
              <a:t>• 發送端傳送：bᵤ(t) = S − r(t−s)，s ≤ t ≤ f</a:t>
            </a:r>
          </a:p>
          <a:p xmlns:a="http://schemas.openxmlformats.org/drawingml/2006/main">
            <a:r>
              <a:t>• 接收端接收：bᵥ(t) = r(t−h)，h ≤ t ≤ a′</a:t>
            </a:r>
          </a:p>
          <a:p xmlns:a="http://schemas.openxmlformats.org/drawingml/2006/main">
            <a:r>
              <a:t>• 兩端皆須滿足 O(t) + b(t) ≤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h=s+δ。O 是先前接受之 bundle 的占用，b 是本候選 bundle 的占用。分段線性模型須檢查區段端點、斜率改變處與事件左右極限。目的地收到最後一個 byte 時，仍先檢查到達峰值，再交付並釋放。來源生成時亦須檢查 O_source(g)+S≤M_source。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一句話重點：檢查的是隨時間變化的占用量，不是只比較 S 與 buffer 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兩個標籤位於同一節點：a₁ ≤ a₂</a:t>
            </a:r>
          </a:p>
          <a:p xmlns:a="http://schemas.openxmlformats.org/drawingml/2006/main">
            <a:r>
              <a:t>• 等待期間：Oᵥ(t) + S ≤ Mᵥ，∀t ∈ [a₁,a₂]</a:t>
            </a:r>
          </a:p>
          <a:p xmlns:a="http://schemas.openxmlformats.org/drawingml/2006/main">
            <a:r>
              <a:t>• 所有 contact：U₁[c] ≤ U₂[c]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此為充分條件，可能保留部分其實可刪除的標籤。理由：L₁ 可先等到 a₂，再照搬 L₂ 的後續發送時刻；等待可行且已用容量不更多，所以後續不會變差。「刪除後不影響最佳解」限本版本模型，並非任何更複雜設定都成立。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一句話重點：三項都成立，才可用 L₁ 取代 L₂ 繼續搜尋。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取出完整到達時間最早的有效標籤</a:t>
            </a:r>
          </a:p>
          <a:p xmlns:a="http://schemas.openxmlformats.org/drawingml/2006/main">
            <a:r>
              <a:t>• 延伸各 contact，列舉格點發送時刻</a:t>
            </a:r>
          </a:p>
          <a:p xmlns:a="http://schemas.openxmlformats.org/drawingml/2006/main">
            <a:r>
              <a:t>• 通過時間、容量與緩衝區檢查後，檢查支配</a:t>
            </a:r>
          </a:p>
          <a:p xmlns:a="http://schemas.openxmlformats.org/drawingml/2006/main">
            <a:r>
              <a:t>• 目的地標籤取出即結束；佇列空則無格點可行解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新標籤為 (v,a′,U+S e_c)。使用到達時間排序的優先佇列；已被支配失效的標籤取出後跳過。同時間以穩定識別碼排序。列舉發生在每次延伸時：逐一試 contact 和格點起始時間。正的整包傳输时间与有限格點使搜尋有限。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一句話重點：固定的是標籤的處理順序，不是每個節點只處理一次。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S 是整包大小，r 是傳輸速率</a:t>
            </a:r>
          </a:p>
          <a:p xmlns:a="http://schemas.openxmlformats.org/drawingml/2006/main">
            <a:r>
              <a:t>• R 是 contact 剩餘資料量，M 是節點容量</a:t>
            </a:r>
          </a:p>
          <a:p xmlns:a="http://schemas.openxmlformats.org/drawingml/2006/main">
            <a:r>
              <a:t>• O(t) 是前面已接受路徑的占用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使用本次符號表的 α、ω 取代開始、結束的長文字。表內時間單位為秒，資料量單位為 MB。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一句話重點：R、U、O 分別描述不同資源狀態，不能混用。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a 是現在節點的完整到達時間</a:t>
            </a:r>
          </a:p>
          <a:p xmlns:a="http://schemas.openxmlformats.org/drawingml/2006/main">
            <a:r>
              <a:t>• s、f 描述發送，h、a′ 描述接收</a:t>
            </a:r>
          </a:p>
          <a:p xmlns:a="http://schemas.openxmlformats.org/drawingml/2006/main">
            <a:r>
              <a:t>• U 只記錄本候選路徑的使用量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o、d、g 分別為來源、目的地、生成時間。每個標籤保存 pred、contact、s，供回溯。Q 依 a 遞增排序。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一句話重點：發送完成 f 與完整到達 a′ 相差傳播延遲 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01　輸入 b=(o,d,g,S)、C、R、M、O、Δ、T</a:t>
            </a:r>
          </a:p>
          <a:p xmlns:a="http://schemas.openxmlformats.org/drawingml/2006/main">
            <a:r>
              <a:t>• 02　若 O_o(g)+S &gt; M_o，回報格點上無解</a:t>
            </a:r>
          </a:p>
          <a:p xmlns:a="http://schemas.openxmlformats.org/drawingml/2006/main">
            <a:r>
              <a:t>• 03　建立 L₀=(o,g,0)，加入 Q 與標籤紀錄</a:t>
            </a:r>
          </a:p>
          <a:p xmlns:a="http://schemas.openxmlformats.org/drawingml/2006/main">
            <a:r>
              <a:t>• 04　while Q 非空：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同 a 依建立序號排序。來源等於目的地時，也要先做來源容量檢查。每個標籤處理一次，但同一節點可以保留多個標籤。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一句話重點：目的地標籤從 Q 取出時才結束。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09　對 L 的每個 outgoing contact c：</a:t>
            </a:r>
          </a:p>
          <a:p xmlns:a="http://schemas.openxmlformats.org/drawingml/2006/main">
            <a:r>
              <a:t>• 10　　 若 U[c]+S &gt; R[c]，跳過 c</a:t>
            </a:r>
          </a:p>
          <a:p xmlns:a="http://schemas.openxmlformats.org/drawingml/2006/main">
            <a:r>
              <a:t>• 11　　 first=max(a,α_c)，last=ω_c−S/r_c</a:t>
            </a:r>
          </a:p>
          <a:p xmlns:a="http://schemas.openxmlformats.org/drawingml/2006/main">
            <a:r>
              <a:t>• 12　　 對 s=first, first+Δ, …, last：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輸入與格點對齊，所以 first 已在格點上。first&gt;last 時無候選時刻。單跳發送必須連續完成整包；時間檢查及容量檢查皆通過仍可能因 buffer 拒絕。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一句話重點：「列舉」發生在第 09 行選 contact，以及第 12 行選時刻。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17　保存 N 的 pred、contact 與 s</a:t>
            </a:r>
          </a:p>
          <a:p xmlns:a="http://schemas.openxmlformats.org/drawingml/2006/main">
            <a:r>
              <a:t>• 18　找出同節點的既有有效標籤 K</a:t>
            </a:r>
          </a:p>
          <a:p xmlns:a="http://schemas.openxmlformats.org/drawingml/2006/main">
            <a:r>
              <a:t>• 19　若任一 K 支配 N，捨棄 N</a:t>
            </a:r>
          </a:p>
          <a:p xmlns:a="http://schemas.openxmlformats.org/drawingml/2006/main">
            <a:r>
              <a:t>• 20　否則：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既有有效標籤含已展開但未失效者，不只是在 Q 中的標籤。相同 a、U 時保留舊代表，避免互刪。失效標籤可留在 Q，取出時跳過；歷史前驅不能一起刪除。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一句話重點：先判斷舊標籤是否支配 N，再處理 N 能取代的標籤。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25　依 pred 回溯完整 contact 與發送時刻</a:t>
            </a:r>
          </a:p>
          <a:p xmlns:a="http://schemas.openxmlformats.org/drawingml/2006/main">
            <a:r>
              <a:t>• 26　獨立檢查整條路徑的時間、容量與 buffer</a:t>
            </a:r>
          </a:p>
          <a:p xmlns:a="http://schemas.openxmlformats.org/drawingml/2006/main">
            <a:r>
              <a:t>• 27　若檢查失敗，保存案例並停止</a:t>
            </a:r>
          </a:p>
          <a:p xmlns:a="http://schemas.openxmlformats.org/drawingml/2006/main">
            <a:r>
              <a:t>• 28　計算整條路徑的 U* 與節點占用曲線 B*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記錄發送區間不代表已經實作鏈路時段衝突檢查。本版仍是 aggregate quota。若無解，R 與 O 不變。不能由單包最早到達推論多包聯合最佳。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一句話重點：搜尋中的候選方案不扣資源，接受完整路徑後才更新。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每包 4 MB，各節點上限 4 MB</a:t>
            </a:r>
          </a:p>
          <a:p xmlns:a="http://schemas.openxmlformats.org/drawingml/2006/main">
            <a:r>
              <a:t>• 第一包 X→D，g=0 秒</a:t>
            </a:r>
          </a:p>
          <a:p xmlns:a="http://schemas.openxmlformats.org/drawingml/2006/main">
            <a:r>
              <a:t>• 第二包 A→D，g=1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所有圖沿用 X、A、B、C、D 的同一拓樸；每跳發送需要 1 秒。綠色表示當頁強調的路徑。每包標籤編號重新從 L0 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一句話重點：Δ=1 秒，T=12 秒；所有速率均為 4 MB/s。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c4 可嘗試兩個發送起始時刻</a:t>
            </a:r>
          </a:p>
          <a:p xmlns:a="http://schemas.openxmlformats.org/drawingml/2006/main">
            <a:r>
              <a:t>• c7 用於容量不足分支</a:t>
            </a:r>
          </a:p>
          <a:p xmlns:a="http://schemas.openxmlformats.org/drawingml/2006/main">
            <a:r>
              <a:t>• c8 用於時間不足分支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數據逐項對照 walkthrough_input.json；本表是第一包搜尋前的 R。每個 contact 的時間區間是發送窗口。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一句話重點：c2 與 c5 的 δ=1 秒，因此發送完成不等於到達。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來源檢查：O_X(0)+4=4≤M_X</a:t>
            </a:r>
          </a:p>
          <a:p xmlns:a="http://schemas.openxmlformats.org/drawingml/2006/main">
            <a:r>
              <a:t>• L₀=(X,0,{})，所有 contact 已用量為 0</a:t>
            </a:r>
          </a:p>
          <a:p xmlns:a="http://schemas.openxmlformats.org/drawingml/2006/main">
            <a:r>
              <a:t>• Q=[L₀]；取出 L₀ 後 Q=[]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對應第一包 trace step 0。花括號只列非零分量；空集合表示零向量。Q 的左端表示下一個會取出的標籤。R 與 O 尚未更新。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一句話重點：X 的 outgoing contact 只有 c1，下一步嘗試 c1。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目前 L₀=(X,0,{})；c1 只能選 s=2</a:t>
            </a:r>
          </a:p>
          <a:p xmlns:a="http://schemas.openxmlformats.org/drawingml/2006/main">
            <a:r>
              <a:t>• U[c1]+S=0+4≤4</a:t>
            </a:r>
          </a:p>
          <a:p xmlns:a="http://schemas.openxmlformats.org/drawingml/2006/main">
            <a:r>
              <a:t>• s=2，f=3≤3，h=2，a′=3≤12</a:t>
            </a:r>
          </a:p>
          <a:p xmlns:a="http://schemas.openxmlformats.org/drawingml/2006/main">
            <a:r>
              <a:t>• X 峰值 4 MB；B 峰值 4 MB</a:t>
            </a:r>
          </a:p>
          <a:p xmlns:a="http://schemas.openxmlformats.org/drawingml/2006/main">
            <a:r>
              <a:t>• 建立 L₁=(B,3,{c1:4})，pred=L₀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1。X 在 0～2 秒等待，2～3 秒釋放；B 在 2～3 秒接收。查完 c1 後，取出 L1，剩餘 Q=[]，再嘗試 c2 與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一句話重點：沒有同節點標籤可支配 L₁，因此加入 Q。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取出 L₁=(B,3,{c1:4})；c2 選 s=6</a:t>
            </a:r>
          </a:p>
          <a:p xmlns:a="http://schemas.openxmlformats.org/drawingml/2006/main">
            <a:r>
              <a:t>• U[c2]+S=0+4≤4</a:t>
            </a:r>
          </a:p>
          <a:p xmlns:a="http://schemas.openxmlformats.org/drawingml/2006/main">
            <a:r>
              <a:t>• f=7≤7，h=7，a′=8≤12</a:t>
            </a:r>
          </a:p>
          <a:p xmlns:a="http://schemas.openxmlformats.org/drawingml/2006/main">
            <a:r>
              <a:t>• B 等待／發送峰值 4；D 接收峰值 4</a:t>
            </a:r>
          </a:p>
          <a:p xmlns:a="http://schemas.openxmlformats.org/drawingml/2006/main">
            <a:r>
              <a:t>• 建立 L₂=(D,8,{c1:4,c2:4})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2、3。s=6≥max(3,6)。產生目的地標籤不立即中斷延伸；有效目的地標籤取出才終止。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一句話重點：現在只是在展開 L₁，仍須繼續檢查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目前仍在展開 L₁；c5 選 s=10</a:t>
            </a:r>
          </a:p>
          <a:p xmlns:a="http://schemas.openxmlformats.org/drawingml/2006/main">
            <a:r>
              <a:t>• U[c5]+S=0+4≤4</a:t>
            </a:r>
          </a:p>
          <a:p xmlns:a="http://schemas.openxmlformats.org/drawingml/2006/main">
            <a:r>
              <a:t>• f=11≤11，h=11，a′=12≤12</a:t>
            </a:r>
          </a:p>
          <a:p xmlns:a="http://schemas.openxmlformats.org/drawingml/2006/main">
            <a:r>
              <a:t>• B 等待／發送峰值 4；D 接收峰值 4</a:t>
            </a:r>
          </a:p>
          <a:p xmlns:a="http://schemas.openxmlformats.org/drawingml/2006/main">
            <a:r>
              <a:t>• 建立 L₃=(D,12,{c1:4,c5:4})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4。兩條候選路徑互斥，不把第一條候選的占用加到第二條；此刻 R、O 未更新。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一句話重點：兩個標籤都先保留，接著從 Q 取出 L₂。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同節點 D，且 L₂ 的 8 秒早於 L₃ 的 12 秒</a:t>
            </a:r>
          </a:p>
          <a:p xmlns:a="http://schemas.openxmlformats.org/drawingml/2006/main">
            <a:r>
              <a:t>• D 在 8～12 秒可容納 4 MB，等待條件通過</a:t>
            </a:r>
          </a:p>
          <a:p xmlns:a="http://schemas.openxmlformats.org/drawingml/2006/main">
            <a:r>
              <a:t>• 但 U₂[c2]=4 &gt; U₃[c2]=0，容量向量條件失敗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L2 用 c1、c2；L3 用 c1、c5。三項支配條件必須全部成立。保留較晚目的地標籤不影響搜尋在最早有效目的地被取出時停止。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一句話重點：時間較早仍不足以構成支配，L₃ 依規則保留。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pred：L₂ ← L₁ ← L₀，反轉得到 c1、c2</a:t>
            </a:r>
          </a:p>
          <a:p xmlns:a="http://schemas.openxmlformats.org/drawingml/2006/main">
            <a:r>
              <a:t>• 發送：c1 為 2～3 秒；c2 為 6～7 秒</a:t>
            </a:r>
          </a:p>
          <a:p xmlns:a="http://schemas.openxmlformats.org/drawingml/2006/main">
            <a:r>
              <a:t>• 完整到達 8 秒；確認後 R[c1]=R[c2]=0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5 與 quota_after。原始 R 向量按 c1～c8 為 (4,4,4,8,4,4,2,4)，更新後為 (0,0,4,8,4,4,2,4)。完整路徑需驗證後才提交占用。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一句話重點：只有選定的 c1、c2 扣除容量，未選中的 c5 保持 4 MB。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X：0～2 秒持有，2～3 秒釋放</a:t>
            </a:r>
          </a:p>
          <a:p xmlns:a="http://schemas.openxmlformats.org/drawingml/2006/main">
            <a:r>
              <a:t>• B：2～3 秒接收，3～6 秒等待，6～7 秒釋放</a:t>
            </a:r>
          </a:p>
          <a:p xmlns:a="http://schemas.openxmlformats.org/drawingml/2006/main">
            <a:r>
              <a:t>• D：7～8 秒接收，交付前檢查峰值後釋放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B 曲線為 2～3 秒 4(t−2)、3～6 秒 4、6～7 秒 4(7−t)，其他時刻 0。A、C 仍為零占用。更新發生在規劃階段，但實際占用只落在記錄的時間區間。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一句話重點：O_B(t) 是 buffer 占用量，不是速率或鏈路。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讀取第一包更新後的 R、O</a:t>
            </a:r>
          </a:p>
          <a:p xmlns:a="http://schemas.openxmlformats.org/drawingml/2006/main">
            <a:r>
              <a:t>• O_A(1)+4=4≤4，建立 L₀=(A,1,{})</a:t>
            </a:r>
          </a:p>
          <a:p xmlns:a="http://schemas.openxmlformats.org/drawingml/2006/main">
            <a:r>
              <a:t>• 取出 L₀ 後 Q=[]；依序嘗試 c3、c4、c6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對應第二包 step 0。不同候選不互相扣資源，U 也重新為零。後續 Q 顯示 ID、節點與到達時間。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一句話重點：第二包標籤重新編號，第一包的資源預約仍保留。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目前 L₀=(A,1,{})；c3 選 s=1</a:t>
            </a:r>
          </a:p>
          <a:p xmlns:a="http://schemas.openxmlformats.org/drawingml/2006/main">
            <a:r>
              <a:t>• 0+4≤R[c3]=4</a:t>
            </a:r>
          </a:p>
          <a:p xmlns:a="http://schemas.openxmlformats.org/drawingml/2006/main">
            <a:r>
              <a:t>• f=2≤2，h=1，a′=2≤12</a:t>
            </a:r>
          </a:p>
          <a:p xmlns:a="http://schemas.openxmlformats.org/drawingml/2006/main">
            <a:r>
              <a:t>• A 峰值 4；B 在 1～2 秒接收峰值 4</a:t>
            </a:r>
          </a:p>
          <a:p xmlns:a="http://schemas.openxmlformats.org/drawingml/2006/main">
            <a:r>
              <a:t>• 建立 L₁=(B,2,{c3:4})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1。第一包在 B 第 2 秒開始接收，其占用於 t=2 為 0；因此第二包第 2 秒接收完成仍可行。下一跳延伸才檢查等待期間。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一句話重點：此刻只保證接收可行，尚未檢查在 B 後續等待。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仍展開 L₀；c4 可列舉 s∈{7,8}</a:t>
            </a:r>
          </a:p>
          <a:p xmlns:a="http://schemas.openxmlformats.org/drawingml/2006/main">
            <a:r>
              <a:t>• 0+4≤R[c4]=8</a:t>
            </a:r>
          </a:p>
          <a:p xmlns:a="http://schemas.openxmlformats.org/drawingml/2006/main">
            <a:r>
              <a:t>• s=7，f=8≤9，h=7，a′=8</a:t>
            </a:r>
          </a:p>
          <a:p xmlns:a="http://schemas.openxmlformats.org/drawingml/2006/main">
            <a:r>
              <a:t>• A 峰值 4；B 在 7～8 秒接收峰值 4</a:t>
            </a:r>
          </a:p>
          <a:p xmlns:a="http://schemas.openxmlformats.org/drawingml/2006/main">
            <a:r>
              <a:t>• 建立 L₂=(B,8,{c4:4})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2。c4 起始下界 max(1,7)=7，上界 9−4/4=8，所以有兩個起始時刻。L1無法等待到8且用量向量不同；下一頁明列比較。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一句話重點：不能用 L₁ 的較早到達時間直接刪除 L₂。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到達時間：2≤8，通過</a:t>
            </a:r>
          </a:p>
          <a:p xmlns:a="http://schemas.openxmlformats.org/drawingml/2006/main">
            <a:r>
              <a:t>• 等待：t=2.5 時 O_B(t)+4=2+4=6&gt;4</a:t>
            </a:r>
          </a:p>
          <a:p xmlns:a="http://schemas.openxmlformats.org/drawingml/2006/main">
            <a:r>
              <a:t>• 用量：U₁[c3]=4&gt;U₂[c3]=0，也不通過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L1=(B,2,{c3:4})、L2=(B,8,{c4:4})。不要把這個例子當成只隔離 buffer 單一因素的支配反例。三條件中任一不符就不能刪除。反向支配也失敗，因為8不早於2。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一句話重點：這個比較同時有等待與用量兩個失敗原因。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仍展開 L₀；c4 改試 s=8</a:t>
            </a:r>
          </a:p>
          <a:p xmlns:a="http://schemas.openxmlformats.org/drawingml/2006/main">
            <a:r>
              <a:t>• 0+4≤8；上一個候選不扣除 R</a:t>
            </a:r>
          </a:p>
          <a:p xmlns:a="http://schemas.openxmlformats.org/drawingml/2006/main">
            <a:r>
              <a:t>• f=9≤9，h=8，a′=9≤12</a:t>
            </a:r>
          </a:p>
          <a:p xmlns:a="http://schemas.openxmlformats.org/drawingml/2006/main">
            <a:r>
              <a:t>• A 峰值 4；B 在 8～9 秒接收峰值 4</a:t>
            </a:r>
          </a:p>
          <a:p xmlns:a="http://schemas.openxmlformats.org/drawingml/2006/main">
            <a:r>
              <a:t>• 候選 L₃=(B,9,{c4:4})，接著做支配判斷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3。Q 前後不變不是時間或 buffer 檢查失敗，而是支配檢查成功。下一頁詳列三個條件。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一句話重點：L₃ 的延伸可行，但會在入列前被 L₂ 支配。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同節點 B，8≤9</a:t>
            </a:r>
          </a:p>
          <a:p xmlns:a="http://schemas.openxmlformats.org/drawingml/2006/main">
            <a:r>
              <a:t>• 8～9 秒既有占用為 0，可持有整包等待</a:t>
            </a:r>
          </a:p>
          <a:p xmlns:a="http://schemas.openxmlformats.org/drawingml/2006/main">
            <a:r>
              <a:t>• 兩者使用同一個 c4，U₂=U₃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標籤ID下標與支配公式的一般L1/L2不同，此頁比較的是 trace L2、L3。兩者的c4用量均4，其他分量均0。L2可以等到9，再複製L3的任何可行後續安排。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一句話重點：保留 L₂，L₃ 不加入 Q；這不會扣除任何全域資源。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仍展開 L₀；c6 選 s=1</a:t>
            </a:r>
          </a:p>
          <a:p xmlns:a="http://schemas.openxmlformats.org/drawingml/2006/main">
            <a:r>
              <a:t>• 0+4≤R[c6]=4</a:t>
            </a:r>
          </a:p>
          <a:p xmlns:a="http://schemas.openxmlformats.org/drawingml/2006/main">
            <a:r>
              <a:t>• f=2≤2，δ=1，h=2，a′=3</a:t>
            </a:r>
          </a:p>
          <a:p xmlns:a="http://schemas.openxmlformats.org/drawingml/2006/main">
            <a:r>
              <a:t>• A 峰值 4；C 在 2～3 秒接收峰值 4</a:t>
            </a:r>
          </a:p>
          <a:p xmlns:a="http://schemas.openxmlformats.org/drawingml/2006/main">
            <a:r>
              <a:t>• 建立 L₄=(C,3,{c6:4})，依到達時間重新排序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4。L3雖未入列仍已占用建立序號，所以新標籤是L4。L0展開到此結束。下一次取出L1而不是最後建立的L4。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一句話重點：標籤編號是建立順序，Q 則按到達時間排序。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Q 取出 L₁(B,2)；先嘗試 c2</a:t>
            </a:r>
          </a:p>
          <a:p xmlns:a="http://schemas.openxmlformats.org/drawingml/2006/main">
            <a:r>
              <a:t>• U[c2]+S=0+4&gt;R[c2]=0</a:t>
            </a:r>
          </a:p>
          <a:p xmlns:a="http://schemas.openxmlformats.org/drawingml/2006/main">
            <a:r>
              <a:t>• 容量已不足，不再執行時間檢查</a:t>
            </a:r>
          </a:p>
          <a:p xmlns:a="http://schemas.openxmlformats.org/drawingml/2006/main">
            <a:r>
              <a:t>• 容量已不足，不再執行 buffer 檢查</a:t>
            </a:r>
          </a:p>
          <a:p xmlns:a="http://schemas.openxmlformats.org/drawingml/2006/main">
            <a:r>
              <a:t>• 不建立新標籤；繼續用 L₁ 嘗試 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5、6。c2已由第一包用完。這裡依實作的短路順序先檢容量；不把未做的其他檢查描述為通過。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一句話重點：「未執行」不能寫成「通過」。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目前 L₁=(B,2,{c3:4})；c5 選 s=10</a:t>
            </a:r>
          </a:p>
          <a:p xmlns:a="http://schemas.openxmlformats.org/drawingml/2006/main">
            <a:r>
              <a:t>• 0+4≤R[c5]=4</a:t>
            </a:r>
          </a:p>
          <a:p xmlns:a="http://schemas.openxmlformats.org/drawingml/2006/main">
            <a:r>
              <a:t>• f=11≤11，h=11，a′=12</a:t>
            </a:r>
          </a:p>
          <a:p xmlns:a="http://schemas.openxmlformats.org/drawingml/2006/main">
            <a:r>
              <a:t>• B 在第 3 秒：既有 4 + 本包 4 = 8&gt;4</a:t>
            </a:r>
          </a:p>
          <a:p xmlns:a="http://schemas.openxmlformats.org/drawingml/2006/main">
            <a:r>
              <a:t>• 不建立目的地標籤；L₁ 的所有後續嘗試結束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7。sender峰值8@3，receiver峰值4@12。t=2.5占用6已超限；trace記錄的最大值為8。發送端等待2～10秒，與第一包3～6秒滿載重疊。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一句話重點：接收時可行的 L₁，可能因後續等待而無法繼續。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取出 L₄=(C,3,{c6:4})；嘗試 c7</a:t>
            </a:r>
          </a:p>
          <a:p xmlns:a="http://schemas.openxmlformats.org/drawingml/2006/main">
            <a:r>
              <a:t>• 0+4&gt;R[c7]=2</a:t>
            </a:r>
          </a:p>
          <a:p xmlns:a="http://schemas.openxmlformats.org/drawingml/2006/main">
            <a:r>
              <a:t>• 容量已不足，時間檢查未執行</a:t>
            </a:r>
          </a:p>
          <a:p xmlns:a="http://schemas.openxmlformats.org/drawingml/2006/main">
            <a:r>
              <a:t>• 容量已不足，buffer 檢查未執行</a:t>
            </a:r>
          </a:p>
          <a:p xmlns:a="http://schemas.openxmlformats.org/drawingml/2006/main">
            <a:r>
              <a:t>• 不建立標籤；同一個 L₄ 繼續嘗試 c8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8、9。不可分割，所以不能只把其中2MB送進c7，剩下另找contact。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一句話重點：整包 4 MB 不能使用僅剩 2 MB 的 contact。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目前 L₄=(C,3,{c6:4})；嘗試 c8</a:t>
            </a:r>
          </a:p>
          <a:p xmlns:a="http://schemas.openxmlformats.org/drawingml/2006/main">
            <a:r>
              <a:t>• 0+4≤R[c8]=4</a:t>
            </a:r>
          </a:p>
          <a:p xmlns:a="http://schemas.openxmlformats.org/drawingml/2006/main">
            <a:r>
              <a:t>• 最早 max(3,2)=3 &gt; 最晚 3−4/4=2</a:t>
            </a:r>
          </a:p>
          <a:p xmlns:a="http://schemas.openxmlformats.org/drawingml/2006/main">
            <a:r>
              <a:t>• 沒有候選 s，buffer 檢查未執行</a:t>
            </a:r>
          </a:p>
          <a:p xmlns:a="http://schemas.openxmlformats.org/drawingml/2006/main">
            <a:r>
              <a:t>• 無可列舉的起始時間；L₄ 的延伸結束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10。c8發送窗口[2,3)，整包發送需1秒。即使R≥S，也無法在結束前完成。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一句話重點：不能在第 3 秒才收到整包，卻從第 2 秒開始發送。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取出 L₂=(B,8,{c4:4})；先試 c2</a:t>
            </a:r>
          </a:p>
          <a:p xmlns:a="http://schemas.openxmlformats.org/drawingml/2006/main">
            <a:r>
              <a:t>• 0+4&gt;R[c2]=0</a:t>
            </a:r>
          </a:p>
          <a:p xmlns:a="http://schemas.openxmlformats.org/drawingml/2006/main">
            <a:r>
              <a:t>• 依檢查順序，時間檢查未執行</a:t>
            </a:r>
          </a:p>
          <a:p xmlns:a="http://schemas.openxmlformats.org/drawingml/2006/main">
            <a:r>
              <a:t>• 依檢查順序，buffer 檢查未執行</a:t>
            </a:r>
          </a:p>
          <a:p xmlns:a="http://schemas.openxmlformats.org/drawingml/2006/main">
            <a:r>
              <a:t>• 不建立標籤；L₂ 繼續嘗試 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11、12。這說明不能將B整個節點設為已處理而永久跳過。實際上c2時間也已過，但trace先因容量拒絕，故不把時間列為已執行的失敗。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一句話重點：同一個 B 節點再次展開，這次使用不同的到達狀態。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目前 L₂=(B,8,{c4:4})；c5 選 s=10</a:t>
            </a:r>
          </a:p>
          <a:p xmlns:a="http://schemas.openxmlformats.org/drawingml/2006/main">
            <a:r>
              <a:t>• 0+4≤R[c5]=4</a:t>
            </a:r>
          </a:p>
          <a:p xmlns:a="http://schemas.openxmlformats.org/drawingml/2006/main">
            <a:r>
              <a:t>• f=11≤11，h=11，a′=12≤12</a:t>
            </a:r>
          </a:p>
          <a:p xmlns:a="http://schemas.openxmlformats.org/drawingml/2006/main">
            <a:r>
              <a:t>• B 在 8～11 秒峰值 4；D 接收峰值 4</a:t>
            </a:r>
          </a:p>
          <a:p xmlns:a="http://schemas.openxmlformats.org/drawingml/2006/main">
            <a:r>
              <a:t>• 建立 L₅=(D,12,{c4:4,c5:4})，pred=L₂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13。B8～10持有4，10～11逐byte釋放；D11～12接收。第一包在D的接收早已結束。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一句話重點：第 8 秒之後 B 的第一包占用已清空，所以等待可行。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取出 L₅(D,12)，本次搜尋結束</a:t>
            </a:r>
          </a:p>
          <a:p xmlns:a="http://schemas.openxmlformats.org/drawingml/2006/main">
            <a:r>
              <a:t>• pred：L₅ ← L₂ ← L₀</a:t>
            </a:r>
          </a:p>
          <a:p xmlns:a="http://schemas.openxmlformats.org/drawingml/2006/main">
            <a:r>
              <a:t>• 反轉後：c4(s=7)、c5(s=10)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對應 step 14。L5產生與被取出是兩個不同事件。不是選擇第一個到B的L1，而是經可行的晚到B標籤L2。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一句話重點：選定 A→B→D，完整到達時間為第 12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A：1～7 秒持有，7～8 秒釋放</a:t>
            </a:r>
          </a:p>
          <a:p xmlns:a="http://schemas.openxmlformats.org/drawingml/2006/main">
            <a:r>
              <a:t>• B：7～8 秒接收，8～10 秒等待，10～11 秒釋放</a:t>
            </a:r>
          </a:p>
          <a:p xmlns:a="http://schemas.openxmlformats.org/drawingml/2006/main">
            <a:r>
              <a:t>• D：11～12 秒接收，交付後釋放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本頁折線是兩包接受後的合計。第二包更新R[c4]8→4、R[c5]4→0。完整R向量為(0,0,4,4,0,4,2,4)。交界t=7第一包B占用為0，第二包剛開始接收也是0，並沒有重複計算。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一句話重點：兩包在 B 的合計占用峰值為 4 MB，沒有超量。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L₁ 接收可行，但後續延伸全失敗</a:t>
            </a:r>
          </a:p>
          <a:p xmlns:a="http://schemas.openxmlformats.org/drawingml/2006/main">
            <a:r>
              <a:t>• L₃ 延伸可行，但被 L₂ 支配而不入列</a:t>
            </a:r>
          </a:p>
          <a:p xmlns:a="http://schemas.openxmlformats.org/drawingml/2006/main">
            <a:r>
              <a:t>• L₅ 被取出後，回溯至 L₂ 與 L₀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已展開標籤仍可以是有效標籤。標籤建立編號不是到達順序。表格只列非零U分量。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一句話重點：「延伸失敗」、「被支配」、「已展開」是不同的狀態。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保留原演算法定義，固定測試輸入</a:t>
            </a:r>
          </a:p>
          <a:p xmlns:a="http://schemas.openxmlformats.org/drawingml/2006/main">
            <a:r>
              <a:t>• 獨立列舉路徑與格點發送時刻，作為比較答案</a:t>
            </a:r>
          </a:p>
          <a:p xmlns:a="http://schemas.openxmlformats.org/drawingml/2006/main">
            <a:r>
              <a:t>• 比較可行性與最早完整到達時間</a:t>
            </a:r>
          </a:p>
          <a:p xmlns:a="http://schemas.openxmlformats.org/drawingml/2006/main">
            <a:r>
              <a:t>• 另外關閉支配刪除，檢查答案是否改變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獨立列舉驗證程式不是直接重跑同一搜尋流程。它為小案例列舉路徑和時刻安排，檢查完整路徑，再比較答案。這些結果支持測試範圍內的一致性，不能取代一般性證明。原始輸出在 output/validation/oracle_comparison.csv 與 dominance_comparison.csv。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一句話重點：驗證程式必須採用相同模型，才能判斷演算法是否出錯。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14 個人工案例，共 15 次單包查詢</a:t>
            </a:r>
          </a:p>
          <a:p xmlns:a="http://schemas.openxmlformats.org/drawingml/2006/main">
            <a:r>
              <a:t>• 15 次查詢與獨立列舉答案全部一致</a:t>
            </a:r>
          </a:p>
          <a:p xmlns:a="http://schemas.openxmlformats.org/drawingml/2006/main">
            <a:r>
              <a:t>• 18 項單元測試通過</a:t>
            </a:r>
          </a:p>
          <a:p xmlns:a="http://schemas.openxmlformats.org/drawingml/2006/main">
            <a:r>
              <a:t>• 啟用／停用支配刪除，15 次答案相同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一個依序處理案例包含兩包，所以 14 個案例對應 15 次查詢。覆蓋無路徑、較晚標籤、接收與發送超限、來源容量、循環、contact 重複使用與目的地事件峰值等。結果來自既有驗證輸出；此簡報製作沒有新增效能測試或修改演算法。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一句話重點：目前未找到同一離散時間模型內的失敗案例；尚非所有輸入的正確性證明。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比較指標：加入優先佇列的標籤數</a:t>
            </a:r>
          </a:p>
          <a:p xmlns:a="http://schemas.openxmlformats.org/drawingml/2006/main">
            <a:r>
              <a:t>• 刪除部分標籤後，最早到達時間相同</a:t>
            </a:r>
          </a:p>
          <a:p xmlns:a="http://schemas.openxmlformats.org/drawingml/2006/main">
            <a:r>
              <a:t>• 這些數字是小案例觀察，尚非效能結論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數字取自 output/validation/dominance_comparison.csv；加入佇列、建立標籤、展開標籤是不同指標，本頁只使用加入佇列數，不混用。未做執行時間或記憶體基準測試。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一句話重點：下一階段才適合評估更大規模的時間與記憶體成本。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Δ = 1 秒時，最佳完整到達為 4 秒</a:t>
            </a:r>
          </a:p>
          <a:p xmlns:a="http://schemas.openxmlformats.org/drawingml/2006/main">
            <a:r>
              <a:t>• 允許非整數起始時刻，可於 3.5 秒到達</a:t>
            </a:r>
          </a:p>
          <a:p xmlns:a="http://schemas.openxmlformats.org/drawingml/2006/main">
            <a:r>
              <a:t>• 緩衝區門檻可能產生新的非整數時刻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反例：S=4，A→B 時段 [0,3]、B→D 時段 [2,4]，速率皆 4，延遲皆 0；M_B=5。既有 O_B 在 0～1 秒為 4，1～3 秒為 6−2t，3 秒後為 0。A 於 1.5～2.5 秒送出，B 於 2.5～3.5 秒轉送即可達 3.5；整數格點最早於 4 到達。此為模型範圍差異，不是同格點演算法的失敗。來源 counterexample_grid_continuous.json。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一句話重點：現有結果只支持離散時間版本，不能直接宣稱連續時間最佳。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contact 長 6 秒；剩餘總容量 3 MB</a:t>
            </a:r>
          </a:p>
          <a:p xmlns:a="http://schemas.openxmlformats.org/drawingml/2006/main">
            <a:r>
              <a:t>• 速率 1 MB/s，新 bundle 需連續傳送 2 秒</a:t>
            </a:r>
          </a:p>
          <a:p xmlns:a="http://schemas.openxmlformats.org/drawingml/2006/main">
            <a:r>
              <a:t>• 空檔各只有 1 秒，無法排入整包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反例的忙碌時段為 [1,2]、[3,4]、[5,6]；空檔 [0,1]、[2,3]、[4,5]。雖總剩餘 3 MB≥2 MB，卻無連續 2 秒可用。現版本只檢查剩餘可分配資料量，不檢查忙碌時段。這是模型限制；未擅自加入傳輸時段表或修改演算法。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一句話重點：加入已排定傳輸時段表之前，不能保證實際鏈路排程可行。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已建立：時間、整包容量與逐 byte buffer 檢查</a:t>
            </a:r>
          </a:p>
          <a:p xmlns:a="http://schemas.openxmlformats.org/drawingml/2006/main">
            <a:r>
              <a:t>• 已驗證：小型格點案例與支配刪除的一致性</a:t>
            </a:r>
          </a:p>
          <a:p xmlns:a="http://schemas.openxmlformats.org/drawingml/2006/main">
            <a:r>
              <a:t>• 待補：一般性證明與連續時間候選時刻</a:t>
            </a:r>
          </a:p>
          <a:p xmlns:a="http://schemas.openxmlformats.org/drawingml/2006/main">
            <a:r>
              <a:t>• 後續擴充：已排定傳輸時段表；需另行確認修正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延伸檢查與支配充分條件已有論證方向；整體正確性需要清楚列出有限格點、事件處理、狀態資訊、無副本及固定資源等前提。若後續找到同模型反例，應保留案例、定位定義或判別式錯誤，停止後續效能比較，只提出候選修正供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一句話重點：先界定並證明目前模型，再決定擴充範圍與效能比較。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速率皆為 4 MB/s；時間單位為秒</a:t>
            </a:r>
          </a:p>
          <a:p xmlns:a="http://schemas.openxmlformats.org/drawingml/2006/main">
            <a:r>
              <a:t>• δ 為傳播延遲；R 為搜尋前剩餘資料量</a:t>
            </a:r>
          </a:p>
          <a:p xmlns:a="http://schemas.openxmlformats.org/drawingml/2006/main">
            <a:r>
              <a:t>• 固定順序：第一包 X→D，再處理第二包 A→D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本表為第一包搜尋前的原始資料。所有 buffer 上限 4 MB，每包大小 4 MB，Δ=1 秒。資料來源 output/validation/walkthrough_input.json。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一句話重點：同一拓樸可以有多個不同時段的 contact。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5cef4a26247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311ce39dd40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0fa6fd42643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790f8315144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67b79c64540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fdf1fc58b4e7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b6e49979542c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3f551beab470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c2bba9bbc43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bfef3d45645a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254f8b5e8410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6779dcce84480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66E1080-B911-F070-2F0C-51393FECBE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solidFill>
                  <a:srgbClr val="333399"/>
                </a:solidFill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CE7240-08F6-E41F-3B09-4221445466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rgbClr val="3333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7E302F22-459F-49F9-591C-9103C8F0AA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17:39:08</a:t>
            </a:fld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E7B61759-798E-74A6-CF38-2CD6F5F6A9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17:39:08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7BE650C-6AEC-4842-173E-34883954C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5C53C19-0010-8E3A-5F6C-0E52200E4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22D735D5-F573-96C1-6A37-C8A8E878FA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3667B291-5DFE-AB13-BAFD-039CFAEC7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369179-AF01-E0F8-CEA7-53DBE992B9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D60F7C7-86AB-3D07-3E5F-84C38545B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0C6ECBC-51FE-A87F-BB3B-7783779693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0BAAAEF-26A1-4B36-D1CC-7C5285BF8F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335D98CF-26F1-ED94-14B0-776FBEC104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17:39:08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46A78645-F85B-E08B-6B10-4A1F25AA12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D73EDE38-CF96-6325-57CA-5104F8BCC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D535AE0-1F73-2218-3F48-F90E7A0D1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F5D1C1-E507-717A-83FD-170E8CDF21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9BDB5E51-BA76-D984-6CF7-457B12EBBB4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A62859B0-AADC-331E-81FF-D63D138B75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2C7CAAE9-6E6F-BC8A-DD8E-2586FBE2C5F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CD29717C-3502-FF62-1DC4-2D7B480B1A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17:39:08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26392BDA-58FF-56F3-D3A7-FC1D07F05A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9A042C3B-D61C-25E5-371E-06FFE9BBF6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5C22D7A-92D4-1935-AD80-9CC2122DD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0FBA9357-6002-22D8-E597-501FC32EB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17:39:08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80385F7F-B426-68A2-F2E5-7C7107AE96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98475024-DA13-8248-092F-2E98FA78C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C98E7BDB-9F66-A495-00C5-22CE8F53E2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17:39:08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FF23FBC0-403D-6065-4000-38C87E0030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CA023080-6F1A-733B-4E3A-246C5AEF74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含輔助字幕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CE8BFAC-6965-EA0D-65D3-C14E337B23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6CC5CC7-DE97-AFBB-DB02-B6760EF1C7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33D23EB-CC94-C058-5899-EDD401965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C625722C-CE3C-479B-511E-37F48F7EE01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按一下圖示以新增圖片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AC3718D-1BF4-5608-DECD-8657403EF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0108B413-34A3-DC3E-003F-2340947AF7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ADD61D-AAB3-4D9A-B816-51AAA157F42C}" type="datetime11">
              <a:t>17:39:08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831EB0E-79BC-017A-95E5-7ED79674B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37777203-CCB6-F593-C336-7BDD55E6B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B0D406B-1904-4585-B3F9-CAFFB5459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3293919-4FE9-1DBC-6418-4E012A8402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911DB0E-498F-6625-C075-4703CA6A7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B886582-1262-7079-D54E-2531C8634B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26DCCFE-74D0-866F-481C-B8F5837BF0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34A7F169-2D8E-5024-503E-5C4E09856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E4653BD-9083-BE2C-0024-2DA0E2201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275522-97C1-6990-ABAE-6CF4B3A4C0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C9A7DCE3-75B3-BF87-B3FA-08B7AC651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1E5AC06-EED6-B092-E12A-348AB765FC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81497E1-22B0-5D7C-0B36-45CF206CF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A1CB436B-5992-E711-86E5-067D987AE0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A9459D-13A6-4E2A-88E8-E5094C8AD3DE}" type="datetime11">
              <a:t>17:39:08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E1297F33-4494-98C0-A764-E14CA02D3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2F5D71FB-20C1-0443-5F61-8955B8596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573f4313f884193" /><Relationship Type="http://schemas.openxmlformats.org/officeDocument/2006/relationships/image" Target="/ppt/media/image2.png" Id="Rdc88eebf80d047b3" /><Relationship Type="http://schemas.openxmlformats.org/officeDocument/2006/relationships/theme" Target="/ppt/slideMasters/theme/theme2.xml" Id="R8a9660f60ccb46b6" /><Relationship Type="http://schemas.openxmlformats.org/officeDocument/2006/relationships/slideLayout" Target="/ppt/slideLayouts/slideLayout1.xml" Id="R6d8ef8c582054c03" /><Relationship Type="http://schemas.openxmlformats.org/officeDocument/2006/relationships/slideLayout" Target="/ppt/slideLayouts/slideLayout2.xml" Id="R97fc0afc117e421d" /><Relationship Type="http://schemas.openxmlformats.org/officeDocument/2006/relationships/slideLayout" Target="/ppt/slideLayouts/slideLayout3.xml" Id="R51afc5556c9b4dfe" /><Relationship Type="http://schemas.openxmlformats.org/officeDocument/2006/relationships/slideLayout" Target="/ppt/slideLayouts/slideLayout4.xml" Id="R1c0dc488345747e6" /><Relationship Type="http://schemas.openxmlformats.org/officeDocument/2006/relationships/slideLayout" Target="/ppt/slideLayouts/slideLayout5.xml" Id="R19d06b49d0a24b17" /><Relationship Type="http://schemas.openxmlformats.org/officeDocument/2006/relationships/slideLayout" Target="/ppt/slideLayouts/slideLayout6.xml" Id="R4fe9d5f628704ece" /><Relationship Type="http://schemas.openxmlformats.org/officeDocument/2006/relationships/slideLayout" Target="/ppt/slideLayouts/slideLayout7.xml" Id="Rff7e73599767449b" /><Relationship Type="http://schemas.openxmlformats.org/officeDocument/2006/relationships/slideLayout" Target="/ppt/slideLayouts/slideLayout8.xml" Id="Rb5cea72d534c48ce" /><Relationship Type="http://schemas.openxmlformats.org/officeDocument/2006/relationships/slideLayout" Target="/ppt/slideLayouts/slideLayout9.xml" Id="R75c0071cc8184cff" /><Relationship Type="http://schemas.openxmlformats.org/officeDocument/2006/relationships/slideLayout" Target="/ppt/slideLayouts/slideLayout10.xml" Id="Ra783e3d8051044b5" /><Relationship Type="http://schemas.openxmlformats.org/officeDocument/2006/relationships/slideLayout" Target="/ppt/slideLayouts/slideLayout11.xml" Id="R17faa6ebc9644762" /><Relationship Type="http://schemas.openxmlformats.org/officeDocument/2006/relationships/slideLayout" Target="/ppt/slideLayouts/slideLayout12.xml" Id="R170ea573b4f849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A6C2547-9B75-3E88-5EB4-35AE5586E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090AFDF-0DCB-B68A-C005-02AD3B39D2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1A56760C-4C82-E0BD-DE79-8512001904C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17:39:08</a:t>
            </a:fld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446B4982-92FF-F7AA-E878-A5AE013833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90393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DFKai-SB"/>
                <a:ea typeface="DFKai-SB"/>
                <a:cs typeface="DFKai-SB"/>
              </a:defRPr>
            </a:lvl1pPr>
          </a:lstStyle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  <p:pic>
        <p:nvPicPr>
          <p:cNvPr id="13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3f4313f88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2194" y="5994416"/>
            <a:ext cx="2434312" cy="870943"/>
          </a:xfrm>
          <a:prstGeom xmlns:a="http://schemas.openxmlformats.org/drawingml/2006/main" prst="rect">
            <a:avLst/>
          </a:prstGeom>
        </p:spPr>
      </p:pic>
      <p:pic>
        <p:nvPicPr>
          <p:cNvPr id="14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8eebf80d047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7006" y="6040875"/>
            <a:ext cx="755570" cy="71464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8ef8c582054c03"/>
    <p:sldLayoutId xmlns:r="http://schemas.openxmlformats.org/officeDocument/2006/relationships" id="2147483650" r:id="R97fc0afc117e421d"/>
    <p:sldLayoutId xmlns:r="http://schemas.openxmlformats.org/officeDocument/2006/relationships" id="2147483651" r:id="R51afc5556c9b4dfe"/>
    <p:sldLayoutId xmlns:r="http://schemas.openxmlformats.org/officeDocument/2006/relationships" id="2147483652" r:id="R1c0dc488345747e6"/>
    <p:sldLayoutId xmlns:r="http://schemas.openxmlformats.org/officeDocument/2006/relationships" id="2147483653" r:id="R19d06b49d0a24b17"/>
    <p:sldLayoutId xmlns:r="http://schemas.openxmlformats.org/officeDocument/2006/relationships" id="2147483654" r:id="R4fe9d5f628704ece"/>
    <p:sldLayoutId xmlns:r="http://schemas.openxmlformats.org/officeDocument/2006/relationships" id="2147483655" r:id="Rff7e73599767449b"/>
    <p:sldLayoutId xmlns:r="http://schemas.openxmlformats.org/officeDocument/2006/relationships" id="2147483656" r:id="Rb5cea72d534c48ce"/>
    <p:sldLayoutId xmlns:r="http://schemas.openxmlformats.org/officeDocument/2006/relationships" id="2147483657" r:id="R75c0071cc8184cff"/>
    <p:sldLayoutId xmlns:r="http://schemas.openxmlformats.org/officeDocument/2006/relationships" id="2147483658" r:id="Ra783e3d8051044b5"/>
    <p:sldLayoutId xmlns:r="http://schemas.openxmlformats.org/officeDocument/2006/relationships" id="2147483659" r:id="R17faa6ebc9644762"/>
    <p:sldLayoutId xmlns:r="http://schemas.openxmlformats.org/officeDocument/2006/relationships" id="2147483660" r:id="R170ea573b4f8494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FKai-SB"/>
          <a:ea typeface="DFKai-SB"/>
          <a:cs typeface="DFKai-SB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DFKai-SB"/>
        <a:buChar char="•"/>
        <a:defRPr sz="2800" kern="1200">
          <a:solidFill>
            <a:schemeClr val="tx1"/>
          </a:solidFill>
          <a:latin typeface="DFKai-SB"/>
          <a:ea typeface="DFKai-SB"/>
          <a:cs typeface="DFKai-SB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2400" kern="1200">
          <a:solidFill>
            <a:schemeClr val="tx1"/>
          </a:solidFill>
          <a:latin typeface="DFKai-SB"/>
          <a:ea typeface="DFKai-SB"/>
          <a:cs typeface="DFKai-SB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2000" kern="1200">
          <a:solidFill>
            <a:schemeClr val="tx1"/>
          </a:solidFill>
          <a:latin typeface="DFKai-SB"/>
          <a:ea typeface="DFKai-SB"/>
          <a:cs typeface="DFKai-SB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9pPr>
    </p:otherStyle>
  </p:txStyles>
</p:sldMaster>
</file>

<file path=ppt/slideMasters/theme/theme2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8a5a5cda364171" /><Relationship Type="http://schemas.openxmlformats.org/officeDocument/2006/relationships/notesSlide" Target="/ppt/notesSlides/notesSlide1.xml" Id="R3bf9cb685a5241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aec57f80c347d9" /><Relationship Type="http://schemas.openxmlformats.org/officeDocument/2006/relationships/notesSlide" Target="/ppt/notesSlides/notesSlide2.xml" Id="R25d56ca4429c43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d806bc4565467a" /><Relationship Type="http://schemas.openxmlformats.org/officeDocument/2006/relationships/notesSlide" Target="/ppt/notesSlides/notesSlide3.xml" Id="R632ef62e49fe4f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dcd434e70146d4" /><Relationship Type="http://schemas.openxmlformats.org/officeDocument/2006/relationships/notesSlide" Target="/ppt/notesSlides/notesSlide4.xml" Id="Rd851a998752f4c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27d3c54a9d4bac" /><Relationship Type="http://schemas.openxmlformats.org/officeDocument/2006/relationships/notesSlide" Target="/ppt/notesSlides/notesSlide5.xml" Id="R6b1b8e8b286f43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d18735fa274392" /><Relationship Type="http://schemas.openxmlformats.org/officeDocument/2006/relationships/notesSlide" Target="/ppt/notesSlides/notesSlide6.xml" Id="Re6f2e90efb2a4b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bfa1827a0241fe" /><Relationship Type="http://schemas.openxmlformats.org/officeDocument/2006/relationships/notesSlide" Target="/ppt/notesSlides/notesSlide7.xml" Id="R8ec83858cf6f49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8d1d9d9c644087" /><Relationship Type="http://schemas.openxmlformats.org/officeDocument/2006/relationships/notesSlide" Target="/ppt/notesSlides/notesSlide8.xml" Id="R435ca181530e4a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7e1345e27645b0" /><Relationship Type="http://schemas.openxmlformats.org/officeDocument/2006/relationships/notesSlide" Target="/ppt/notesSlides/notesSlide9.xml" Id="R2551f6e0563647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0d53c21807402f" /><Relationship Type="http://schemas.openxmlformats.org/officeDocument/2006/relationships/notesSlide" Target="/ppt/notesSlides/notesSlide10.xml" Id="R3a87fd55796e4b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319b52beb4485c" /><Relationship Type="http://schemas.openxmlformats.org/officeDocument/2006/relationships/notesSlide" Target="/ppt/notesSlides/notesSlide11.xml" Id="Rde27fa63279740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642fdde959439e" /><Relationship Type="http://schemas.openxmlformats.org/officeDocument/2006/relationships/notesSlide" Target="/ppt/notesSlides/notesSlide12.xml" Id="R7cfa40c4da7443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361d6abf714fb2" /><Relationship Type="http://schemas.openxmlformats.org/officeDocument/2006/relationships/notesSlide" Target="/ppt/notesSlides/notesSlide13.xml" Id="R59eac3235c334f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ef78a6c3334d48" /><Relationship Type="http://schemas.openxmlformats.org/officeDocument/2006/relationships/notesSlide" Target="/ppt/notesSlides/notesSlide14.xml" Id="R939b5a036bce43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ada9709cfd41bb" /><Relationship Type="http://schemas.openxmlformats.org/officeDocument/2006/relationships/notesSlide" Target="/ppt/notesSlides/notesSlide15.xml" Id="R671164da9ed44f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35c36045814934" /><Relationship Type="http://schemas.openxmlformats.org/officeDocument/2006/relationships/notesSlide" Target="/ppt/notesSlides/notesSlide16.xml" Id="R2fb9daa1b56c4e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040a28dc6349f7" /><Relationship Type="http://schemas.openxmlformats.org/officeDocument/2006/relationships/notesSlide" Target="/ppt/notesSlides/notesSlide17.xml" Id="Rb5586aedfeaa45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ae0cfb89934934" /><Relationship Type="http://schemas.openxmlformats.org/officeDocument/2006/relationships/notesSlide" Target="/ppt/notesSlides/notesSlide18.xml" Id="R7841690f783b49f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3383aa351b4de4" /><Relationship Type="http://schemas.openxmlformats.org/officeDocument/2006/relationships/notesSlide" Target="/ppt/notesSlides/notesSlide19.xml" Id="R398dc538cef346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1572026f91488d" /><Relationship Type="http://schemas.openxmlformats.org/officeDocument/2006/relationships/notesSlide" Target="/ppt/notesSlides/notesSlide20.xml" Id="Rc063a529d8c94a9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a9eec2b3c3438d" /><Relationship Type="http://schemas.openxmlformats.org/officeDocument/2006/relationships/notesSlide" Target="/ppt/notesSlides/notesSlide21.xml" Id="R3f1a6914e7d147d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a3f1f56d924740" /><Relationship Type="http://schemas.openxmlformats.org/officeDocument/2006/relationships/notesSlide" Target="/ppt/notesSlides/notesSlide22.xml" Id="R98609575da6142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ff04c36a7b4107" /><Relationship Type="http://schemas.openxmlformats.org/officeDocument/2006/relationships/notesSlide" Target="/ppt/notesSlides/notesSlide23.xml" Id="R5304bc3bf28f40a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7c13f0e3b540fd" /><Relationship Type="http://schemas.openxmlformats.org/officeDocument/2006/relationships/notesSlide" Target="/ppt/notesSlides/notesSlide24.xml" Id="R4c17f92913a849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458134a3de48a4" /><Relationship Type="http://schemas.openxmlformats.org/officeDocument/2006/relationships/notesSlide" Target="/ppt/notesSlides/notesSlide25.xml" Id="Rafdfa9e77ee649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382dc95339475e" /><Relationship Type="http://schemas.openxmlformats.org/officeDocument/2006/relationships/notesSlide" Target="/ppt/notesSlides/notesSlide26.xml" Id="R43c96278f7234dd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c6c3e3d8174b09" /><Relationship Type="http://schemas.openxmlformats.org/officeDocument/2006/relationships/notesSlide" Target="/ppt/notesSlides/notesSlide27.xml" Id="R48651c995d214d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4a56db3eee4398" /><Relationship Type="http://schemas.openxmlformats.org/officeDocument/2006/relationships/notesSlide" Target="/ppt/notesSlides/notesSlide28.xml" Id="Rf71fbcd6c84c424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3e1767d4ee48ee" /><Relationship Type="http://schemas.openxmlformats.org/officeDocument/2006/relationships/notesSlide" Target="/ppt/notesSlides/notesSlide29.xml" Id="Rf7a5a20135d14d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6bf5b17fa243ab" /><Relationship Type="http://schemas.openxmlformats.org/officeDocument/2006/relationships/notesSlide" Target="/ppt/notesSlides/notesSlide30.xml" Id="R6c158a110c7443f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cd6056e8084717" /><Relationship Type="http://schemas.openxmlformats.org/officeDocument/2006/relationships/notesSlide" Target="/ppt/notesSlides/notesSlide31.xml" Id="Rd4f7e618425143f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25aa936409451a" /><Relationship Type="http://schemas.openxmlformats.org/officeDocument/2006/relationships/notesSlide" Target="/ppt/notesSlides/notesSlide32.xml" Id="R1708440ba986406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da9935b59a4b8e" /><Relationship Type="http://schemas.openxmlformats.org/officeDocument/2006/relationships/notesSlide" Target="/ppt/notesSlides/notesSlide33.xml" Id="R9b35f3ea5e5e456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93b79f10fb466c" /><Relationship Type="http://schemas.openxmlformats.org/officeDocument/2006/relationships/notesSlide" Target="/ppt/notesSlides/notesSlide34.xml" Id="R45360123fdaf4b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972db89acb49eb" /><Relationship Type="http://schemas.openxmlformats.org/officeDocument/2006/relationships/notesSlide" Target="/ppt/notesSlides/notesSlide35.xml" Id="R06f5f6eb8532466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0a39121e6c4239" /><Relationship Type="http://schemas.openxmlformats.org/officeDocument/2006/relationships/notesSlide" Target="/ppt/notesSlides/notesSlide36.xml" Id="Rfaec393c96ed409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74b9a69d9a47ea" /><Relationship Type="http://schemas.openxmlformats.org/officeDocument/2006/relationships/notesSlide" Target="/ppt/notesSlides/notesSlide37.xml" Id="R9af33ab4baf74e0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f20a6f3aed43d6" /><Relationship Type="http://schemas.openxmlformats.org/officeDocument/2006/relationships/notesSlide" Target="/ppt/notesSlides/notesSlide38.xml" Id="R41bed1be2c2b4c0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cff47d6900441e" /><Relationship Type="http://schemas.openxmlformats.org/officeDocument/2006/relationships/notesSlide" Target="/ppt/notesSlides/notesSlide39.xml" Id="Rd1103b0e5ad2411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a70dd5dc934cc5" /><Relationship Type="http://schemas.openxmlformats.org/officeDocument/2006/relationships/notesSlide" Target="/ppt/notesSlides/notesSlide40.xml" Id="Rc052ef42ffbb4d0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074612a0ab4f67" /><Relationship Type="http://schemas.openxmlformats.org/officeDocument/2006/relationships/notesSlide" Target="/ppt/notesSlides/notesSlide41.xml" Id="Refa8115c8d644f2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90766b817e4c1d" /><Relationship Type="http://schemas.openxmlformats.org/officeDocument/2006/relationships/notesSlide" Target="/ppt/notesSlides/notesSlide42.xml" Id="Raee6636b8c7c42c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0e690aad924c7c" /><Relationship Type="http://schemas.openxmlformats.org/officeDocument/2006/relationships/notesSlide" Target="/ppt/notesSlides/notesSlide43.xml" Id="R16319fea88c4492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718fbf19424a31" /><Relationship Type="http://schemas.openxmlformats.org/officeDocument/2006/relationships/notesSlide" Target="/ppt/notesSlides/notesSlide44.xml" Id="R56fb66d32cfa474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0f610cc3854863" /><Relationship Type="http://schemas.openxmlformats.org/officeDocument/2006/relationships/notesSlide" Target="/ppt/notesSlides/notesSlide45.xml" Id="R79d13b608358418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998e0529a749b2" /><Relationship Type="http://schemas.openxmlformats.org/officeDocument/2006/relationships/notesSlide" Target="/ppt/notesSlides/notesSlide46.xml" Id="R6f9d46338d7143e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2674fa5d1c43e7" /><Relationship Type="http://schemas.openxmlformats.org/officeDocument/2006/relationships/notesSlide" Target="/ppt/notesSlides/notesSlide47.xml" Id="Rf31262132c024d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83E05F-EA45-4C56-8F9B-FF298EC639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/>
          </a:p>
        </p:txBody>
      </p:sp>
      <p:sp>
        <p:nvSpPr>
          <p:cNvPr id="6" name="標題 5">
            <a:extLst xmlns:a="http://schemas.openxmlformats.org/drawingml/2006/main">
              <a:ext uri="{FF2B5EF4-FFF2-40B4-BE49-F238E27FC236}">
                <a16:creationId xmlns:a16="http://schemas.microsoft.com/office/drawing/2014/main" id="{9045F329-665A-450F-9B6D-F31CD1D6381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8" name="副標題 7">
            <a:extLst xmlns:a="http://schemas.openxmlformats.org/drawingml/2006/main">
              <a:ext uri="{FF2B5EF4-FFF2-40B4-BE49-F238E27FC236}">
                <a16:creationId xmlns:a16="http://schemas.microsoft.com/office/drawing/2014/main" id="{D44C478F-2D0E-49DC-BA0B-D5F20A08CB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考慮緩衝區占用的整包路由">
            <a:extLst xmlns:a="http://schemas.openxmlformats.org/drawingml/2006/main">
              <a:ext uri="{FF2B5EF4-FFF2-40B4-BE49-F238E27FC236}">
                <a16:creationId xmlns:a16="http://schemas.microsoft.com/office/drawing/2014/main" id="{0A400D4B-013C-4B1D-AAB5-D5AFC659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考慮緩衝區占用的整包路由</a:t>
            </a:r>
          </a:p>
        </p:txBody>
      </p:sp>
      <p:sp>
        <p:nvSpPr>
          <p:cNvPr id="10" name="1">
            <a:extLst xmlns:a="http://schemas.openxmlformats.org/drawingml/2006/main">
              <a:ext uri="{FF2B5EF4-FFF2-40B4-BE49-F238E27FC236}">
                <a16:creationId xmlns:a16="http://schemas.microsoft.com/office/drawing/2014/main" id="{FB5E3B99-AEC0-40D4-8923-870C739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11" name="目前範圍：離散時間、剩餘可分配資料量與逐 byte 緩衝區占用。">
            <a:extLst xmlns:a="http://schemas.openxmlformats.org/drawingml/2006/main">
              <a:ext uri="{FF2B5EF4-FFF2-40B4-BE49-F238E27FC236}">
                <a16:creationId xmlns:a16="http://schemas.microsoft.com/office/drawing/2014/main" id="{007EC330-4229-47BD-9551-BCAA33EC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目前範圍：離散時間、剩餘可分配資料量與逐 byte 緩衝區占用。</a:t>
            </a:r>
          </a:p>
        </p:txBody>
      </p:sp>
      <p:sp>
        <p:nvSpPr>
          <p:cNvPr id="12" name="Label Setting 演算法與正確性驗證">
            <a:extLst xmlns:a="http://schemas.openxmlformats.org/drawingml/2006/main">
              <a:ext uri="{FF2B5EF4-FFF2-40B4-BE49-F238E27FC236}">
                <a16:creationId xmlns:a16="http://schemas.microsoft.com/office/drawing/2014/main" id="{574345A8-5082-4A64-936B-429E65E8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2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Setting 演算法與正確性驗證</a:t>
            </a:r>
          </a:p>
        </p:txBody>
      </p:sp>
      <p:sp>
        <p:nvSpPr>
          <p:cNvPr id="13" name="• 整包傳輸與傳輸時間">
            <a:extLst xmlns:a="http://schemas.openxmlformats.org/drawingml/2006/main">
              <a:ext uri="{FF2B5EF4-FFF2-40B4-BE49-F238E27FC236}">
                <a16:creationId xmlns:a16="http://schemas.microsoft.com/office/drawing/2014/main" id="{04315F7C-79A9-4206-A8B8-6FC446D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9525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整包傳輸與傳輸時間</a:t>
            </a:r>
          </a:p>
        </p:txBody>
      </p:sp>
      <p:sp>
        <p:nvSpPr>
          <p:cNvPr id="14" name="• 前一包預約後續節點的緩衝區">
            <a:extLst xmlns:a="http://schemas.openxmlformats.org/drawingml/2006/main">
              <a:ext uri="{FF2B5EF4-FFF2-40B4-BE49-F238E27FC236}">
                <a16:creationId xmlns:a16="http://schemas.microsoft.com/office/drawing/2014/main" id="{0C93BB9E-BB51-4D7C-831C-6E67A477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9525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前一包預約後續節點的緩衝區</a:t>
            </a:r>
          </a:p>
        </p:txBody>
      </p:sp>
      <p:sp>
        <p:nvSpPr>
          <p:cNvPr id="15" name="• 兩包逐步範例與驗證結果">
            <a:extLst xmlns:a="http://schemas.openxmlformats.org/drawingml/2006/main">
              <a:ext uri="{FF2B5EF4-FFF2-40B4-BE49-F238E27FC236}">
                <a16:creationId xmlns:a16="http://schemas.microsoft.com/office/drawing/2014/main" id="{5B40E6BE-EBA4-42A7-8AD9-481B3F4D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9525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兩包逐步範例與驗證結果</a:t>
            </a:r>
          </a:p>
        </p:txBody>
      </p:sp>
    </p:spTree>
    <p:extLst>
      <p:ext uri="{BB962C8B-B14F-4D97-AF65-F5344CB8AC3E}">
        <p14:creationId xmlns:p14="http://schemas.microsoft.com/office/powerpoint/2010/main" val="4303705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研究問題">
            <a:extLst xmlns:a="http://schemas.openxmlformats.org/drawingml/2006/main">
              <a:ext uri="{FF2B5EF4-FFF2-40B4-BE49-F238E27FC236}">
                <a16:creationId xmlns:a16="http://schemas.microsoft.com/office/drawing/2014/main" id="{23C59A43-0519-48AA-B38D-58F577FE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研究問題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F70A5433-FF49-404B-864A-BE3C4BFB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" name="目標：找出滿足容量與緩衝區限制的最早完整到達路徑。">
            <a:extLst xmlns:a="http://schemas.openxmlformats.org/drawingml/2006/main">
              <a:ext uri="{FF2B5EF4-FFF2-40B4-BE49-F238E27FC236}">
                <a16:creationId xmlns:a16="http://schemas.microsoft.com/office/drawing/2014/main" id="{2E0CE532-335C-4DDA-97BC-9B6ABA4C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目標：找出滿足容量與緩衝區限制的最早完整到達路徑。</a:t>
            </a:r>
          </a:p>
        </p:txBody>
      </p:sp>
      <p:sp>
        <p:nvSpPr>
          <p:cNvPr id="4" name="• bundle 不可分割，單次傳輸須完成整包">
            <a:extLst xmlns:a="http://schemas.openxmlformats.org/drawingml/2006/main">
              <a:ext uri="{FF2B5EF4-FFF2-40B4-BE49-F238E27FC236}">
                <a16:creationId xmlns:a16="http://schemas.microsoft.com/office/drawing/2014/main" id="{B13C6615-94C7-4D1D-AB77-A09D0E45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bundle 不可分割，單次傳輸須完成整包</a:t>
            </a:r>
          </a:p>
        </p:txBody>
      </p:sp>
      <p:sp>
        <p:nvSpPr>
          <p:cNvPr id="5" name="• 通訊機會有開始、結束與剩餘容量">
            <a:extLst xmlns:a="http://schemas.openxmlformats.org/drawingml/2006/main">
              <a:ext uri="{FF2B5EF4-FFF2-40B4-BE49-F238E27FC236}">
                <a16:creationId xmlns:a16="http://schemas.microsoft.com/office/drawing/2014/main" id="{2C9486A4-3973-445C-9820-0BAD5708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通訊機會有開始、結束與剩餘容量</a:t>
            </a:r>
          </a:p>
        </p:txBody>
      </p:sp>
      <p:sp>
        <p:nvSpPr>
          <p:cNvPr id="6" name="• 前一包選定路徑後，會占用沿途緩衝區">
            <a:extLst xmlns:a="http://schemas.openxmlformats.org/drawingml/2006/main">
              <a:ext uri="{FF2B5EF4-FFF2-40B4-BE49-F238E27FC236}">
                <a16:creationId xmlns:a16="http://schemas.microsoft.com/office/drawing/2014/main" id="{0D561341-8F22-4D08-8F1E-537D134A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前一包選定路徑後，會占用沿途緩衝區</a:t>
            </a:r>
          </a:p>
        </p:txBody>
      </p:sp>
    </p:spTree>
    <p:extLst>
      <p:ext uri="{BB962C8B-B14F-4D97-AF65-F5344CB8AC3E}">
        <p14:creationId xmlns:p14="http://schemas.microsoft.com/office/powerpoint/2010/main" val="4512951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目前採用的研究設定">
            <a:extLst xmlns:a="http://schemas.openxmlformats.org/drawingml/2006/main">
              <a:ext uri="{FF2B5EF4-FFF2-40B4-BE49-F238E27FC236}">
                <a16:creationId xmlns:a16="http://schemas.microsoft.com/office/drawing/2014/main" id="{22CD1242-C292-4ABE-80A7-7F790B96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目前採用的研究設定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BDC7BE82-ACAE-49BD-B317-76B3C45F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3" name="緩衝區限制需要檢查整段接收、等待與發送期間。">
            <a:extLst xmlns:a="http://schemas.openxmlformats.org/drawingml/2006/main">
              <a:ext uri="{FF2B5EF4-FFF2-40B4-BE49-F238E27FC236}">
                <a16:creationId xmlns:a16="http://schemas.microsoft.com/office/drawing/2014/main" id="{3C6240E5-C918-4CA5-96EA-0E0D3A05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緩衝區限制需要檢查整段接收、等待與發送期間。</a:t>
            </a:r>
          </a:p>
        </p:txBody>
      </p:sp>
      <p:sp>
        <p:nvSpPr>
          <p:cNvPr id="4" name="• 單包不可分割；完整接收後才能轉送">
            <a:extLst xmlns:a="http://schemas.openxmlformats.org/drawingml/2006/main">
              <a:ext uri="{FF2B5EF4-FFF2-40B4-BE49-F238E27FC236}">
                <a16:creationId xmlns:a16="http://schemas.microsoft.com/office/drawing/2014/main" id="{E7AC79EF-6E16-4A53-ABC6-79E60A52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單包不可分割；完整接收後才能轉送</a:t>
            </a:r>
          </a:p>
        </p:txBody>
      </p:sp>
      <p:sp>
        <p:nvSpPr>
          <p:cNvPr id="5" name="• 逐 byte 接收，逐 byte 釋放已送出的資料">
            <a:extLst xmlns:a="http://schemas.openxmlformats.org/drawingml/2006/main">
              <a:ext uri="{FF2B5EF4-FFF2-40B4-BE49-F238E27FC236}">
                <a16:creationId xmlns:a16="http://schemas.microsoft.com/office/drawing/2014/main" id="{98FEECE6-6BBB-4E21-87CE-34DE93D0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逐 byte 接收，逐 byte 釋放已送出的資料</a:t>
            </a:r>
          </a:p>
        </p:txBody>
      </p:sp>
      <p:sp>
        <p:nvSpPr>
          <p:cNvPr id="6" name="• 先前接受的路徑形成既有占用 Oᵥ(t)">
            <a:extLst xmlns:a="http://schemas.openxmlformats.org/drawingml/2006/main">
              <a:ext uri="{FF2B5EF4-FFF2-40B4-BE49-F238E27FC236}">
                <a16:creationId xmlns:a16="http://schemas.microsoft.com/office/drawing/2014/main" id="{35706EA6-8A10-4D43-B0E7-082B0D83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先前接受的路徑形成既有占用 Oᵥ(t)</a:t>
            </a:r>
          </a:p>
        </p:txBody>
      </p:sp>
      <p:sp>
        <p:nvSpPr>
          <p:cNvPr id="7" name="• 傳輸起始時間限定在間隔 Δ 的時間格點">
            <a:extLst xmlns:a="http://schemas.openxmlformats.org/drawingml/2006/main">
              <a:ext uri="{FF2B5EF4-FFF2-40B4-BE49-F238E27FC236}">
                <a16:creationId xmlns:a16="http://schemas.microsoft.com/office/drawing/2014/main" id="{E5B7FAB6-5AAB-4E3D-90EC-6504AF8A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傳輸起始時間限定在間隔 Δ 的時間格點</a:t>
            </a:r>
          </a:p>
        </p:txBody>
      </p:sp>
    </p:spTree>
    <p:extLst>
      <p:ext uri="{BB962C8B-B14F-4D97-AF65-F5344CB8AC3E}">
        <p14:creationId xmlns:p14="http://schemas.microsoft.com/office/powerpoint/2010/main" val="15921486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依序處理與單包搜尋">
            <a:extLst xmlns:a="http://schemas.openxmlformats.org/drawingml/2006/main">
              <a:ext uri="{FF2B5EF4-FFF2-40B4-BE49-F238E27FC236}">
                <a16:creationId xmlns:a16="http://schemas.microsoft.com/office/drawing/2014/main" id="{58FE236D-5AD1-4D15-9F1C-E4BA1ACD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依序處理與單包搜尋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6BD370E0-C210-4157-AB46-88E0510D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" name="候選路徑不先占用資源；只有接受的完整路徑會預約資源。">
            <a:extLst xmlns:a="http://schemas.openxmlformats.org/drawingml/2006/main">
              <a:ext uri="{FF2B5EF4-FFF2-40B4-BE49-F238E27FC236}">
                <a16:creationId xmlns:a16="http://schemas.microsoft.com/office/drawing/2014/main" id="{9AD98C80-547E-49AA-BC8B-51A3A70F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候選路徑不先占用資源；只有接受的完整路徑會預約資源。</a:t>
            </a:r>
          </a:p>
        </p:txBody>
      </p:sp>
      <p:sp>
        <p:nvSpPr>
          <p:cNvPr id="4" name="• 讀取本次剩餘資料量 R 與既有占用 O(t)">
            <a:extLst xmlns:a="http://schemas.openxmlformats.org/drawingml/2006/main">
              <a:ext uri="{FF2B5EF4-FFF2-40B4-BE49-F238E27FC236}">
                <a16:creationId xmlns:a16="http://schemas.microsoft.com/office/drawing/2014/main" id="{F7ECA137-D220-4EFD-9457-0AAACD75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讀取本次剩餘資料量 R 與既有占用 O(t)</a:t>
            </a:r>
          </a:p>
        </p:txBody>
      </p:sp>
      <p:sp>
        <p:nvSpPr>
          <p:cNvPr id="5" name="• 本次搜尋中，所有候選路徑共用相同資源資料">
            <a:extLst xmlns:a="http://schemas.openxmlformats.org/drawingml/2006/main">
              <a:ext uri="{FF2B5EF4-FFF2-40B4-BE49-F238E27FC236}">
                <a16:creationId xmlns:a16="http://schemas.microsoft.com/office/drawing/2014/main" id="{D2926B1B-D10D-407C-A00A-F74E2FED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本次搜尋中，所有候選路徑共用相同資源資料</a:t>
            </a:r>
          </a:p>
        </p:txBody>
      </p:sp>
      <p:sp>
        <p:nvSpPr>
          <p:cNvPr id="6" name="• 選定完整路徑後，才更新 R 與 O(t)">
            <a:extLst xmlns:a="http://schemas.openxmlformats.org/drawingml/2006/main">
              <a:ext uri="{FF2B5EF4-FFF2-40B4-BE49-F238E27FC236}">
                <a16:creationId xmlns:a16="http://schemas.microsoft.com/office/drawing/2014/main" id="{78D3E023-1F5B-42A9-A17B-441BA52E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選定完整路徑後，才更新 R 與 O(t)</a:t>
            </a:r>
          </a:p>
        </p:txBody>
      </p:sp>
      <p:sp>
        <p:nvSpPr>
          <p:cNvPr id="7" name="• 下一包使用更新後的資料重新搜尋">
            <a:extLst xmlns:a="http://schemas.openxmlformats.org/drawingml/2006/main">
              <a:ext uri="{FF2B5EF4-FFF2-40B4-BE49-F238E27FC236}">
                <a16:creationId xmlns:a16="http://schemas.microsoft.com/office/drawing/2014/main" id="{56EB0E12-805B-45E1-8687-3597B80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下一包使用更新後的資料重新搜尋</a:t>
            </a:r>
          </a:p>
        </p:txBody>
      </p:sp>
    </p:spTree>
    <p:extLst>
      <p:ext uri="{BB962C8B-B14F-4D97-AF65-F5344CB8AC3E}">
        <p14:creationId xmlns:p14="http://schemas.microsoft.com/office/powerpoint/2010/main" val="20647048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籤記錄哪些資訊？">
            <a:extLst xmlns:a="http://schemas.openxmlformats.org/drawingml/2006/main">
              <a:ext uri="{FF2B5EF4-FFF2-40B4-BE49-F238E27FC236}">
                <a16:creationId xmlns:a16="http://schemas.microsoft.com/office/drawing/2014/main" id="{21E08FF3-C14E-4D2F-BB0D-59AB578E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標籤記錄哪些資訊？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6E8AB027-9A76-4909-AA51-B5C0617C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3" name="標籤 L = (v, a, U)；不能只用節點與到達時間判斷。">
            <a:extLst xmlns:a="http://schemas.openxmlformats.org/drawingml/2006/main">
              <a:ext uri="{FF2B5EF4-FFF2-40B4-BE49-F238E27FC236}">
                <a16:creationId xmlns:a16="http://schemas.microsoft.com/office/drawing/2014/main" id="{C8F57287-CDA7-432C-8B5B-98016A5F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標籤 L = (v, a, U)；不能只用節點與到達時間判斷。</a:t>
            </a:r>
          </a:p>
        </p:txBody>
      </p:sp>
      <p:sp>
        <p:nvSpPr>
          <p:cNvPr id="4" name="L = (v, a, U)">
            <a:extLst xmlns:a="http://schemas.openxmlformats.org/drawingml/2006/main">
              <a:ext uri="{FF2B5EF4-FFF2-40B4-BE49-F238E27FC236}">
                <a16:creationId xmlns:a16="http://schemas.microsoft.com/office/drawing/2014/main" id="{01FA4C00-D82B-40A3-A50F-FE94E34E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 = (v, a, U)</a:t>
            </a:r>
          </a:p>
        </p:txBody>
      </p:sp>
      <p:sp>
        <p:nvSpPr>
          <p:cNvPr id="5" name="• v：目前所在節點">
            <a:extLst xmlns:a="http://schemas.openxmlformats.org/drawingml/2006/main">
              <a:ext uri="{FF2B5EF4-FFF2-40B4-BE49-F238E27FC236}">
                <a16:creationId xmlns:a16="http://schemas.microsoft.com/office/drawing/2014/main" id="{8B8D7331-5FE4-473B-80C5-F9C72560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v：目前所在節點</a:t>
            </a:r>
          </a:p>
        </p:txBody>
      </p:sp>
      <p:sp>
        <p:nvSpPr>
          <p:cNvPr id="6" name="• a：本包完整抵達 v 的時間">
            <a:extLst xmlns:a="http://schemas.openxmlformats.org/drawingml/2006/main">
              <a:ext uri="{FF2B5EF4-FFF2-40B4-BE49-F238E27FC236}">
                <a16:creationId xmlns:a16="http://schemas.microsoft.com/office/drawing/2014/main" id="{E2FB15DA-3420-4101-88B2-DD6F120F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a：本包完整抵達 v 的時間</a:t>
            </a:r>
          </a:p>
        </p:txBody>
      </p:sp>
      <p:sp>
        <p:nvSpPr>
          <p:cNvPr id="7" name="• U[c]：此候選路徑已使用 contact c 的資料量">
            <a:extLst xmlns:a="http://schemas.openxmlformats.org/drawingml/2006/main">
              <a:ext uri="{FF2B5EF4-FFF2-40B4-BE49-F238E27FC236}">
                <a16:creationId xmlns:a16="http://schemas.microsoft.com/office/drawing/2014/main" id="{9C123DF4-F8FB-45FE-AD23-CA148C3C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U[c]：此候選路徑已使用 contact c 的資料量</a:t>
            </a:r>
          </a:p>
        </p:txBody>
      </p:sp>
    </p:spTree>
    <p:extLst>
      <p:ext uri="{BB962C8B-B14F-4D97-AF65-F5344CB8AC3E}">
        <p14:creationId xmlns:p14="http://schemas.microsoft.com/office/powerpoint/2010/main" val="2945286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標籤延伸：時間與容量">
            <a:extLst xmlns:a="http://schemas.openxmlformats.org/drawingml/2006/main">
              <a:ext uri="{FF2B5EF4-FFF2-40B4-BE49-F238E27FC236}">
                <a16:creationId xmlns:a16="http://schemas.microsoft.com/office/drawing/2014/main" id="{26B97BD1-A378-4AAE-804A-3FE8F2B3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標籤延伸：時間與容量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29A49BFA-7FEA-41B8-A60C-E5B05E1E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" name="每個可用 contact，都要檢查各個符合條件的格點起始時間 s">
            <a:extLst xmlns:a="http://schemas.openxmlformats.org/drawingml/2006/main">
              <a:ext uri="{FF2B5EF4-FFF2-40B4-BE49-F238E27FC236}">
                <a16:creationId xmlns:a16="http://schemas.microsoft.com/office/drawing/2014/main" id="{0FA46160-4469-410B-B7E0-4EF00037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每個可用 contact，都要檢查各個符合條件的格點起始時間 s。</a:t>
            </a:r>
          </a:p>
        </p:txBody>
      </p:sp>
      <p:sp>
        <p:nvSpPr>
          <p:cNvPr id="4" name="• s ≥ max(a, contact 開始時間)">
            <a:extLst xmlns:a="http://schemas.openxmlformats.org/drawingml/2006/main">
              <a:ext uri="{FF2B5EF4-FFF2-40B4-BE49-F238E27FC236}">
                <a16:creationId xmlns:a16="http://schemas.microsoft.com/office/drawing/2014/main" id="{9C3DC7FB-733D-4D0F-B3AA-FED7D8A8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s ≥ max(a, contact 開始時間)</a:t>
            </a:r>
          </a:p>
        </p:txBody>
      </p:sp>
      <p:sp>
        <p:nvSpPr>
          <p:cNvPr id="5" name="• f = s + S/r ≤ contact 結束時間">
            <a:extLst xmlns:a="http://schemas.openxmlformats.org/drawingml/2006/main">
              <a:ext uri="{FF2B5EF4-FFF2-40B4-BE49-F238E27FC236}">
                <a16:creationId xmlns:a16="http://schemas.microsoft.com/office/drawing/2014/main" id="{EDA39217-E78A-4423-9207-FD06AF15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f = s + S/r ≤ contact 結束時間</a:t>
            </a:r>
          </a:p>
        </p:txBody>
      </p:sp>
      <p:sp>
        <p:nvSpPr>
          <p:cNvPr id="6" name="• a′ = f + δ ≤ T">
            <a:extLst xmlns:a="http://schemas.openxmlformats.org/drawingml/2006/main">
              <a:ext uri="{FF2B5EF4-FFF2-40B4-BE49-F238E27FC236}">
                <a16:creationId xmlns:a16="http://schemas.microsoft.com/office/drawing/2014/main" id="{62ABD816-8C94-428B-9EA5-0C77F638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a′ = f + δ ≤ T</a:t>
            </a:r>
          </a:p>
        </p:txBody>
      </p:sp>
      <p:sp>
        <p:nvSpPr>
          <p:cNvPr id="7" name="• U[c] + S ≤ R[c]">
            <a:extLst xmlns:a="http://schemas.openxmlformats.org/drawingml/2006/main">
              <a:ext uri="{FF2B5EF4-FFF2-40B4-BE49-F238E27FC236}">
                <a16:creationId xmlns:a16="http://schemas.microsoft.com/office/drawing/2014/main" id="{5DCE0E8B-16DD-41CB-B8BF-AF736A6E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U[c] + S ≤ R[c]</a:t>
            </a:r>
          </a:p>
        </p:txBody>
      </p:sp>
      <p:sp>
        <p:nvSpPr>
          <p:cNvPr id="8" name="S：資料量　r：速率　δ：傳播延遲　T：規劃截止時間">
            <a:extLst xmlns:a="http://schemas.openxmlformats.org/drawingml/2006/main">
              <a:ext uri="{FF2B5EF4-FFF2-40B4-BE49-F238E27FC236}">
                <a16:creationId xmlns:a16="http://schemas.microsoft.com/office/drawing/2014/main" id="{B4A0C7A6-377F-4F1E-BD92-AD27C156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S：資料量　r：速率　δ：傳播延遲　T：規劃截止時間</a:t>
            </a:r>
          </a:p>
        </p:txBody>
      </p:sp>
    </p:spTree>
    <p:extLst>
      <p:ext uri="{BB962C8B-B14F-4D97-AF65-F5344CB8AC3E}">
        <p14:creationId xmlns:p14="http://schemas.microsoft.com/office/powerpoint/2010/main" val="2262396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標籤延伸：緩衝區檢查">
            <a:extLst xmlns:a="http://schemas.openxmlformats.org/drawingml/2006/main">
              <a:ext uri="{FF2B5EF4-FFF2-40B4-BE49-F238E27FC236}">
                <a16:creationId xmlns:a16="http://schemas.microsoft.com/office/drawing/2014/main" id="{E7EC56A3-032F-42E1-A590-3C2BFAB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標籤延伸：緩衝區檢查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90FB10F2-6971-4B84-8654-180A4957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3" name="檢查的是隨時間變化的占用量，不是只比較 S 與 buffer 上">
            <a:extLst xmlns:a="http://schemas.openxmlformats.org/drawingml/2006/main">
              <a:ext uri="{FF2B5EF4-FFF2-40B4-BE49-F238E27FC236}">
                <a16:creationId xmlns:a16="http://schemas.microsoft.com/office/drawing/2014/main" id="{13976369-2377-4129-ABD1-D7671E55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檢查的是隨時間變化的占用量，不是只比較 S 與 buffer 上限。</a:t>
            </a:r>
          </a:p>
        </p:txBody>
      </p:sp>
      <p:sp>
        <p:nvSpPr>
          <p:cNvPr id="4" name="• 發送端等待：bᵤ(t) = S，a ≤ t ≤ s">
            <a:extLst xmlns:a="http://schemas.openxmlformats.org/drawingml/2006/main">
              <a:ext uri="{FF2B5EF4-FFF2-40B4-BE49-F238E27FC236}">
                <a16:creationId xmlns:a16="http://schemas.microsoft.com/office/drawing/2014/main" id="{685F6C05-E0CA-4560-8D6E-BBE69706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發送端等待：bᵤ(t) = S，a ≤ t ≤ s</a:t>
            </a:r>
          </a:p>
        </p:txBody>
      </p:sp>
      <p:sp>
        <p:nvSpPr>
          <p:cNvPr id="5" name="• 發送端傳送：bᵤ(t) = S − r(t−s)，s ≤ t">
            <a:extLst xmlns:a="http://schemas.openxmlformats.org/drawingml/2006/main">
              <a:ext uri="{FF2B5EF4-FFF2-40B4-BE49-F238E27FC236}">
                <a16:creationId xmlns:a16="http://schemas.microsoft.com/office/drawing/2014/main" id="{F4BDC247-9CFA-4BB0-ADE8-5A536972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發送端傳送：bᵤ(t) = S − r(t−s)，s ≤ t ≤ f</a:t>
            </a:r>
          </a:p>
        </p:txBody>
      </p:sp>
      <p:sp>
        <p:nvSpPr>
          <p:cNvPr id="6" name="• 接收端接收：bᵥ(t) = r(t−h)，h ≤ t ≤ a">
            <a:extLst xmlns:a="http://schemas.openxmlformats.org/drawingml/2006/main">
              <a:ext uri="{FF2B5EF4-FFF2-40B4-BE49-F238E27FC236}">
                <a16:creationId xmlns:a16="http://schemas.microsoft.com/office/drawing/2014/main" id="{D15725B5-C6D6-453D-B1A9-FE642839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接收端接收：bᵥ(t) = r(t−h)，h ≤ t ≤ a′</a:t>
            </a:r>
          </a:p>
        </p:txBody>
      </p:sp>
      <p:sp>
        <p:nvSpPr>
          <p:cNvPr id="7" name="• 兩端皆須滿足 O(t) + b(t) ≤ M">
            <a:extLst xmlns:a="http://schemas.openxmlformats.org/drawingml/2006/main">
              <a:ext uri="{FF2B5EF4-FFF2-40B4-BE49-F238E27FC236}">
                <a16:creationId xmlns:a16="http://schemas.microsoft.com/office/drawing/2014/main" id="{F5A8D947-50A4-4E8E-AC30-F5346EB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兩端皆須滿足 O(t) + b(t) ≤ M</a:t>
            </a:r>
          </a:p>
        </p:txBody>
      </p:sp>
      <p:sp>
        <p:nvSpPr>
          <p:cNvPr id="8" name="h = s + δ：接收開始時間；M：節點 buffer 容量上">
            <a:extLst xmlns:a="http://schemas.openxmlformats.org/drawingml/2006/main">
              <a:ext uri="{FF2B5EF4-FFF2-40B4-BE49-F238E27FC236}">
                <a16:creationId xmlns:a16="http://schemas.microsoft.com/office/drawing/2014/main" id="{A7341B68-6FE4-4923-9F6C-741523D3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h = s + δ：接收開始時間；M：節點 buffer 容量上限</a:t>
            </a:r>
          </a:p>
        </p:txBody>
      </p:sp>
    </p:spTree>
    <p:extLst>
      <p:ext uri="{BB962C8B-B14F-4D97-AF65-F5344CB8AC3E}">
        <p14:creationId xmlns:p14="http://schemas.microsoft.com/office/powerpoint/2010/main" val="19671692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支配規則：何時可以刪除？">
            <a:extLst xmlns:a="http://schemas.openxmlformats.org/drawingml/2006/main">
              <a:ext uri="{FF2B5EF4-FFF2-40B4-BE49-F238E27FC236}">
                <a16:creationId xmlns:a16="http://schemas.microsoft.com/office/drawing/2014/main" id="{03E90EC0-D26B-4F1E-BFD8-B371D003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支配規則：何時可以刪除？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2DA017CE-7F0F-4E93-862E-BEF3653E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3" name="三項都成立，才可用 L₁ 取代 L₂ 繼續搜尋。">
            <a:extLst xmlns:a="http://schemas.openxmlformats.org/drawingml/2006/main">
              <a:ext uri="{FF2B5EF4-FFF2-40B4-BE49-F238E27FC236}">
                <a16:creationId xmlns:a16="http://schemas.microsoft.com/office/drawing/2014/main" id="{6225A487-C662-460F-9F89-E533BE72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三項都成立，才可用 L₁ 取代 L₂ 繼續搜尋。</a:t>
            </a:r>
          </a:p>
        </p:txBody>
      </p:sp>
      <p:sp>
        <p:nvSpPr>
          <p:cNvPr id="4" name="• 兩個標籤位於同一節點：a₁ ≤ a₂">
            <a:extLst xmlns:a="http://schemas.openxmlformats.org/drawingml/2006/main">
              <a:ext uri="{FF2B5EF4-FFF2-40B4-BE49-F238E27FC236}">
                <a16:creationId xmlns:a16="http://schemas.microsoft.com/office/drawing/2014/main" id="{9A6B053A-21D4-4935-B59A-73B3CD33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兩個標籤位於同一節點：a₁ ≤ a₂</a:t>
            </a:r>
          </a:p>
        </p:txBody>
      </p:sp>
      <p:sp>
        <p:nvSpPr>
          <p:cNvPr id="5" name="• 等待期間：Oᵥ(t) + S ≤ Mᵥ，∀t ∈ [a₁,a">
            <a:extLst xmlns:a="http://schemas.openxmlformats.org/drawingml/2006/main">
              <a:ext uri="{FF2B5EF4-FFF2-40B4-BE49-F238E27FC236}">
                <a16:creationId xmlns:a16="http://schemas.microsoft.com/office/drawing/2014/main" id="{14292158-6D89-4B4F-AAB7-28EE2ADA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等待期間：Oᵥ(t) + S ≤ Mᵥ，∀t ∈ [a₁,a₂]</a:t>
            </a:r>
          </a:p>
        </p:txBody>
      </p:sp>
      <p:sp>
        <p:nvSpPr>
          <p:cNvPr id="6" name="• 所有 contact：U₁[c] ≤ U₂[c]">
            <a:extLst xmlns:a="http://schemas.openxmlformats.org/drawingml/2006/main">
              <a:ext uri="{FF2B5EF4-FFF2-40B4-BE49-F238E27FC236}">
                <a16:creationId xmlns:a16="http://schemas.microsoft.com/office/drawing/2014/main" id="{A2DB2F56-E900-4731-8E38-2784E331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所有 contact：U₁[c] ≤ U₂[c]</a:t>
            </a:r>
          </a:p>
        </p:txBody>
      </p:sp>
      <p:sp>
        <p:nvSpPr>
          <p:cNvPr id="7" name="僅「較早到達」不足以構成支配。">
            <a:extLst xmlns:a="http://schemas.openxmlformats.org/drawingml/2006/main">
              <a:ext uri="{FF2B5EF4-FFF2-40B4-BE49-F238E27FC236}">
                <a16:creationId xmlns:a16="http://schemas.microsoft.com/office/drawing/2014/main" id="{F4D217F1-9B53-46E6-BE2A-C0F86888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僅「較早到達」不足以構成支配。</a:t>
            </a:r>
          </a:p>
        </p:txBody>
      </p:sp>
    </p:spTree>
    <p:extLst>
      <p:ext uri="{BB962C8B-B14F-4D97-AF65-F5344CB8AC3E}">
        <p14:creationId xmlns:p14="http://schemas.microsoft.com/office/powerpoint/2010/main" val="5812353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 Setting 搜尋流程">
            <a:extLst xmlns:a="http://schemas.openxmlformats.org/drawingml/2006/main">
              <a:ext uri="{FF2B5EF4-FFF2-40B4-BE49-F238E27FC236}">
                <a16:creationId xmlns:a16="http://schemas.microsoft.com/office/drawing/2014/main" id="{1F9644A4-9D12-4609-9991-70A05066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Setting 搜尋流程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99D12956-B6B5-4822-B3DA-A2CBAC33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3" name="固定的是標籤的處理順序，不是每個節點只處理一次。">
            <a:extLst xmlns:a="http://schemas.openxmlformats.org/drawingml/2006/main">
              <a:ext uri="{FF2B5EF4-FFF2-40B4-BE49-F238E27FC236}">
                <a16:creationId xmlns:a16="http://schemas.microsoft.com/office/drawing/2014/main" id="{02ED81A3-B361-43B2-AD30-2AD2542C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固定的是標籤的處理順序，不是每個節點只處理一次。</a:t>
            </a:r>
          </a:p>
        </p:txBody>
      </p:sp>
      <p:sp>
        <p:nvSpPr>
          <p:cNvPr id="4" name="• 取出完整到達時間最早的有效標籤">
            <a:extLst xmlns:a="http://schemas.openxmlformats.org/drawingml/2006/main">
              <a:ext uri="{FF2B5EF4-FFF2-40B4-BE49-F238E27FC236}">
                <a16:creationId xmlns:a16="http://schemas.microsoft.com/office/drawing/2014/main" id="{C00C03D1-9E74-4400-B56E-6FA5BDDC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取出完整到達時間最早的有效標籤</a:t>
            </a:r>
          </a:p>
        </p:txBody>
      </p:sp>
      <p:sp>
        <p:nvSpPr>
          <p:cNvPr id="5" name="• 延伸各 contact，列舉格點發送時刻">
            <a:extLst xmlns:a="http://schemas.openxmlformats.org/drawingml/2006/main">
              <a:ext uri="{FF2B5EF4-FFF2-40B4-BE49-F238E27FC236}">
                <a16:creationId xmlns:a16="http://schemas.microsoft.com/office/drawing/2014/main" id="{3D2C7EDF-348A-4EAC-AFCB-EE9D71BC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延伸各 contact，列舉格點發送時刻</a:t>
            </a:r>
          </a:p>
        </p:txBody>
      </p:sp>
      <p:sp>
        <p:nvSpPr>
          <p:cNvPr id="6" name="• 通過時間、容量與緩衝區檢查後，檢查支配">
            <a:extLst xmlns:a="http://schemas.openxmlformats.org/drawingml/2006/main">
              <a:ext uri="{FF2B5EF4-FFF2-40B4-BE49-F238E27FC236}">
                <a16:creationId xmlns:a16="http://schemas.microsoft.com/office/drawing/2014/main" id="{5FE93EB3-AA93-47E4-8336-DF50F33F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通過時間、容量與緩衝區檢查後，檢查支配</a:t>
            </a:r>
          </a:p>
        </p:txBody>
      </p:sp>
      <p:sp>
        <p:nvSpPr>
          <p:cNvPr id="7" name="• 目的地標籤取出即結束；佇列空則無格點可行解">
            <a:extLst xmlns:a="http://schemas.openxmlformats.org/drawingml/2006/main">
              <a:ext uri="{FF2B5EF4-FFF2-40B4-BE49-F238E27FC236}">
                <a16:creationId xmlns:a16="http://schemas.microsoft.com/office/drawing/2014/main" id="{EAA7EB50-B3E8-4389-B31C-2458C439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目的地標籤取出即結束；佇列空則無格點可行解</a:t>
            </a:r>
          </a:p>
        </p:txBody>
      </p:sp>
    </p:spTree>
    <p:extLst>
      <p:ext uri="{BB962C8B-B14F-4D97-AF65-F5344CB8AC3E}">
        <p14:creationId xmlns:p14="http://schemas.microsoft.com/office/powerpoint/2010/main" val="20716565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符號表：輸入與資源">
            <a:extLst xmlns:a="http://schemas.openxmlformats.org/drawingml/2006/main">
              <a:ext uri="{FF2B5EF4-FFF2-40B4-BE49-F238E27FC236}">
                <a16:creationId xmlns:a16="http://schemas.microsoft.com/office/drawing/2014/main" id="{C54D210C-16B9-40BB-ADF4-8380A5C2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符號表：輸入與資源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FDC2F738-355B-40A0-9F40-E5F74F8D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3" name="R、U、O 分別描述不同資源狀態，不能混用。">
            <a:extLst xmlns:a="http://schemas.openxmlformats.org/drawingml/2006/main">
              <a:ext uri="{FF2B5EF4-FFF2-40B4-BE49-F238E27FC236}">
                <a16:creationId xmlns:a16="http://schemas.microsoft.com/office/drawing/2014/main" id="{D6A486B5-8A86-437D-A9CA-C6E9C156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R、U、O 分別描述不同資源狀態，不能混用。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1619250"/>
          <a:ext xmlns:a="http://schemas.openxmlformats.org/drawingml/2006/main" cx="10515600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334125"/>
                <a:gridCol w="189547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定義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單位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S ／ r_c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整包大小 ／ contact 傳輸速率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MB ／ MB/s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α_c ／ ω_c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發送窗口開始 ／ 結束時間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δ_c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傳播延遲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R_c ／ M_v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剩餘可分配資料量 ／ buffer 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O_v(t)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先前已接受 bundles 的既有占用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Δ ／ 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格點間隔 ／ 規劃截止時間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9658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符號表：標籤與單跳時間">
            <a:extLst xmlns:a="http://schemas.openxmlformats.org/drawingml/2006/main">
              <a:ext uri="{FF2B5EF4-FFF2-40B4-BE49-F238E27FC236}">
                <a16:creationId xmlns:a16="http://schemas.microsoft.com/office/drawing/2014/main" id="{3C1D1F34-7F1E-446B-94BA-82C454F1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符號表：標籤與單跳時間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5179C7DC-481F-4E74-8DBC-8615EBF1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  <p:sp>
        <p:nvSpPr>
          <p:cNvPr id="3" name="發送完成 f 與完整到達 a′ 相差傳播延遲 δ。">
            <a:extLst xmlns:a="http://schemas.openxmlformats.org/drawingml/2006/main">
              <a:ext uri="{FF2B5EF4-FFF2-40B4-BE49-F238E27FC236}">
                <a16:creationId xmlns:a16="http://schemas.microsoft.com/office/drawing/2014/main" id="{B7310C67-5309-4811-8BDD-09A86C21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發送完成 f 與完整到達 a′ 相差傳播延遲 δ。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1619250"/>
          <a:ext xmlns:a="http://schemas.openxmlformats.org/drawingml/2006/main" cx="10515600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65810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定義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 = (v, a, U)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目前節點、完整到達時間、各 contact 已用量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U[c]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本候選路徑對 contact c 的累積資料量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s ／ 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發送開始 ／ 發送完成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h ／ a′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接收開始 ／ 接收完成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依完整到達時間 a 排序的優先佇列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前一個標籤的識別碼，用來回溯路徑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8818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虛擬碼 1：初始化與取出標籤">
            <a:extLst xmlns:a="http://schemas.openxmlformats.org/drawingml/2006/main">
              <a:ext uri="{FF2B5EF4-FFF2-40B4-BE49-F238E27FC236}">
                <a16:creationId xmlns:a16="http://schemas.microsoft.com/office/drawing/2014/main" id="{11A4EB21-49BE-4626-B5B7-286A1852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虛擬碼 1：初始化與取出標籤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5BDC5603-8C07-4B8F-A9DB-0056B3C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3" name="目的地標籤從 Q 取出時才結束。">
            <a:extLst xmlns:a="http://schemas.openxmlformats.org/drawingml/2006/main">
              <a:ext uri="{FF2B5EF4-FFF2-40B4-BE49-F238E27FC236}">
                <a16:creationId xmlns:a16="http://schemas.microsoft.com/office/drawing/2014/main" id="{8CF10D4C-CE6C-4DA6-957A-55BE441C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目的地標籤從 Q 取出時才結束。</a:t>
            </a:r>
          </a:p>
        </p:txBody>
      </p:sp>
      <p:sp>
        <p:nvSpPr>
          <p:cNvPr id="4" name="01　輸入 b=(o,d,g,S)、C、R、M、O、Δ、T">
            <a:extLst xmlns:a="http://schemas.openxmlformats.org/drawingml/2006/main">
              <a:ext uri="{FF2B5EF4-FFF2-40B4-BE49-F238E27FC236}">
                <a16:creationId xmlns:a16="http://schemas.microsoft.com/office/drawing/2014/main" id="{811C46C1-A560-4D4B-A2E0-07F1D8D8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01　輸入 b=(o,d,g,S)、C、R、M、O、Δ、T</a:t>
            </a:r>
          </a:p>
        </p:txBody>
      </p:sp>
      <p:sp>
        <p:nvSpPr>
          <p:cNvPr id="5" name="02　若 O_o(g)+S &gt; M_o，回報格點上無解">
            <a:extLst xmlns:a="http://schemas.openxmlformats.org/drawingml/2006/main">
              <a:ext uri="{FF2B5EF4-FFF2-40B4-BE49-F238E27FC236}">
                <a16:creationId xmlns:a16="http://schemas.microsoft.com/office/drawing/2014/main" id="{B130316F-69A8-4352-9E0A-EC904AF2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02　若 O_o(g)+S &gt; M_o，回報格點上無解</a:t>
            </a:r>
          </a:p>
        </p:txBody>
      </p:sp>
      <p:sp>
        <p:nvSpPr>
          <p:cNvPr id="6" name="03　建立 L₀=(o,g,0)，加入 Q 與標籤紀錄">
            <a:extLst xmlns:a="http://schemas.openxmlformats.org/drawingml/2006/main">
              <a:ext uri="{FF2B5EF4-FFF2-40B4-BE49-F238E27FC236}">
                <a16:creationId xmlns:a16="http://schemas.microsoft.com/office/drawing/2014/main" id="{F894D35B-3096-4BF2-94E4-1E85AF59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03　建立 L₀=(o,g,0)，加入 Q 與標籤紀錄</a:t>
            </a:r>
          </a:p>
        </p:txBody>
      </p:sp>
      <p:sp>
        <p:nvSpPr>
          <p:cNvPr id="7" name="04　while Q 非空：">
            <a:extLst xmlns:a="http://schemas.openxmlformats.org/drawingml/2006/main">
              <a:ext uri="{FF2B5EF4-FFF2-40B4-BE49-F238E27FC236}">
                <a16:creationId xmlns:a16="http://schemas.microsoft.com/office/drawing/2014/main" id="{D4694E54-2E31-438F-8CE3-19BF07E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04　while Q 非空：</a:t>
            </a:r>
          </a:p>
        </p:txBody>
      </p:sp>
      <p:sp>
        <p:nvSpPr>
          <p:cNvPr id="8" name="05　　 L ← 取出 a 最小的標籤">
            <a:extLst xmlns:a="http://schemas.openxmlformats.org/drawingml/2006/main">
              <a:ext uri="{FF2B5EF4-FFF2-40B4-BE49-F238E27FC236}">
                <a16:creationId xmlns:a16="http://schemas.microsoft.com/office/drawing/2014/main" id="{4C4BB7BB-91A2-4389-9666-E39E9257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05　　 L ← 取出 a 最小的標籤</a:t>
            </a:r>
          </a:p>
        </p:txBody>
      </p:sp>
      <p:sp>
        <p:nvSpPr>
          <p:cNvPr id="9" name="06　　 若 L 已失效，跳過">
            <a:extLst xmlns:a="http://schemas.openxmlformats.org/drawingml/2006/main">
              <a:ext uri="{FF2B5EF4-FFF2-40B4-BE49-F238E27FC236}">
                <a16:creationId xmlns:a16="http://schemas.microsoft.com/office/drawing/2014/main" id="{2C515303-4B8A-4FBB-A9DD-CA507BA4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06　　 若 L 已失效，跳過</a:t>
            </a:r>
          </a:p>
        </p:txBody>
      </p:sp>
      <p:sp>
        <p:nvSpPr>
          <p:cNvPr id="10" name="07　　 若 L.v=d，回溯並回傳路徑">
            <a:extLst xmlns:a="http://schemas.openxmlformats.org/drawingml/2006/main">
              <a:ext uri="{FF2B5EF4-FFF2-40B4-BE49-F238E27FC236}">
                <a16:creationId xmlns:a16="http://schemas.microsoft.com/office/drawing/2014/main" id="{096D2FE8-7446-4B01-96FB-29FE2879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07　　 若 L.v=d，回溯並回傳路徑</a:t>
            </a:r>
          </a:p>
        </p:txBody>
      </p:sp>
      <p:sp>
        <p:nvSpPr>
          <p:cNvPr id="11" name="08　　 否則開始延伸 L 的各個 outgoing conta">
            <a:extLst xmlns:a="http://schemas.openxmlformats.org/drawingml/2006/main">
              <a:ext uri="{FF2B5EF4-FFF2-40B4-BE49-F238E27FC236}">
                <a16:creationId xmlns:a16="http://schemas.microsoft.com/office/drawing/2014/main" id="{B3A3323A-1D92-4DBB-8FCB-0C238ECB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08　　 否則開始延伸 L 的各個 outgoing contact</a:t>
            </a:r>
          </a:p>
        </p:txBody>
      </p:sp>
    </p:spTree>
    <p:extLst>
      <p:ext uri="{BB962C8B-B14F-4D97-AF65-F5344CB8AC3E}">
        <p14:creationId xmlns:p14="http://schemas.microsoft.com/office/powerpoint/2010/main" val="582864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虛擬碼 2：列舉與延伸">
            <a:extLst xmlns:a="http://schemas.openxmlformats.org/drawingml/2006/main">
              <a:ext uri="{FF2B5EF4-FFF2-40B4-BE49-F238E27FC236}">
                <a16:creationId xmlns:a16="http://schemas.microsoft.com/office/drawing/2014/main" id="{E24E7B69-A333-4987-9810-1C7CB98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虛擬碼 2：列舉與延伸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F5705F90-580E-4A67-B7C7-FBD6550C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  <p:sp>
        <p:nvSpPr>
          <p:cNvPr id="3" name="「列舉」發生在第 09 行選 contact，以及第 12 行選">
            <a:extLst xmlns:a="http://schemas.openxmlformats.org/drawingml/2006/main">
              <a:ext uri="{FF2B5EF4-FFF2-40B4-BE49-F238E27FC236}">
                <a16:creationId xmlns:a16="http://schemas.microsoft.com/office/drawing/2014/main" id="{E2C1CEBC-7FA2-42AD-9878-87CF1A62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「列舉」發生在第 09 行選 contact，以及第 12 行選時刻。</a:t>
            </a:r>
          </a:p>
        </p:txBody>
      </p:sp>
      <p:sp>
        <p:nvSpPr>
          <p:cNvPr id="4" name="09　對 L 的每個 outgoing contact c：">
            <a:extLst xmlns:a="http://schemas.openxmlformats.org/drawingml/2006/main">
              <a:ext uri="{FF2B5EF4-FFF2-40B4-BE49-F238E27FC236}">
                <a16:creationId xmlns:a16="http://schemas.microsoft.com/office/drawing/2014/main" id="{084B7FD0-A1C3-49AF-8598-C2DE03DD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09　對 L 的每個 outgoing contact c：</a:t>
            </a:r>
          </a:p>
        </p:txBody>
      </p:sp>
      <p:sp>
        <p:nvSpPr>
          <p:cNvPr id="5" name="10　　 若 U[c]+S &gt; R[c]，跳過 c">
            <a:extLst xmlns:a="http://schemas.openxmlformats.org/drawingml/2006/main">
              <a:ext uri="{FF2B5EF4-FFF2-40B4-BE49-F238E27FC236}">
                <a16:creationId xmlns:a16="http://schemas.microsoft.com/office/drawing/2014/main" id="{CD6D781E-CF8A-4959-9676-68C03D96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10　　 若 U[c]+S &gt; R[c]，跳過 c</a:t>
            </a:r>
          </a:p>
        </p:txBody>
      </p:sp>
      <p:sp>
        <p:nvSpPr>
          <p:cNvPr id="6" name="11　　 first=max(a,α_c)，last=ω_c−S">
            <a:extLst xmlns:a="http://schemas.openxmlformats.org/drawingml/2006/main">
              <a:ext uri="{FF2B5EF4-FFF2-40B4-BE49-F238E27FC236}">
                <a16:creationId xmlns:a16="http://schemas.microsoft.com/office/drawing/2014/main" id="{C30A6ABB-29C2-463F-A14F-BAE542FC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11　　 first=max(a,α_c)，last=ω_c−S/r_c</a:t>
            </a:r>
          </a:p>
        </p:txBody>
      </p:sp>
      <p:sp>
        <p:nvSpPr>
          <p:cNvPr id="7" name="12　　 對 s=first, first+Δ, …, last">
            <a:extLst xmlns:a="http://schemas.openxmlformats.org/drawingml/2006/main">
              <a:ext uri="{FF2B5EF4-FFF2-40B4-BE49-F238E27FC236}">
                <a16:creationId xmlns:a16="http://schemas.microsoft.com/office/drawing/2014/main" id="{1647F026-61C7-4257-AD28-9955B4C4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12　　 對 s=first, first+Δ, …, last：</a:t>
            </a:r>
          </a:p>
        </p:txBody>
      </p:sp>
      <p:sp>
        <p:nvSpPr>
          <p:cNvPr id="8" name="13　　　　 計算 f=s+S/r_c、h=s+δ_c、a′=f">
            <a:extLst xmlns:a="http://schemas.openxmlformats.org/drawingml/2006/main">
              <a:ext uri="{FF2B5EF4-FFF2-40B4-BE49-F238E27FC236}">
                <a16:creationId xmlns:a16="http://schemas.microsoft.com/office/drawing/2014/main" id="{9CB3338F-5FD6-4ABA-88C1-4B0EACEE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13　　　　 計算 f=s+S/r_c、h=s+δ_c、a′=f+δ_c</a:t>
            </a:r>
          </a:p>
        </p:txBody>
      </p:sp>
      <p:sp>
        <p:nvSpPr>
          <p:cNvPr id="9" name="14　　　　 若 a′&gt;T，跳過此 s">
            <a:extLst xmlns:a="http://schemas.openxmlformats.org/drawingml/2006/main">
              <a:ext uri="{FF2B5EF4-FFF2-40B4-BE49-F238E27FC236}">
                <a16:creationId xmlns:a16="http://schemas.microsoft.com/office/drawing/2014/main" id="{3540F8C8-6155-4F7D-BBF8-DDAD1E72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14　　　　 若 a′&gt;T，跳過此 s</a:t>
            </a:r>
          </a:p>
        </p:txBody>
      </p:sp>
      <p:sp>
        <p:nvSpPr>
          <p:cNvPr id="10" name="15　　　　 檢查發送端與接收端的整段 buffer 占用">
            <a:extLst xmlns:a="http://schemas.openxmlformats.org/drawingml/2006/main">
              <a:ext uri="{FF2B5EF4-FFF2-40B4-BE49-F238E27FC236}">
                <a16:creationId xmlns:a16="http://schemas.microsoft.com/office/drawing/2014/main" id="{4D16410B-0316-45CE-ABF7-B4EC7F40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15　　　　 檢查發送端與接收端的整段 buffer 占用</a:t>
            </a:r>
          </a:p>
        </p:txBody>
      </p:sp>
      <p:sp>
        <p:nvSpPr>
          <p:cNvPr id="11" name="16　　　　 全部通過才建立 N=(v_c,a′,U+S·e_c">
            <a:extLst xmlns:a="http://schemas.openxmlformats.org/drawingml/2006/main">
              <a:ext uri="{FF2B5EF4-FFF2-40B4-BE49-F238E27FC236}">
                <a16:creationId xmlns:a16="http://schemas.microsoft.com/office/drawing/2014/main" id="{4B58C532-51AA-4C96-AC7B-92C7A01B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16　　　　 全部通過才建立 N=(v_c,a′,U+S·e_c)</a:t>
            </a:r>
          </a:p>
        </p:txBody>
      </p:sp>
    </p:spTree>
    <p:extLst>
      <p:ext uri="{BB962C8B-B14F-4D97-AF65-F5344CB8AC3E}">
        <p14:creationId xmlns:p14="http://schemas.microsoft.com/office/powerpoint/2010/main" val="108663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虛擬碼 3：支配與入列">
            <a:extLst xmlns:a="http://schemas.openxmlformats.org/drawingml/2006/main">
              <a:ext uri="{FF2B5EF4-FFF2-40B4-BE49-F238E27FC236}">
                <a16:creationId xmlns:a16="http://schemas.microsoft.com/office/drawing/2014/main" id="{03B84334-E3E0-489D-92E4-7C3DD267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虛擬碼 3：支配與入列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A90206EF-CE80-4035-B5DC-33657AB6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3" name="先判斷舊標籤是否支配 N，再處理 N 能取代的標籤。">
            <a:extLst xmlns:a="http://schemas.openxmlformats.org/drawingml/2006/main">
              <a:ext uri="{FF2B5EF4-FFF2-40B4-BE49-F238E27FC236}">
                <a16:creationId xmlns:a16="http://schemas.microsoft.com/office/drawing/2014/main" id="{2C6ECC1D-88F8-48CE-AA11-DD21C9E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先判斷舊標籤是否支配 N，再處理 N 能取代的標籤。</a:t>
            </a:r>
          </a:p>
        </p:txBody>
      </p:sp>
      <p:sp>
        <p:nvSpPr>
          <p:cNvPr id="4" name="17　保存 N 的 pred、contact 與 s">
            <a:extLst xmlns:a="http://schemas.openxmlformats.org/drawingml/2006/main">
              <a:ext uri="{FF2B5EF4-FFF2-40B4-BE49-F238E27FC236}">
                <a16:creationId xmlns:a16="http://schemas.microsoft.com/office/drawing/2014/main" id="{FC6B522B-AD57-4A37-9508-79CF705F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17　保存 N 的 pred、contact 與 s</a:t>
            </a:r>
          </a:p>
        </p:txBody>
      </p:sp>
      <p:sp>
        <p:nvSpPr>
          <p:cNvPr id="5" name="18　找出同節點的既有有效標籤 K">
            <a:extLst xmlns:a="http://schemas.openxmlformats.org/drawingml/2006/main">
              <a:ext uri="{FF2B5EF4-FFF2-40B4-BE49-F238E27FC236}">
                <a16:creationId xmlns:a16="http://schemas.microsoft.com/office/drawing/2014/main" id="{799E496E-666E-49D0-9D66-B09CA55A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18　找出同節點的既有有效標籤 K</a:t>
            </a:r>
          </a:p>
        </p:txBody>
      </p:sp>
      <p:sp>
        <p:nvSpPr>
          <p:cNvPr id="6" name="19　若任一 K 支配 N，捨棄 N">
            <a:extLst xmlns:a="http://schemas.openxmlformats.org/drawingml/2006/main">
              <a:ext uri="{FF2B5EF4-FFF2-40B4-BE49-F238E27FC236}">
                <a16:creationId xmlns:a16="http://schemas.microsoft.com/office/drawing/2014/main" id="{5EDC534F-995F-4C64-95BD-E18DEFC1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19　若任一 K 支配 N，捨棄 N</a:t>
            </a:r>
          </a:p>
        </p:txBody>
      </p:sp>
      <p:sp>
        <p:nvSpPr>
          <p:cNvPr id="7" name="20　否則：">
            <a:extLst xmlns:a="http://schemas.openxmlformats.org/drawingml/2006/main">
              <a:ext uri="{FF2B5EF4-FFF2-40B4-BE49-F238E27FC236}">
                <a16:creationId xmlns:a16="http://schemas.microsoft.com/office/drawing/2014/main" id="{BAE7990B-66E1-4CD0-BA6F-19275134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20　否則：</a:t>
            </a:r>
          </a:p>
        </p:txBody>
      </p:sp>
      <p:sp>
        <p:nvSpPr>
          <p:cNvPr id="8" name="21　　 將被 N 支配的 K 標記失效">
            <a:extLst xmlns:a="http://schemas.openxmlformats.org/drawingml/2006/main">
              <a:ext uri="{FF2B5EF4-FFF2-40B4-BE49-F238E27FC236}">
                <a16:creationId xmlns:a16="http://schemas.microsoft.com/office/drawing/2014/main" id="{57D6B8CB-A516-41D7-8BA3-414E016E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21　　 將被 N 支配的 K 標記失效</a:t>
            </a:r>
          </a:p>
        </p:txBody>
      </p:sp>
      <p:sp>
        <p:nvSpPr>
          <p:cNvPr id="9" name="22　　 保留前驅紀錄，將 N 加入 Q">
            <a:extLst xmlns:a="http://schemas.openxmlformats.org/drawingml/2006/main">
              <a:ext uri="{FF2B5EF4-FFF2-40B4-BE49-F238E27FC236}">
                <a16:creationId xmlns:a16="http://schemas.microsoft.com/office/drawing/2014/main" id="{76E2E7F5-B323-43C0-BFB8-1E70427D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22　　 保留前驅紀錄，將 N 加入 Q</a:t>
            </a:r>
          </a:p>
        </p:txBody>
      </p:sp>
      <p:sp>
        <p:nvSpPr>
          <p:cNvPr id="10" name="23　回到迴圈，取出下一個最早標籤">
            <a:extLst xmlns:a="http://schemas.openxmlformats.org/drawingml/2006/main">
              <a:ext uri="{FF2B5EF4-FFF2-40B4-BE49-F238E27FC236}">
                <a16:creationId xmlns:a16="http://schemas.microsoft.com/office/drawing/2014/main" id="{E0C6C861-A9A3-48A3-A93C-EC0F0071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23　回到迴圈，取出下一個最早標籤</a:t>
            </a:r>
          </a:p>
        </p:txBody>
      </p:sp>
      <p:sp>
        <p:nvSpPr>
          <p:cNvPr id="11" name="24　若 Q 耗盡，回報格點上無解">
            <a:extLst xmlns:a="http://schemas.openxmlformats.org/drawingml/2006/main">
              <a:ext uri="{FF2B5EF4-FFF2-40B4-BE49-F238E27FC236}">
                <a16:creationId xmlns:a16="http://schemas.microsoft.com/office/drawing/2014/main" id="{DD91E63C-7570-4B81-8B03-363F0D75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24　若 Q 耗盡，回報格點上無解</a:t>
            </a:r>
          </a:p>
        </p:txBody>
      </p:sp>
    </p:spTree>
    <p:extLst>
      <p:ext uri="{BB962C8B-B14F-4D97-AF65-F5344CB8AC3E}">
        <p14:creationId xmlns:p14="http://schemas.microsoft.com/office/powerpoint/2010/main" val="4164050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虛擬碼 4：接受路徑後更新">
            <a:extLst xmlns:a="http://schemas.openxmlformats.org/drawingml/2006/main">
              <a:ext uri="{FF2B5EF4-FFF2-40B4-BE49-F238E27FC236}">
                <a16:creationId xmlns:a16="http://schemas.microsoft.com/office/drawing/2014/main" id="{FB87C753-5BDB-475E-B7D6-7987D353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虛擬碼 4：接受路徑後更新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7512EBA2-2A5A-446D-BF1F-2785F0AF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  <p:sp>
        <p:nvSpPr>
          <p:cNvPr id="3" name="搜尋中的候選方案不扣資源，接受完整路徑後才更新。">
            <a:extLst xmlns:a="http://schemas.openxmlformats.org/drawingml/2006/main">
              <a:ext uri="{FF2B5EF4-FFF2-40B4-BE49-F238E27FC236}">
                <a16:creationId xmlns:a16="http://schemas.microsoft.com/office/drawing/2014/main" id="{4423A238-1787-488A-BCC1-F1EC12DD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搜尋中的候選方案不扣資源，接受完整路徑後才更新。</a:t>
            </a:r>
          </a:p>
        </p:txBody>
      </p:sp>
      <p:sp>
        <p:nvSpPr>
          <p:cNvPr id="4" name="25　依 pred 回溯完整 contact 與發送時刻">
            <a:extLst xmlns:a="http://schemas.openxmlformats.org/drawingml/2006/main">
              <a:ext uri="{FF2B5EF4-FFF2-40B4-BE49-F238E27FC236}">
                <a16:creationId xmlns:a16="http://schemas.microsoft.com/office/drawing/2014/main" id="{0CA0E7BB-E48D-422C-9943-A5F4C520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25　依 pred 回溯完整 contact 與發送時刻</a:t>
            </a:r>
          </a:p>
        </p:txBody>
      </p:sp>
      <p:sp>
        <p:nvSpPr>
          <p:cNvPr id="5" name="26　獨立檢查整條路徑的時間、容量與 buffer">
            <a:extLst xmlns:a="http://schemas.openxmlformats.org/drawingml/2006/main">
              <a:ext uri="{FF2B5EF4-FFF2-40B4-BE49-F238E27FC236}">
                <a16:creationId xmlns:a16="http://schemas.microsoft.com/office/drawing/2014/main" id="{63962D35-E77C-48B8-8F40-B7C0497B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26　獨立檢查整條路徑的時間、容量與 buffer</a:t>
            </a:r>
          </a:p>
        </p:txBody>
      </p:sp>
      <p:sp>
        <p:nvSpPr>
          <p:cNvPr id="6" name="27　若檢查失敗，保存案例並停止">
            <a:extLst xmlns:a="http://schemas.openxmlformats.org/drawingml/2006/main">
              <a:ext uri="{FF2B5EF4-FFF2-40B4-BE49-F238E27FC236}">
                <a16:creationId xmlns:a16="http://schemas.microsoft.com/office/drawing/2014/main" id="{91F7101A-D7D5-4DCF-A484-C8B3D7D4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27　若檢查失敗，保存案例並停止</a:t>
            </a:r>
          </a:p>
        </p:txBody>
      </p:sp>
      <p:sp>
        <p:nvSpPr>
          <p:cNvPr id="7" name="28　計算整條路徑的 U* 與節點占用曲線 B*">
            <a:extLst xmlns:a="http://schemas.openxmlformats.org/drawingml/2006/main">
              <a:ext uri="{FF2B5EF4-FFF2-40B4-BE49-F238E27FC236}">
                <a16:creationId xmlns:a16="http://schemas.microsoft.com/office/drawing/2014/main" id="{2B70432D-8EAB-4105-9772-3421C8ED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28　計算整條路徑的 U* 與節點占用曲線 B*</a:t>
            </a:r>
          </a:p>
        </p:txBody>
      </p:sp>
      <p:sp>
        <p:nvSpPr>
          <p:cNvPr id="8" name="29　R_c ← R_c − U*[c]">
            <a:extLst xmlns:a="http://schemas.openxmlformats.org/drawingml/2006/main">
              <a:ext uri="{FF2B5EF4-FFF2-40B4-BE49-F238E27FC236}">
                <a16:creationId xmlns:a16="http://schemas.microsoft.com/office/drawing/2014/main" id="{26CB7A9A-31C9-4276-BFFD-6240237C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29　R_c ← R_c − U*[c]</a:t>
            </a:r>
          </a:p>
        </p:txBody>
      </p:sp>
      <p:sp>
        <p:nvSpPr>
          <p:cNvPr id="9" name="30　O_v(t) ← O_v(t) + B*_v(t)">
            <a:extLst xmlns:a="http://schemas.openxmlformats.org/drawingml/2006/main">
              <a:ext uri="{FF2B5EF4-FFF2-40B4-BE49-F238E27FC236}">
                <a16:creationId xmlns:a16="http://schemas.microsoft.com/office/drawing/2014/main" id="{A3B2AA46-6363-49E6-89CB-F69B5D81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30　O_v(t) ← O_v(t) + B*_v(t)</a:t>
            </a:r>
          </a:p>
        </p:txBody>
      </p:sp>
      <p:sp>
        <p:nvSpPr>
          <p:cNvPr id="10" name="31　記錄已選定的發送區間">
            <a:extLst xmlns:a="http://schemas.openxmlformats.org/drawingml/2006/main">
              <a:ext uri="{FF2B5EF4-FFF2-40B4-BE49-F238E27FC236}">
                <a16:creationId xmlns:a16="http://schemas.microsoft.com/office/drawing/2014/main" id="{D5FBE6E2-2EF4-418A-9FCC-AD314B0E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31　記錄已選定的發送區間</a:t>
            </a:r>
          </a:p>
        </p:txBody>
      </p:sp>
      <p:sp>
        <p:nvSpPr>
          <p:cNvPr id="11" name="32　下一包使用更新後的 R 與 O 重新搜尋">
            <a:extLst xmlns:a="http://schemas.openxmlformats.org/drawingml/2006/main">
              <a:ext uri="{FF2B5EF4-FFF2-40B4-BE49-F238E27FC236}">
                <a16:creationId xmlns:a16="http://schemas.microsoft.com/office/drawing/2014/main" id="{2F3E7736-D38A-4845-AD09-03A03959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32　下一包使用更新後的 R 與 O 重新搜尋</a:t>
            </a:r>
          </a:p>
        </p:txBody>
      </p:sp>
    </p:spTree>
    <p:extLst>
      <p:ext uri="{BB962C8B-B14F-4D97-AF65-F5344CB8AC3E}">
        <p14:creationId xmlns:p14="http://schemas.microsoft.com/office/powerpoint/2010/main" val="15106955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範例設定：固定拓樸與處理順序">
            <a:extLst xmlns:a="http://schemas.openxmlformats.org/drawingml/2006/main">
              <a:ext uri="{FF2B5EF4-FFF2-40B4-BE49-F238E27FC236}">
                <a16:creationId xmlns:a16="http://schemas.microsoft.com/office/drawing/2014/main" id="{31829C14-778C-4BD5-B942-6DDF025D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範例設定：固定拓樸與處理順序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8BC8A0CD-A5B3-4862-9CA4-431D2121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  <p:sp>
        <p:nvSpPr>
          <p:cNvPr id="3" name="Δ=1 秒，T=12 秒；所有速率均為 4 MB/s。">
            <a:extLst xmlns:a="http://schemas.openxmlformats.org/drawingml/2006/main">
              <a:ext uri="{FF2B5EF4-FFF2-40B4-BE49-F238E27FC236}">
                <a16:creationId xmlns:a16="http://schemas.microsoft.com/office/drawing/2014/main" id="{376839B2-B0F4-416E-BFD2-DF13A837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Δ=1 秒，T=12 秒；所有速率均為 4 MB/s。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DA919-B286-4101-9243-16AEEE2C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936900" cy="288475"/>
          </a:xfrm>
          <a:custGeom xmlns:a="http://schemas.openxmlformats.org/drawingml/2006/main">
            <a:pathLst>
              <a:path w="1936900" h="288475">
                <a:moveTo>
                  <a:pt x="0" y="0"/>
                </a:moveTo>
                <a:lnTo>
                  <a:pt x="1119188" y="166688"/>
                </a:lnTo>
                <a:lnTo>
                  <a:pt x="1936900" y="288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5E6F6-2F72-49A1-88A5-D13A9B59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996" y="2326494"/>
            <a:ext cx="89405" cy="90334"/>
          </a:xfrm>
          <a:custGeom xmlns:a="http://schemas.openxmlformats.org/drawingml/2006/main">
            <a:pathLst>
              <a:path w="89405" h="90334">
                <a:moveTo>
                  <a:pt x="0" y="90334"/>
                </a:moveTo>
                <a:lnTo>
                  <a:pt x="89405" y="57481"/>
                </a:lnTo>
                <a:lnTo>
                  <a:pt x="13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FA96091-81AC-4F7F-85C9-FF85279D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1985963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C728A-92C3-4591-87E0-66479E38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003833" cy="614964"/>
          </a:xfrm>
          <a:custGeom xmlns:a="http://schemas.openxmlformats.org/drawingml/2006/main">
            <a:pathLst>
              <a:path w="2003833" h="614964">
                <a:moveTo>
                  <a:pt x="0" y="0"/>
                </a:moveTo>
                <a:lnTo>
                  <a:pt x="1264978" y="1744"/>
                </a:lnTo>
                <a:lnTo>
                  <a:pt x="2003833" y="61496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EF9F6-E3CE-433D-BCB2-5D464E0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21" y="2955315"/>
            <a:ext cx="93486" cy="88524"/>
          </a:xfrm>
          <a:custGeom xmlns:a="http://schemas.openxmlformats.org/drawingml/2006/main">
            <a:pathLst>
              <a:path w="93486" h="88524">
                <a:moveTo>
                  <a:pt x="0" y="70279"/>
                </a:moveTo>
                <a:lnTo>
                  <a:pt x="93486" y="88524"/>
                </a:lnTo>
                <a:lnTo>
                  <a:pt x="58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4F761B9-5381-4933-82DD-76D35AD8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78" y="215439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3774B-D101-4BC5-BE88-E59502F6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9972"/>
            <a:ext cx="1954543" cy="1365278"/>
          </a:xfrm>
          <a:custGeom xmlns:a="http://schemas.openxmlformats.org/drawingml/2006/main">
            <a:pathLst>
              <a:path w="1954543" h="1365278">
                <a:moveTo>
                  <a:pt x="0" y="1365278"/>
                </a:moveTo>
                <a:lnTo>
                  <a:pt x="961855" y="388555"/>
                </a:lnTo>
                <a:lnTo>
                  <a:pt x="195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4FDE5-0F0F-4192-96FF-DEECA328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527915"/>
            <a:ext cx="94484" cy="85048"/>
          </a:xfrm>
          <a:custGeom xmlns:a="http://schemas.openxmlformats.org/drawingml/2006/main">
            <a:pathLst>
              <a:path w="94484" h="85048">
                <a:moveTo>
                  <a:pt x="33289" y="85048"/>
                </a:moveTo>
                <a:lnTo>
                  <a:pt x="94484" y="120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8F6352F2-AD55-4025-868A-5DF9BB29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380" y="265230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90D9E-688D-4A67-AD92-D387DF5D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6048"/>
            <a:ext cx="2024508" cy="1259202"/>
          </a:xfrm>
          <a:custGeom xmlns:a="http://schemas.openxmlformats.org/drawingml/2006/main">
            <a:pathLst>
              <a:path w="2024508" h="1259202">
                <a:moveTo>
                  <a:pt x="0" y="1259202"/>
                </a:moveTo>
                <a:lnTo>
                  <a:pt x="1276520" y="759551"/>
                </a:lnTo>
                <a:lnTo>
                  <a:pt x="2024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0F46A-C1A8-4581-A982-2BDD1934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19" y="2646048"/>
            <a:ext cx="91189" cy="91600"/>
          </a:xfrm>
          <a:custGeom xmlns:a="http://schemas.openxmlformats.org/drawingml/2006/main">
            <a:pathLst>
              <a:path w="91189" h="91600">
                <a:moveTo>
                  <a:pt x="65074" y="91600"/>
                </a:moveTo>
                <a:lnTo>
                  <a:pt x="91189" y="0"/>
                </a:lnTo>
                <a:lnTo>
                  <a:pt x="0" y="275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ADB94441-F406-47A1-B2F1-ABC705B0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45" y="312937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3F2EC-6D3F-469D-AEF5-0A5FCE86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33575" cy="809205"/>
          </a:xfrm>
          <a:custGeom xmlns:a="http://schemas.openxmlformats.org/drawingml/2006/main">
            <a:pathLst>
              <a:path w="1933575" h="809205">
                <a:moveTo>
                  <a:pt x="0" y="0"/>
                </a:moveTo>
                <a:lnTo>
                  <a:pt x="973397" y="807881"/>
                </a:lnTo>
                <a:lnTo>
                  <a:pt x="1933575" y="8092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6E719-7FF0-4E53-96BC-D7879AF4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798" y="3192299"/>
            <a:ext cx="83653" cy="91330"/>
          </a:xfrm>
          <a:custGeom xmlns:a="http://schemas.openxmlformats.org/drawingml/2006/main">
            <a:pathLst>
              <a:path w="83653" h="91330">
                <a:moveTo>
                  <a:pt x="0" y="91330"/>
                </a:moveTo>
                <a:lnTo>
                  <a:pt x="83653" y="45780"/>
                </a:lnTo>
                <a:lnTo>
                  <a:pt x="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7B1704E-5165-49E7-B865-25BF25AB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97" y="296053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ED660-17A1-4290-9830-DE5D75B0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40248" cy="412819"/>
          </a:xfrm>
          <a:custGeom xmlns:a="http://schemas.openxmlformats.org/drawingml/2006/main">
            <a:pathLst>
              <a:path w="1940248" h="412819">
                <a:moveTo>
                  <a:pt x="0" y="0"/>
                </a:moveTo>
                <a:lnTo>
                  <a:pt x="1119188" y="238125"/>
                </a:lnTo>
                <a:lnTo>
                  <a:pt x="1940248" y="4128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03659-43C0-413F-BD4D-12B1D52E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85" y="4256008"/>
            <a:ext cx="91263" cy="89331"/>
          </a:xfrm>
          <a:custGeom xmlns:a="http://schemas.openxmlformats.org/drawingml/2006/main">
            <a:pathLst>
              <a:path w="91263" h="89331">
                <a:moveTo>
                  <a:pt x="0" y="89331"/>
                </a:moveTo>
                <a:lnTo>
                  <a:pt x="91263" y="62061"/>
                </a:lnTo>
                <a:lnTo>
                  <a:pt x="19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F3F54DBB-A758-4679-B4A3-0FDA73FF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867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C1F3E-9E06-41F4-BB41-9E4F580C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7740"/>
            <a:ext cx="1944055" cy="1063760"/>
          </a:xfrm>
          <a:custGeom xmlns:a="http://schemas.openxmlformats.org/drawingml/2006/main">
            <a:pathLst>
              <a:path w="1944055" h="1063760">
                <a:moveTo>
                  <a:pt x="0" y="1063760"/>
                </a:moveTo>
                <a:lnTo>
                  <a:pt x="997898" y="254735"/>
                </a:lnTo>
                <a:lnTo>
                  <a:pt x="1944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A185C-DDD8-4FD4-855B-41D7E0D6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43" y="3295376"/>
            <a:ext cx="92587" cy="88190"/>
          </a:xfrm>
          <a:custGeom xmlns:a="http://schemas.openxmlformats.org/drawingml/2006/main">
            <a:pathLst>
              <a:path w="92587" h="88190">
                <a:moveTo>
                  <a:pt x="23744" y="88190"/>
                </a:moveTo>
                <a:lnTo>
                  <a:pt x="92587" y="223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822050CE-AA06-4520-A3EC-253296C7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98" y="329625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804A4A-01A2-47F4-91D8-26E2F565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0452"/>
            <a:ext cx="2001610" cy="951048"/>
          </a:xfrm>
          <a:custGeom xmlns:a="http://schemas.openxmlformats.org/drawingml/2006/main">
            <a:pathLst>
              <a:path w="2001610" h="951048">
                <a:moveTo>
                  <a:pt x="0" y="951048"/>
                </a:moveTo>
                <a:lnTo>
                  <a:pt x="1240477" y="617073"/>
                </a:lnTo>
                <a:lnTo>
                  <a:pt x="200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A7233-7557-44C4-9F46-117C1E35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796" y="3430452"/>
            <a:ext cx="93690" cy="88114"/>
          </a:xfrm>
          <a:custGeom xmlns:a="http://schemas.openxmlformats.org/drawingml/2006/main">
            <a:pathLst>
              <a:path w="93690" h="88114">
                <a:moveTo>
                  <a:pt x="57517" y="88114"/>
                </a:moveTo>
                <a:lnTo>
                  <a:pt x="93690" y="0"/>
                </a:lnTo>
                <a:lnTo>
                  <a:pt x="0" y="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EB124B88-D61A-4DDE-9387-89E0F8D2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377" y="3771299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A5675-429A-46DB-952D-BC915175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216C9434-7481-4BFB-B353-F40E2D00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6EC5BA-D272-485B-91B0-4318C40D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A766F6A9-A1E9-4CCB-8276-BE570F2D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BEA884-17CA-479D-8C17-5D25F096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43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4065FD74-3A62-4474-9888-C7DB33B6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C52230-B507-48D7-B81F-9879DC4B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5FB9AF61-26DA-45EF-BB05-DE6633D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62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63885C-B0FA-48DB-885D-6DD8426C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EEFA6951-D294-418E-AE8A-8348822A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箭頭：可用的通訊方向">
            <a:extLst xmlns:a="http://schemas.openxmlformats.org/drawingml/2006/main">
              <a:ext uri="{FF2B5EF4-FFF2-40B4-BE49-F238E27FC236}">
                <a16:creationId xmlns:a16="http://schemas.microsoft.com/office/drawing/2014/main" id="{E5296E9F-1556-4FA3-9FC2-4C45EA80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箭頭：可用的通訊方向</a:t>
            </a:r>
          </a:p>
        </p:txBody>
      </p:sp>
      <p:sp>
        <p:nvSpPr>
          <p:cNvPr id="39" name="• 每包 4 MB，各節點上限 4 MB">
            <a:extLst xmlns:a="http://schemas.openxmlformats.org/drawingml/2006/main">
              <a:ext uri="{FF2B5EF4-FFF2-40B4-BE49-F238E27FC236}">
                <a16:creationId xmlns:a16="http://schemas.microsoft.com/office/drawing/2014/main" id="{D52487A2-4135-4017-A45C-6D8ECE8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每包 4 MB，各節點上限 4 MB</a:t>
            </a:r>
          </a:p>
        </p:txBody>
      </p:sp>
      <p:sp>
        <p:nvSpPr>
          <p:cNvPr id="40" name="• 第一包 X→D，g=0 秒">
            <a:extLst xmlns:a="http://schemas.openxmlformats.org/drawingml/2006/main">
              <a:ext uri="{FF2B5EF4-FFF2-40B4-BE49-F238E27FC236}">
                <a16:creationId xmlns:a16="http://schemas.microsoft.com/office/drawing/2014/main" id="{EAFA847D-FF32-4715-A66B-B572DF40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第一包 X→D，g=0 秒</a:t>
            </a:r>
          </a:p>
        </p:txBody>
      </p:sp>
      <p:sp>
        <p:nvSpPr>
          <p:cNvPr id="41" name="• 第二包 A→D，g=1 秒">
            <a:extLst xmlns:a="http://schemas.openxmlformats.org/drawingml/2006/main">
              <a:ext uri="{FF2B5EF4-FFF2-40B4-BE49-F238E27FC236}">
                <a16:creationId xmlns:a16="http://schemas.microsoft.com/office/drawing/2014/main" id="{191DE604-4D1C-4F52-80AE-74FAB50D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第二包 A→D，g=1 秒</a:t>
            </a:r>
          </a:p>
        </p:txBody>
      </p:sp>
    </p:spTree>
    <p:extLst>
      <p:ext uri="{BB962C8B-B14F-4D97-AF65-F5344CB8AC3E}">
        <p14:creationId xmlns:p14="http://schemas.microsoft.com/office/powerpoint/2010/main" val="81956195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範例輸入：八個通訊機會">
            <a:extLst xmlns:a="http://schemas.openxmlformats.org/drawingml/2006/main">
              <a:ext uri="{FF2B5EF4-FFF2-40B4-BE49-F238E27FC236}">
                <a16:creationId xmlns:a16="http://schemas.microsoft.com/office/drawing/2014/main" id="{31BC405A-0CFD-4900-9F50-A24C8A43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範例輸入：八個通訊機會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7424EDF1-86DA-46A9-A03C-F8B107BB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  <p:sp>
        <p:nvSpPr>
          <p:cNvPr id="3" name="c2 與 c5 的 δ=1 秒，因此發送完成不等於到達。">
            <a:extLst xmlns:a="http://schemas.openxmlformats.org/drawingml/2006/main">
              <a:ext uri="{FF2B5EF4-FFF2-40B4-BE49-F238E27FC236}">
                <a16:creationId xmlns:a16="http://schemas.microsoft.com/office/drawing/2014/main" id="{DD96567B-D01C-4D1E-A084-3A012F1B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與 c5 的 δ=1 秒，因此發送完成不等於到達。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1600200"/>
          <a:ext xmlns:a="http://schemas.openxmlformats.org/drawingml/2006/main" cx="105156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000250"/>
                <a:gridCol w="3238500"/>
                <a:gridCol w="2019300"/>
                <a:gridCol w="2019300"/>
              </a:tblGrid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α～ω（秒）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δ（秒）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R（MB）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X→B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2～3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6～7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A→B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1～2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A→B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7～9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10～11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A→C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1～2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4～5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2～3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71728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第一包 1：初始化並取出 L₀">
            <a:extLst xmlns:a="http://schemas.openxmlformats.org/drawingml/2006/main">
              <a:ext uri="{FF2B5EF4-FFF2-40B4-BE49-F238E27FC236}">
                <a16:creationId xmlns:a16="http://schemas.microsoft.com/office/drawing/2014/main" id="{38584AF8-DB0A-4315-8196-E415AEB8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1：初始化並取出 L₀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3FE6A494-AF8F-46F3-A4F7-CC63F07D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18</a:t>
            </a:r>
          </a:p>
        </p:txBody>
      </p:sp>
      <p:sp>
        <p:nvSpPr>
          <p:cNvPr id="3" name="X 的 outgoing contact 只有 c1，下一步嘗試">
            <a:extLst xmlns:a="http://schemas.openxmlformats.org/drawingml/2006/main">
              <a:ext uri="{FF2B5EF4-FFF2-40B4-BE49-F238E27FC236}">
                <a16:creationId xmlns:a16="http://schemas.microsoft.com/office/drawing/2014/main" id="{236C3C31-E777-40B7-B981-9793412D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 的 outgoing contact 只有 c1，下一步嘗試 c1。</a:t>
            </a:r>
          </a:p>
        </p:txBody>
      </p:sp>
      <p:sp>
        <p:nvSpPr>
          <p:cNvPr id="4" name="• 來源檢查：O_X(0)+4=4≤M_X">
            <a:extLst xmlns:a="http://schemas.openxmlformats.org/drawingml/2006/main">
              <a:ext uri="{FF2B5EF4-FFF2-40B4-BE49-F238E27FC236}">
                <a16:creationId xmlns:a16="http://schemas.microsoft.com/office/drawing/2014/main" id="{434EF16B-140D-4AEA-8841-1C4FED8C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來源檢查：O_X(0)+4=4≤M_X</a:t>
            </a:r>
          </a:p>
        </p:txBody>
      </p:sp>
      <p:sp>
        <p:nvSpPr>
          <p:cNvPr id="5" name="• L₀=(X,0,{})，所有 contact 已用量為 0">
            <a:extLst xmlns:a="http://schemas.openxmlformats.org/drawingml/2006/main">
              <a:ext uri="{FF2B5EF4-FFF2-40B4-BE49-F238E27FC236}">
                <a16:creationId xmlns:a16="http://schemas.microsoft.com/office/drawing/2014/main" id="{9F9717B5-4E83-42FE-B778-B87CF2DF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L₀=(X,0,{})，所有 contact 已用量為 0</a:t>
            </a:r>
          </a:p>
        </p:txBody>
      </p:sp>
      <p:sp>
        <p:nvSpPr>
          <p:cNvPr id="6" name="• Q=[L₀]；取出 L₀ 後 Q=[]">
            <a:extLst xmlns:a="http://schemas.openxmlformats.org/drawingml/2006/main">
              <a:ext uri="{FF2B5EF4-FFF2-40B4-BE49-F238E27FC236}">
                <a16:creationId xmlns:a16="http://schemas.microsoft.com/office/drawing/2014/main" id="{E5514685-FA0C-46C2-A271-4BDDBF7B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Q=[L₀]；取出 L₀ 後 Q=[]</a:t>
            </a:r>
          </a:p>
        </p:txBody>
      </p:sp>
    </p:spTree>
    <p:extLst>
      <p:ext uri="{BB962C8B-B14F-4D97-AF65-F5344CB8AC3E}">
        <p14:creationId xmlns:p14="http://schemas.microsoft.com/office/powerpoint/2010/main" val="165738305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一包 2：c1 建立 B 的標籤">
            <a:extLst xmlns:a="http://schemas.openxmlformats.org/drawingml/2006/main">
              <a:ext uri="{FF2B5EF4-FFF2-40B4-BE49-F238E27FC236}">
                <a16:creationId xmlns:a16="http://schemas.microsoft.com/office/drawing/2014/main" id="{BEB6C78D-104C-411C-BC1D-E00F2770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2：c1 建立 B 的標籤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908742A4-46D8-47AD-B0F3-ACF12994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19</a:t>
            </a:r>
          </a:p>
        </p:txBody>
      </p:sp>
      <p:sp>
        <p:nvSpPr>
          <p:cNvPr id="3" name="沒有同節點標籤可支配 L₁，因此加入 Q。">
            <a:extLst xmlns:a="http://schemas.openxmlformats.org/drawingml/2006/main">
              <a:ext uri="{FF2B5EF4-FFF2-40B4-BE49-F238E27FC236}">
                <a16:creationId xmlns:a16="http://schemas.microsoft.com/office/drawing/2014/main" id="{6C59ECF5-97BC-4C9B-966C-BB869A46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沒有同節點標籤可支配 L₁，因此加入 Q。</a:t>
            </a:r>
          </a:p>
        </p:txBody>
      </p:sp>
      <p:sp>
        <p:nvSpPr>
          <p:cNvPr id="4" name="目前 L₀=(X,0,{})；c1 只能選 s=2">
            <a:extLst xmlns:a="http://schemas.openxmlformats.org/drawingml/2006/main">
              <a:ext uri="{FF2B5EF4-FFF2-40B4-BE49-F238E27FC236}">
                <a16:creationId xmlns:a16="http://schemas.microsoft.com/office/drawing/2014/main" id="{807834C1-CB51-424A-8B9E-52A44343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 L₀=(X,0,{})；c1 只能選 s=2</a:t>
            </a:r>
          </a:p>
        </p:txBody>
      </p:sp>
      <p:sp>
        <p:nvSpPr>
          <p:cNvPr id="5" name="嘗試前 Q = []">
            <a:extLst xmlns:a="http://schemas.openxmlformats.org/drawingml/2006/main">
              <a:ext uri="{FF2B5EF4-FFF2-40B4-BE49-F238E27FC236}">
                <a16:creationId xmlns:a16="http://schemas.microsoft.com/office/drawing/2014/main" id="{920D4D01-1B1F-4F9F-A693-E636C940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U[c1]+S=0+4≤4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s=2，f=3≤3，h=2，a′=3≤12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X 峰值 4 MB；B 峰值 4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建立 L₁=(B,3,{c1:4})，pred=L₀">
            <a:extLst xmlns:a="http://schemas.openxmlformats.org/drawingml/2006/main">
              <a:ext uri="{FF2B5EF4-FFF2-40B4-BE49-F238E27FC236}">
                <a16:creationId xmlns:a16="http://schemas.microsoft.com/office/drawing/2014/main" id="{EFE9983C-23D1-472F-B0A1-4479FF75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 L₁=(B,3,{c1:4})，pred=L₀</a:t>
            </a:r>
          </a:p>
        </p:txBody>
      </p:sp>
      <p:sp>
        <p:nvSpPr>
          <p:cNvPr id="8" name="嘗試後 Q = [L₁(B,3)]">
            <a:extLst xmlns:a="http://schemas.openxmlformats.org/drawingml/2006/main">
              <a:ext uri="{FF2B5EF4-FFF2-40B4-BE49-F238E27FC236}">
                <a16:creationId xmlns:a16="http://schemas.microsoft.com/office/drawing/2014/main" id="{2F824BD0-8A46-4882-A750-EA8039D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[L₁(B,3)]</a:t>
            </a:r>
          </a:p>
        </p:txBody>
      </p:sp>
    </p:spTree>
    <p:extLst>
      <p:ext uri="{BB962C8B-B14F-4D97-AF65-F5344CB8AC3E}">
        <p14:creationId xmlns:p14="http://schemas.microsoft.com/office/powerpoint/2010/main" val="189869217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一包 3：取出 L₁，嘗試 c2">
            <a:extLst xmlns:a="http://schemas.openxmlformats.org/drawingml/2006/main">
              <a:ext uri="{FF2B5EF4-FFF2-40B4-BE49-F238E27FC236}">
                <a16:creationId xmlns:a16="http://schemas.microsoft.com/office/drawing/2014/main" id="{1C637D67-F873-4539-A3E6-AF4B50CE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3：取出 L₁，嘗試 c2</a:t>
            </a:r>
          </a:p>
        </p:txBody>
      </p:sp>
      <p:sp>
        <p:nvSpPr>
          <p:cNvPr id="2" name="20">
            <a:extLst xmlns:a="http://schemas.openxmlformats.org/drawingml/2006/main">
              <a:ext uri="{FF2B5EF4-FFF2-40B4-BE49-F238E27FC236}">
                <a16:creationId xmlns:a16="http://schemas.microsoft.com/office/drawing/2014/main" id="{B4BBC001-87C3-4805-9CB0-5A204BED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  <p:sp>
        <p:nvSpPr>
          <p:cNvPr id="3" name="現在只是在展開 L₁，仍須繼續檢查 c5。">
            <a:extLst xmlns:a="http://schemas.openxmlformats.org/drawingml/2006/main">
              <a:ext uri="{FF2B5EF4-FFF2-40B4-BE49-F238E27FC236}">
                <a16:creationId xmlns:a16="http://schemas.microsoft.com/office/drawing/2014/main" id="{B5BC03CB-7E28-4704-93D3-DE1B2C1E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現在只是在展開 L₁，仍須繼續檢查 c5。</a:t>
            </a:r>
          </a:p>
        </p:txBody>
      </p:sp>
      <p:sp>
        <p:nvSpPr>
          <p:cNvPr id="4" name="取出 L₁=(B,3,{c1:4})；c2 選 s=6">
            <a:extLst xmlns:a="http://schemas.openxmlformats.org/drawingml/2006/main">
              <a:ext uri="{FF2B5EF4-FFF2-40B4-BE49-F238E27FC236}">
                <a16:creationId xmlns:a16="http://schemas.microsoft.com/office/drawing/2014/main" id="{1B497657-513E-48B4-9F0F-02A2E5D1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L₁=(B,3,{c1:4})；c2 選 s=6</a:t>
            </a:r>
          </a:p>
        </p:txBody>
      </p:sp>
      <p:sp>
        <p:nvSpPr>
          <p:cNvPr id="5" name="嘗試前 Q = []">
            <a:extLst xmlns:a="http://schemas.openxmlformats.org/drawingml/2006/main">
              <a:ext uri="{FF2B5EF4-FFF2-40B4-BE49-F238E27FC236}">
                <a16:creationId xmlns:a16="http://schemas.microsoft.com/office/drawing/2014/main" id="{9FB2C38C-8011-4AC9-B1A1-1FD61E81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U[c2]+S=0+4≤4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f=7≤7，h=7，a′=8≤12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 等待／發送峰值 4；D 接收峰值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建立 L₂=(D,8,{c1:4,c2:4})">
            <a:extLst xmlns:a="http://schemas.openxmlformats.org/drawingml/2006/main">
              <a:ext uri="{FF2B5EF4-FFF2-40B4-BE49-F238E27FC236}">
                <a16:creationId xmlns:a16="http://schemas.microsoft.com/office/drawing/2014/main" id="{C3C436D7-299E-4D2D-B7B4-A5E50CB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 L₂=(D,8,{c1:4,c2:4})</a:t>
            </a:r>
          </a:p>
        </p:txBody>
      </p:sp>
      <p:sp>
        <p:nvSpPr>
          <p:cNvPr id="8" name="嘗試後 Q = [L₂(D,8)]">
            <a:extLst xmlns:a="http://schemas.openxmlformats.org/drawingml/2006/main">
              <a:ext uri="{FF2B5EF4-FFF2-40B4-BE49-F238E27FC236}">
                <a16:creationId xmlns:a16="http://schemas.microsoft.com/office/drawing/2014/main" id="{00FF9A6E-DC19-4FCD-B364-71B3A106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[L₂(D,8)]</a:t>
            </a:r>
          </a:p>
        </p:txBody>
      </p:sp>
    </p:spTree>
    <p:extLst>
      <p:ext uri="{BB962C8B-B14F-4D97-AF65-F5344CB8AC3E}">
        <p14:creationId xmlns:p14="http://schemas.microsoft.com/office/powerpoint/2010/main" val="31071846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一包 4：同一個 L₁ 再嘗試 c5">
            <a:extLst xmlns:a="http://schemas.openxmlformats.org/drawingml/2006/main">
              <a:ext uri="{FF2B5EF4-FFF2-40B4-BE49-F238E27FC236}">
                <a16:creationId xmlns:a16="http://schemas.microsoft.com/office/drawing/2014/main" id="{863CB027-1D47-4ED5-8075-0713A1BE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4：同一個 L₁ 再嘗試 c5</a:t>
            </a:r>
          </a:p>
        </p:txBody>
      </p:sp>
      <p:sp>
        <p:nvSpPr>
          <p:cNvPr id="2" name="21">
            <a:extLst xmlns:a="http://schemas.openxmlformats.org/drawingml/2006/main">
              <a:ext uri="{FF2B5EF4-FFF2-40B4-BE49-F238E27FC236}">
                <a16:creationId xmlns:a16="http://schemas.microsoft.com/office/drawing/2014/main" id="{D686F8CF-5568-4836-BB54-FCDD2E05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21</a:t>
            </a:r>
          </a:p>
        </p:txBody>
      </p:sp>
      <p:sp>
        <p:nvSpPr>
          <p:cNvPr id="3" name="兩個標籤都先保留，接著從 Q 取出 L₂。">
            <a:extLst xmlns:a="http://schemas.openxmlformats.org/drawingml/2006/main">
              <a:ext uri="{FF2B5EF4-FFF2-40B4-BE49-F238E27FC236}">
                <a16:creationId xmlns:a16="http://schemas.microsoft.com/office/drawing/2014/main" id="{A770B9D8-907B-48B3-AB39-EDE51188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兩個標籤都先保留，接著從 Q 取出 L₂。</a:t>
            </a:r>
          </a:p>
        </p:txBody>
      </p:sp>
      <p:sp>
        <p:nvSpPr>
          <p:cNvPr id="4" name="目前仍在展開 L₁；c5 選 s=10">
            <a:extLst xmlns:a="http://schemas.openxmlformats.org/drawingml/2006/main">
              <a:ext uri="{FF2B5EF4-FFF2-40B4-BE49-F238E27FC236}">
                <a16:creationId xmlns:a16="http://schemas.microsoft.com/office/drawing/2014/main" id="{3F63139E-AA60-42DB-96D4-A8ABBF8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目前仍在展開 L₁；c5 選 s=10</a:t>
            </a:r>
          </a:p>
        </p:txBody>
      </p:sp>
      <p:sp>
        <p:nvSpPr>
          <p:cNvPr id="5" name="嘗試前 Q = [L₂(D,8)]">
            <a:extLst xmlns:a="http://schemas.openxmlformats.org/drawingml/2006/main">
              <a:ext uri="{FF2B5EF4-FFF2-40B4-BE49-F238E27FC236}">
                <a16:creationId xmlns:a16="http://schemas.microsoft.com/office/drawing/2014/main" id="{ACD3A267-8791-498A-9FB1-BDEA9871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[L₂(D,8)]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U[c5]+S=0+4≤4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f=11≤11，h=11，a′=12≤12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 等待／發送峰值 4；D 接收峰值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建立 L₃=(D,12,{c1:4,c5:4})">
            <a:extLst xmlns:a="http://schemas.openxmlformats.org/drawingml/2006/main">
              <a:ext uri="{FF2B5EF4-FFF2-40B4-BE49-F238E27FC236}">
                <a16:creationId xmlns:a16="http://schemas.microsoft.com/office/drawing/2014/main" id="{64858BBD-4585-4131-91A5-E9239EEC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 L₃=(D,12,{c1:4,c5:4})</a:t>
            </a:r>
          </a:p>
        </p:txBody>
      </p:sp>
      <p:sp>
        <p:nvSpPr>
          <p:cNvPr id="8" name="嘗試後 Q = 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CA3E0FEB-1CC0-45D0-8C5E-EFCC6F90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[L₂(D,8), L₃(D,12)]</a:t>
            </a:r>
          </a:p>
        </p:txBody>
      </p:sp>
    </p:spTree>
    <p:extLst>
      <p:ext uri="{BB962C8B-B14F-4D97-AF65-F5344CB8AC3E}">
        <p14:creationId xmlns:p14="http://schemas.microsoft.com/office/powerpoint/2010/main" val="12115040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第一包 5：為何沒有刪除 L₃？">
            <a:extLst xmlns:a="http://schemas.openxmlformats.org/drawingml/2006/main">
              <a:ext uri="{FF2B5EF4-FFF2-40B4-BE49-F238E27FC236}">
                <a16:creationId xmlns:a16="http://schemas.microsoft.com/office/drawing/2014/main" id="{A0929BCA-BDCB-434A-80EA-2C9D3EAC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5：為何沒有刪除 L₃？</a:t>
            </a:r>
          </a:p>
        </p:txBody>
      </p:sp>
      <p:sp>
        <p:nvSpPr>
          <p:cNvPr id="2" name="22">
            <a:extLst xmlns:a="http://schemas.openxmlformats.org/drawingml/2006/main">
              <a:ext uri="{FF2B5EF4-FFF2-40B4-BE49-F238E27FC236}">
                <a16:creationId xmlns:a16="http://schemas.microsoft.com/office/drawing/2014/main" id="{6A1CBE1B-E8E6-412B-97E4-32C738E1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22</a:t>
            </a:r>
          </a:p>
        </p:txBody>
      </p:sp>
      <p:sp>
        <p:nvSpPr>
          <p:cNvPr id="3" name="時間較早仍不足以構成支配，L₃ 依規則保留。">
            <a:extLst xmlns:a="http://schemas.openxmlformats.org/drawingml/2006/main">
              <a:ext uri="{FF2B5EF4-FFF2-40B4-BE49-F238E27FC236}">
                <a16:creationId xmlns:a16="http://schemas.microsoft.com/office/drawing/2014/main" id="{DFFDA33D-0F01-4FB7-BCD1-2FABC4ED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時間較早仍不足以構成支配，L₃ 依規則保留。</a:t>
            </a:r>
          </a:p>
        </p:txBody>
      </p:sp>
      <p:sp>
        <p:nvSpPr>
          <p:cNvPr id="4" name="• 同節點 D，且 L₂ 的 8 秒早於 L₃ 的 12 秒">
            <a:extLst xmlns:a="http://schemas.openxmlformats.org/drawingml/2006/main">
              <a:ext uri="{FF2B5EF4-FFF2-40B4-BE49-F238E27FC236}">
                <a16:creationId xmlns:a16="http://schemas.microsoft.com/office/drawing/2014/main" id="{216915D6-C257-49C4-9415-C43BD2B5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同節點 D，且 L₂ 的 8 秒早於 L₃ 的 12 秒</a:t>
            </a:r>
          </a:p>
        </p:txBody>
      </p:sp>
      <p:sp>
        <p:nvSpPr>
          <p:cNvPr id="5" name="• D 在 8～12 秒可容納 4 MB，等待條件通過">
            <a:extLst xmlns:a="http://schemas.openxmlformats.org/drawingml/2006/main">
              <a:ext uri="{FF2B5EF4-FFF2-40B4-BE49-F238E27FC236}">
                <a16:creationId xmlns:a16="http://schemas.microsoft.com/office/drawing/2014/main" id="{E6F15520-F996-47FA-AF63-41AB7A02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D 在 8～12 秒可容納 4 MB，等待條件通過</a:t>
            </a:r>
          </a:p>
        </p:txBody>
      </p:sp>
      <p:sp>
        <p:nvSpPr>
          <p:cNvPr id="6" name="• 但 U₂[c2]=4 &gt; U₃[c2]=0，容量向量條件失敗">
            <a:extLst xmlns:a="http://schemas.openxmlformats.org/drawingml/2006/main">
              <a:ext uri="{FF2B5EF4-FFF2-40B4-BE49-F238E27FC236}">
                <a16:creationId xmlns:a16="http://schemas.microsoft.com/office/drawing/2014/main" id="{9DB06127-F35D-44AE-A158-304785A8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但 U₂[c2]=4 &gt; U₃[c2]=0，容量向量條件失敗</a:t>
            </a:r>
          </a:p>
        </p:txBody>
      </p:sp>
      <p:sp>
        <p:nvSpPr>
          <p:cNvPr id="7" name="Q=[L₂(D,8), L₃(D,12)] → 取出 L₂ → ">
            <a:extLst xmlns:a="http://schemas.openxmlformats.org/drawingml/2006/main">
              <a:ext uri="{FF2B5EF4-FFF2-40B4-BE49-F238E27FC236}">
                <a16:creationId xmlns:a16="http://schemas.microsoft.com/office/drawing/2014/main" id="{FCD051FB-003F-4CFD-A792-B5E7EC7D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Q=[L₂(D,8), L₃(D,12)] → 取出 L₂ → 結束本次搜尋</a:t>
            </a:r>
          </a:p>
        </p:txBody>
      </p:sp>
    </p:spTree>
    <p:extLst>
      <p:ext uri="{BB962C8B-B14F-4D97-AF65-F5344CB8AC3E}">
        <p14:creationId xmlns:p14="http://schemas.microsoft.com/office/powerpoint/2010/main" val="25003525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第一包 6：回溯並更新資源">
            <a:extLst xmlns:a="http://schemas.openxmlformats.org/drawingml/2006/main">
              <a:ext uri="{FF2B5EF4-FFF2-40B4-BE49-F238E27FC236}">
                <a16:creationId xmlns:a16="http://schemas.microsoft.com/office/drawing/2014/main" id="{903E3EB9-863D-4678-A097-633FF0B6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6：回溯並更新資源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BFEEA533-25C2-4B83-BE74-1B20275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23</a:t>
            </a:r>
          </a:p>
        </p:txBody>
      </p:sp>
      <p:sp>
        <p:nvSpPr>
          <p:cNvPr id="3" name="只有選定的 c1、c2 扣除容量，未選中的 c5 保持 4 MB">
            <a:extLst xmlns:a="http://schemas.openxmlformats.org/drawingml/2006/main">
              <a:ext uri="{FF2B5EF4-FFF2-40B4-BE49-F238E27FC236}">
                <a16:creationId xmlns:a16="http://schemas.microsoft.com/office/drawing/2014/main" id="{95011210-8EAB-447E-B358-EFA66997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只有選定的 c1、c2 扣除容量，未選中的 c5 保持 4 MB。</a:t>
            </a:r>
          </a:p>
        </p:txBody>
      </p:sp>
      <p:sp>
        <p:nvSpPr>
          <p:cNvPr id="4" name="• pred：L₂ ← L₁ ← L₀，反轉得到 c1、c2">
            <a:extLst xmlns:a="http://schemas.openxmlformats.org/drawingml/2006/main">
              <a:ext uri="{FF2B5EF4-FFF2-40B4-BE49-F238E27FC236}">
                <a16:creationId xmlns:a16="http://schemas.microsoft.com/office/drawing/2014/main" id="{04BD8E9B-C7D8-4B36-8607-2CC0F519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pred：L₂ ← L₁ ← L₀，反轉得到 c1、c2</a:t>
            </a:r>
          </a:p>
        </p:txBody>
      </p:sp>
      <p:sp>
        <p:nvSpPr>
          <p:cNvPr id="5" name="• 發送：c1 為 2～3 秒；c2 為 6～7 秒">
            <a:extLst xmlns:a="http://schemas.openxmlformats.org/drawingml/2006/main">
              <a:ext uri="{FF2B5EF4-FFF2-40B4-BE49-F238E27FC236}">
                <a16:creationId xmlns:a16="http://schemas.microsoft.com/office/drawing/2014/main" id="{D3681157-8D10-4BF0-823A-2729F4BD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發送：c1 為 2～3 秒；c2 為 6～7 秒</a:t>
            </a:r>
          </a:p>
        </p:txBody>
      </p:sp>
      <p:sp>
        <p:nvSpPr>
          <p:cNvPr id="6" name="• 完整到達 8 秒；確認後 R[c1]=R[c2]=0">
            <a:extLst xmlns:a="http://schemas.openxmlformats.org/drawingml/2006/main">
              <a:ext uri="{FF2B5EF4-FFF2-40B4-BE49-F238E27FC236}">
                <a16:creationId xmlns:a16="http://schemas.microsoft.com/office/drawing/2014/main" id="{A1E133BE-1580-42E0-B27D-2F1D298C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完整到達 8 秒；確認後 R[c1]=R[c2]=0</a:t>
            </a:r>
          </a:p>
        </p:txBody>
      </p:sp>
      <p:sp>
        <p:nvSpPr>
          <p:cNvPr id="7" name="R（c1～c8）=(0, 0, 4, 8, 4, 4, 2, 4">
            <a:extLst xmlns:a="http://schemas.openxmlformats.org/drawingml/2006/main">
              <a:ext uri="{FF2B5EF4-FFF2-40B4-BE49-F238E27FC236}">
                <a16:creationId xmlns:a16="http://schemas.microsoft.com/office/drawing/2014/main" id="{43142B76-775E-4E52-A38E-2839254E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434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R（c1～c8）=(0, 0, 4, 8, 4, 4, 2, 4) MB</a:t>
            </a:r>
          </a:p>
        </p:txBody>
      </p:sp>
    </p:spTree>
    <p:extLst>
      <p:ext uri="{BB962C8B-B14F-4D97-AF65-F5344CB8AC3E}">
        <p14:creationId xmlns:p14="http://schemas.microsoft.com/office/powerpoint/2010/main" val="13667353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第一包 7：第二包會讀到的占用">
            <a:extLst xmlns:a="http://schemas.openxmlformats.org/drawingml/2006/main">
              <a:ext uri="{FF2B5EF4-FFF2-40B4-BE49-F238E27FC236}">
                <a16:creationId xmlns:a16="http://schemas.microsoft.com/office/drawing/2014/main" id="{9182BFC3-408D-495F-B524-7AE1FEC6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7：第二包會讀到的占用</a:t>
            </a:r>
          </a:p>
        </p:txBody>
      </p:sp>
      <p:sp>
        <p:nvSpPr>
          <p:cNvPr id="2" name="24">
            <a:extLst xmlns:a="http://schemas.openxmlformats.org/drawingml/2006/main">
              <a:ext uri="{FF2B5EF4-FFF2-40B4-BE49-F238E27FC236}">
                <a16:creationId xmlns:a16="http://schemas.microsoft.com/office/drawing/2014/main" id="{4A63987A-7B18-4B3E-901B-D41545E2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24</a:t>
            </a:r>
          </a:p>
        </p:txBody>
      </p:sp>
      <p:sp>
        <p:nvSpPr>
          <p:cNvPr id="3" name="O_B(t) 是 buffer 占用量，不是速率或鏈路。">
            <a:extLst xmlns:a="http://schemas.openxmlformats.org/drawingml/2006/main">
              <a:ext uri="{FF2B5EF4-FFF2-40B4-BE49-F238E27FC236}">
                <a16:creationId xmlns:a16="http://schemas.microsoft.com/office/drawing/2014/main" id="{8270079D-D516-44F5-8ED0-92B5AD3D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O_B(t) 是 buffer 占用量，不是速率或鏈路。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670AD-942D-4168-AAE3-19EED8CC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9048750" cy="2143125"/>
          </a:xfrm>
          <a:custGeom xmlns:a="http://schemas.openxmlformats.org/drawingml/2006/main">
            <a:pathLst>
              <a:path w="9048750" h="2143125">
                <a:moveTo>
                  <a:pt x="0" y="0"/>
                </a:moveTo>
                <a:lnTo>
                  <a:pt x="0" y="2143125"/>
                </a:lnTo>
                <a:lnTo>
                  <a:pt x="904875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6251B-8294-47E0-81D8-D11BA5E2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" name="0">
            <a:extLst xmlns:a="http://schemas.openxmlformats.org/drawingml/2006/main">
              <a:ext uri="{FF2B5EF4-FFF2-40B4-BE49-F238E27FC236}">
                <a16:creationId xmlns:a16="http://schemas.microsoft.com/office/drawing/2014/main" id="{673FCC54-5D69-479D-8058-95A0A689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2599B-DFBA-41A4-8E1D-78996497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D9B9D6F8-331E-440E-AF47-4867840D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325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349DF-FC5E-4E8E-9594-4455E190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F20C814C-F743-45DC-8393-7DDA288C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6BB64-EA3B-47BA-AA11-CA3800F4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2" name="6">
            <a:extLst xmlns:a="http://schemas.openxmlformats.org/drawingml/2006/main">
              <a:ext uri="{FF2B5EF4-FFF2-40B4-BE49-F238E27FC236}">
                <a16:creationId xmlns:a16="http://schemas.microsoft.com/office/drawing/2014/main" id="{ACE33A7F-4FF3-4033-80A2-F2954201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BBDA7-6563-479B-B488-7EADA7CC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62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4" name="8">
            <a:extLst xmlns:a="http://schemas.openxmlformats.org/drawingml/2006/main">
              <a:ext uri="{FF2B5EF4-FFF2-40B4-BE49-F238E27FC236}">
                <a16:creationId xmlns:a16="http://schemas.microsoft.com/office/drawing/2014/main" id="{1A4A813D-EFEA-4060-B66B-07304C3C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0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73D74-A40C-46EB-9F66-A087D309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750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6" name="10">
            <a:extLst xmlns:a="http://schemas.openxmlformats.org/drawingml/2006/main">
              <a:ext uri="{FF2B5EF4-FFF2-40B4-BE49-F238E27FC236}">
                <a16:creationId xmlns:a16="http://schemas.microsoft.com/office/drawing/2014/main" id="{CF9FA02B-24F5-49F3-8FCE-92F4AB99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825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B7315-B13C-4D43-B5F9-DFCDE79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8" name="12">
            <a:extLst xmlns:a="http://schemas.openxmlformats.org/drawingml/2006/main">
              <a:ext uri="{FF2B5EF4-FFF2-40B4-BE49-F238E27FC236}">
                <a16:creationId xmlns:a16="http://schemas.microsoft.com/office/drawing/2014/main" id="{44943DED-7702-44CB-9600-2B8A188D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9" name="0">
            <a:extLst xmlns:a="http://schemas.openxmlformats.org/drawingml/2006/main">
              <a:ext uri="{FF2B5EF4-FFF2-40B4-BE49-F238E27FC236}">
                <a16:creationId xmlns:a16="http://schemas.microsoft.com/office/drawing/2014/main" id="{DA902337-7C60-423B-AF08-4F3C769B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20" name="2">
            <a:extLst xmlns:a="http://schemas.openxmlformats.org/drawingml/2006/main">
              <a:ext uri="{FF2B5EF4-FFF2-40B4-BE49-F238E27FC236}">
                <a16:creationId xmlns:a16="http://schemas.microsoft.com/office/drawing/2014/main" id="{B544198C-55F3-4454-9F31-B1AE85B9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21" name="4">
            <a:extLst xmlns:a="http://schemas.openxmlformats.org/drawingml/2006/main">
              <a:ext uri="{FF2B5EF4-FFF2-40B4-BE49-F238E27FC236}">
                <a16:creationId xmlns:a16="http://schemas.microsoft.com/office/drawing/2014/main" id="{F9F85C8F-73EA-4959-90A2-42190325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6E12E-7781-4632-BFA7-892EC17E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BBB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97EE0-BD8C-41F5-B027-EADA46DA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9048750" cy="1714500"/>
          </a:xfrm>
          <a:custGeom xmlns:a="http://schemas.openxmlformats.org/drawingml/2006/main">
            <a:pathLst>
              <a:path w="9048750" h="1714500">
                <a:moveTo>
                  <a:pt x="0" y="1714500"/>
                </a:moveTo>
                <a:lnTo>
                  <a:pt x="1508125" y="1714500"/>
                </a:lnTo>
                <a:lnTo>
                  <a:pt x="2262188" y="0"/>
                </a:lnTo>
                <a:lnTo>
                  <a:pt x="4524375" y="0"/>
                </a:lnTo>
                <a:lnTo>
                  <a:pt x="5278438" y="1714500"/>
                </a:lnTo>
                <a:lnTo>
                  <a:pt x="904875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24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8DA8985D-399D-45C8-A005-34CD6CA4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00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25" name="時間（秒）">
            <a:extLst xmlns:a="http://schemas.openxmlformats.org/drawingml/2006/main">
              <a:ext uri="{FF2B5EF4-FFF2-40B4-BE49-F238E27FC236}">
                <a16:creationId xmlns:a16="http://schemas.microsoft.com/office/drawing/2014/main" id="{DF6C6142-4113-4A88-95EE-FCF49940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673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時間（秒）</a:t>
            </a:r>
          </a:p>
        </p:txBody>
      </p:sp>
      <p:sp>
        <p:nvSpPr>
          <p:cNvPr id="26" name="容量上限 4 MB">
            <a:extLst xmlns:a="http://schemas.openxmlformats.org/drawingml/2006/main">
              <a:ext uri="{FF2B5EF4-FFF2-40B4-BE49-F238E27FC236}">
                <a16:creationId xmlns:a16="http://schemas.microsoft.com/office/drawing/2014/main" id="{98DDA8AF-AAB5-4C6F-94B3-D93BA337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容量上限 4 MB</a:t>
            </a:r>
          </a:p>
        </p:txBody>
      </p:sp>
      <p:sp>
        <p:nvSpPr>
          <p:cNvPr id="27" name="B 的既有占用 O_B(t)">
            <a:extLst xmlns:a="http://schemas.openxmlformats.org/drawingml/2006/main">
              <a:ext uri="{FF2B5EF4-FFF2-40B4-BE49-F238E27FC236}">
                <a16:creationId xmlns:a16="http://schemas.microsoft.com/office/drawing/2014/main" id="{54F5F54C-5E17-4AAC-859B-ABC8DD25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的既有占用 O_B(t)</a:t>
            </a:r>
          </a:p>
        </p:txBody>
      </p:sp>
    </p:spTree>
    <p:extLst>
      <p:ext uri="{BB962C8B-B14F-4D97-AF65-F5344CB8AC3E}">
        <p14:creationId xmlns:p14="http://schemas.microsoft.com/office/powerpoint/2010/main" val="177324745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第二包 1：重新初始化搜尋">
            <a:extLst xmlns:a="http://schemas.openxmlformats.org/drawingml/2006/main">
              <a:ext uri="{FF2B5EF4-FFF2-40B4-BE49-F238E27FC236}">
                <a16:creationId xmlns:a16="http://schemas.microsoft.com/office/drawing/2014/main" id="{8F7CDDCB-DF3B-4E63-91B3-E839247D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1：重新初始化搜尋</a:t>
            </a:r>
          </a:p>
        </p:txBody>
      </p:sp>
      <p:sp>
        <p:nvSpPr>
          <p:cNvPr id="2" name="25">
            <a:extLst xmlns:a="http://schemas.openxmlformats.org/drawingml/2006/main">
              <a:ext uri="{FF2B5EF4-FFF2-40B4-BE49-F238E27FC236}">
                <a16:creationId xmlns:a16="http://schemas.microsoft.com/office/drawing/2014/main" id="{B193E597-5F13-4EB3-91DD-8CA43489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25</a:t>
            </a:r>
          </a:p>
        </p:txBody>
      </p:sp>
      <p:sp>
        <p:nvSpPr>
          <p:cNvPr id="3" name="第二包標籤重新編號，第一包的資源預約仍保留。">
            <a:extLst xmlns:a="http://schemas.openxmlformats.org/drawingml/2006/main">
              <a:ext uri="{FF2B5EF4-FFF2-40B4-BE49-F238E27FC236}">
                <a16:creationId xmlns:a16="http://schemas.microsoft.com/office/drawing/2014/main" id="{BFC4471F-779E-4D72-B515-54871E95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第二包標籤重新編號，第一包的資源預約仍保留。</a:t>
            </a:r>
          </a:p>
        </p:txBody>
      </p:sp>
      <p:sp>
        <p:nvSpPr>
          <p:cNvPr id="4" name="• 讀取第一包更新後的 R、O">
            <a:extLst xmlns:a="http://schemas.openxmlformats.org/drawingml/2006/main">
              <a:ext uri="{FF2B5EF4-FFF2-40B4-BE49-F238E27FC236}">
                <a16:creationId xmlns:a16="http://schemas.microsoft.com/office/drawing/2014/main" id="{CA544898-85D5-430F-AFA3-5364B80A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讀取第一包更新後的 R、O</a:t>
            </a:r>
          </a:p>
        </p:txBody>
      </p:sp>
      <p:sp>
        <p:nvSpPr>
          <p:cNvPr id="5" name="• O_A(1)+4=4≤4，建立 L₀=(A,1,{})">
            <a:extLst xmlns:a="http://schemas.openxmlformats.org/drawingml/2006/main">
              <a:ext uri="{FF2B5EF4-FFF2-40B4-BE49-F238E27FC236}">
                <a16:creationId xmlns:a16="http://schemas.microsoft.com/office/drawing/2014/main" id="{E761CDE3-676F-44D2-9E32-1B1A73D2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O_A(1)+4=4≤4，建立 L₀=(A,1,{})</a:t>
            </a:r>
          </a:p>
        </p:txBody>
      </p:sp>
      <p:sp>
        <p:nvSpPr>
          <p:cNvPr id="6" name="• 取出 L₀ 後 Q=[]；依序嘗試 c3、c4、c6">
            <a:extLst xmlns:a="http://schemas.openxmlformats.org/drawingml/2006/main">
              <a:ext uri="{FF2B5EF4-FFF2-40B4-BE49-F238E27FC236}">
                <a16:creationId xmlns:a16="http://schemas.microsoft.com/office/drawing/2014/main" id="{A3A380B9-E2D1-4BC5-85D4-2A9E6576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取出 L₀ 後 Q=[]；依序嘗試 c3、c4、c6</a:t>
            </a:r>
          </a:p>
        </p:txBody>
      </p:sp>
    </p:spTree>
    <p:extLst>
      <p:ext uri="{BB962C8B-B14F-4D97-AF65-F5344CB8AC3E}">
        <p14:creationId xmlns:p14="http://schemas.microsoft.com/office/powerpoint/2010/main" val="87818385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二包 2：經 c3 於第 2 秒到 B">
            <a:extLst xmlns:a="http://schemas.openxmlformats.org/drawingml/2006/main">
              <a:ext uri="{FF2B5EF4-FFF2-40B4-BE49-F238E27FC236}">
                <a16:creationId xmlns:a16="http://schemas.microsoft.com/office/drawing/2014/main" id="{8AD8D3AD-907B-4935-960B-D941D36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2：經 c3 於第 2 秒到 B</a:t>
            </a:r>
          </a:p>
        </p:txBody>
      </p:sp>
      <p:sp>
        <p:nvSpPr>
          <p:cNvPr id="2" name="26">
            <a:extLst xmlns:a="http://schemas.openxmlformats.org/drawingml/2006/main">
              <a:ext uri="{FF2B5EF4-FFF2-40B4-BE49-F238E27FC236}">
                <a16:creationId xmlns:a16="http://schemas.microsoft.com/office/drawing/2014/main" id="{6BC32556-B6D8-400F-96C3-E4788130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26</a:t>
            </a:r>
          </a:p>
        </p:txBody>
      </p:sp>
      <p:sp>
        <p:nvSpPr>
          <p:cNvPr id="3" name="此刻只保證接收可行，尚未檢查在 B 後續等待。">
            <a:extLst xmlns:a="http://schemas.openxmlformats.org/drawingml/2006/main">
              <a:ext uri="{FF2B5EF4-FFF2-40B4-BE49-F238E27FC236}">
                <a16:creationId xmlns:a16="http://schemas.microsoft.com/office/drawing/2014/main" id="{43278D9B-CD0D-46B1-9E28-1616B090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此刻只保證接收可行，尚未檢查在 B 後續等待。</a:t>
            </a:r>
          </a:p>
        </p:txBody>
      </p:sp>
      <p:sp>
        <p:nvSpPr>
          <p:cNvPr id="4" name="目前 L₀=(A,1,{})；c3 選 s=1">
            <a:extLst xmlns:a="http://schemas.openxmlformats.org/drawingml/2006/main">
              <a:ext uri="{FF2B5EF4-FFF2-40B4-BE49-F238E27FC236}">
                <a16:creationId xmlns:a16="http://schemas.microsoft.com/office/drawing/2014/main" id="{E8756346-DD11-4DC0-9DEA-98410566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 L₀=(A,1,{})；c3 選 s=1</a:t>
            </a:r>
          </a:p>
        </p:txBody>
      </p:sp>
      <p:sp>
        <p:nvSpPr>
          <p:cNvPr id="5" name="嘗試前 Q = []">
            <a:extLst xmlns:a="http://schemas.openxmlformats.org/drawingml/2006/main">
              <a:ext uri="{FF2B5EF4-FFF2-40B4-BE49-F238E27FC236}">
                <a16:creationId xmlns:a16="http://schemas.microsoft.com/office/drawing/2014/main" id="{D3C988F6-4B6E-48F7-886B-1E39AEE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0+4≤R[c3]=4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f=2≤2，h=1，a′=2≤12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 峰值 4；B 在 1～2 秒接收峰值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建立 L₁=(B,2,{c3:4})">
            <a:extLst xmlns:a="http://schemas.openxmlformats.org/drawingml/2006/main">
              <a:ext uri="{FF2B5EF4-FFF2-40B4-BE49-F238E27FC236}">
                <a16:creationId xmlns:a16="http://schemas.microsoft.com/office/drawing/2014/main" id="{44FBA903-1D03-4763-AAEF-5AA6BA04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 L₁=(B,2,{c3:4})</a:t>
            </a:r>
          </a:p>
        </p:txBody>
      </p:sp>
      <p:sp>
        <p:nvSpPr>
          <p:cNvPr id="8" name="嘗試後 Q = [L₁(B,2)]">
            <a:extLst xmlns:a="http://schemas.openxmlformats.org/drawingml/2006/main">
              <a:ext uri="{FF2B5EF4-FFF2-40B4-BE49-F238E27FC236}">
                <a16:creationId xmlns:a16="http://schemas.microsoft.com/office/drawing/2014/main" id="{98C56FCF-E062-487E-B2B8-E81E8514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[L₁(B,2)]</a:t>
            </a:r>
          </a:p>
        </p:txBody>
      </p:sp>
    </p:spTree>
    <p:extLst>
      <p:ext uri="{BB962C8B-B14F-4D97-AF65-F5344CB8AC3E}">
        <p14:creationId xmlns:p14="http://schemas.microsoft.com/office/powerpoint/2010/main" val="107398585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二包 3：c4 的第一個時刻 s=7">
            <a:extLst xmlns:a="http://schemas.openxmlformats.org/drawingml/2006/main">
              <a:ext uri="{FF2B5EF4-FFF2-40B4-BE49-F238E27FC236}">
                <a16:creationId xmlns:a16="http://schemas.microsoft.com/office/drawing/2014/main" id="{741A15A4-3D48-49E9-BD38-B1D813B5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3：c4 的第一個時刻 s=7</a:t>
            </a:r>
          </a:p>
        </p:txBody>
      </p:sp>
      <p:sp>
        <p:nvSpPr>
          <p:cNvPr id="2" name="27">
            <a:extLst xmlns:a="http://schemas.openxmlformats.org/drawingml/2006/main">
              <a:ext uri="{FF2B5EF4-FFF2-40B4-BE49-F238E27FC236}">
                <a16:creationId xmlns:a16="http://schemas.microsoft.com/office/drawing/2014/main" id="{4D029490-3DCF-4D08-B0A3-B381E6B8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27</a:t>
            </a:r>
          </a:p>
        </p:txBody>
      </p:sp>
      <p:sp>
        <p:nvSpPr>
          <p:cNvPr id="3" name="不能用 L₁ 的較早到達時間直接刪除 L₂。">
            <a:extLst xmlns:a="http://schemas.openxmlformats.org/drawingml/2006/main">
              <a:ext uri="{FF2B5EF4-FFF2-40B4-BE49-F238E27FC236}">
                <a16:creationId xmlns:a16="http://schemas.microsoft.com/office/drawing/2014/main" id="{6D599CAE-F1DD-4386-A113-3F0DE374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不能用 L₁ 的較早到達時間直接刪除 L₂。</a:t>
            </a:r>
          </a:p>
        </p:txBody>
      </p:sp>
      <p:sp>
        <p:nvSpPr>
          <p:cNvPr id="4" name="仍展開 L₀；c4 可列舉 s∈{7,8}">
            <a:extLst xmlns:a="http://schemas.openxmlformats.org/drawingml/2006/main">
              <a:ext uri="{FF2B5EF4-FFF2-40B4-BE49-F238E27FC236}">
                <a16:creationId xmlns:a16="http://schemas.microsoft.com/office/drawing/2014/main" id="{C118C6B7-48D7-4B79-B29E-F3D49FF4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仍展開 L₀；c4 可列舉 s∈{7,8}</a:t>
            </a:r>
          </a:p>
        </p:txBody>
      </p:sp>
      <p:sp>
        <p:nvSpPr>
          <p:cNvPr id="5" name="嘗試前 Q = [L₁(B,2)]">
            <a:extLst xmlns:a="http://schemas.openxmlformats.org/drawingml/2006/main">
              <a:ext uri="{FF2B5EF4-FFF2-40B4-BE49-F238E27FC236}">
                <a16:creationId xmlns:a16="http://schemas.microsoft.com/office/drawing/2014/main" id="{519EE292-C61A-4648-94EB-2A1A3CF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[L₁(B,2)]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0+4≤R[c4]=8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s=7，f=8≤9，h=7，a′=8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 峰值 4；B 在 7～8 秒接收峰值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建立 L₂=(B,8,{c4:4})">
            <a:extLst xmlns:a="http://schemas.openxmlformats.org/drawingml/2006/main">
              <a:ext uri="{FF2B5EF4-FFF2-40B4-BE49-F238E27FC236}">
                <a16:creationId xmlns:a16="http://schemas.microsoft.com/office/drawing/2014/main" id="{DA48F964-B3FC-47EE-8F63-7FBA9222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 L₂=(B,8,{c4:4})</a:t>
            </a:r>
          </a:p>
        </p:txBody>
      </p:sp>
      <p:sp>
        <p:nvSpPr>
          <p:cNvPr id="8" name="嘗試後 Q = 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B14FE8D4-B335-44BF-B05F-10A2238B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[L₁(B,2), L₂(B,8)]</a:t>
            </a:r>
          </a:p>
        </p:txBody>
      </p:sp>
    </p:spTree>
    <p:extLst>
      <p:ext uri="{BB962C8B-B14F-4D97-AF65-F5344CB8AC3E}">
        <p14:creationId xmlns:p14="http://schemas.microsoft.com/office/powerpoint/2010/main" val="1355297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第二包 4：L₁ 無法取代 L₂">
            <a:extLst xmlns:a="http://schemas.openxmlformats.org/drawingml/2006/main">
              <a:ext uri="{FF2B5EF4-FFF2-40B4-BE49-F238E27FC236}">
                <a16:creationId xmlns:a16="http://schemas.microsoft.com/office/drawing/2014/main" id="{C29F9BFB-7CFB-4249-9DE8-9EB61C55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4：L₁ 無法取代 L₂</a:t>
            </a:r>
          </a:p>
        </p:txBody>
      </p:sp>
      <p:sp>
        <p:nvSpPr>
          <p:cNvPr id="2" name="28">
            <a:extLst xmlns:a="http://schemas.openxmlformats.org/drawingml/2006/main">
              <a:ext uri="{FF2B5EF4-FFF2-40B4-BE49-F238E27FC236}">
                <a16:creationId xmlns:a16="http://schemas.microsoft.com/office/drawing/2014/main" id="{F85A400E-95A7-4B77-A1C2-84FE8253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28</a:t>
            </a:r>
          </a:p>
        </p:txBody>
      </p:sp>
      <p:sp>
        <p:nvSpPr>
          <p:cNvPr id="3" name="這個比較同時有等待與用量兩個失敗原因。">
            <a:extLst xmlns:a="http://schemas.openxmlformats.org/drawingml/2006/main">
              <a:ext uri="{FF2B5EF4-FFF2-40B4-BE49-F238E27FC236}">
                <a16:creationId xmlns:a16="http://schemas.microsoft.com/office/drawing/2014/main" id="{E21C6E88-0872-43C7-89A8-70BA4A54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這個比較同時有等待與用量兩個失敗原因。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38200" y="198120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4762500"/>
                <a:gridCol w="213360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條件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a₁≤a₂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2≤8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整段可等待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t=2.5：2+4=6&gt;4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各 contact 已用量不更多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c3：4&gt;0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 維持 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277132C6-0E4C-43E4-9DA0-4CD3A1F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維持 [L₁(B,2), L₂(B,8)]</a:t>
            </a:r>
          </a:p>
        </p:txBody>
      </p:sp>
    </p:spTree>
    <p:extLst>
      <p:ext uri="{BB962C8B-B14F-4D97-AF65-F5344CB8AC3E}">
        <p14:creationId xmlns:p14="http://schemas.microsoft.com/office/powerpoint/2010/main" val="113637787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二包 5：c4 的第二個時刻 s=8">
            <a:extLst xmlns:a="http://schemas.openxmlformats.org/drawingml/2006/main">
              <a:ext uri="{FF2B5EF4-FFF2-40B4-BE49-F238E27FC236}">
                <a16:creationId xmlns:a16="http://schemas.microsoft.com/office/drawing/2014/main" id="{1CA9916D-A0AA-44A3-86D2-B890FCF5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5：c4 的第二個時刻 s=8</a:t>
            </a:r>
          </a:p>
        </p:txBody>
      </p:sp>
      <p:sp>
        <p:nvSpPr>
          <p:cNvPr id="2" name="29">
            <a:extLst xmlns:a="http://schemas.openxmlformats.org/drawingml/2006/main">
              <a:ext uri="{FF2B5EF4-FFF2-40B4-BE49-F238E27FC236}">
                <a16:creationId xmlns:a16="http://schemas.microsoft.com/office/drawing/2014/main" id="{4DF60BC5-D809-4120-82B6-9911E0A9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29</a:t>
            </a:r>
          </a:p>
        </p:txBody>
      </p:sp>
      <p:sp>
        <p:nvSpPr>
          <p:cNvPr id="3" name="L₃ 的延伸可行，但會在入列前被 L₂ 支配。">
            <a:extLst xmlns:a="http://schemas.openxmlformats.org/drawingml/2006/main">
              <a:ext uri="{FF2B5EF4-FFF2-40B4-BE49-F238E27FC236}">
                <a16:creationId xmlns:a16="http://schemas.microsoft.com/office/drawing/2014/main" id="{44330764-451F-415B-8196-EAB25AA3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L₃ 的延伸可行，但會在入列前被 L₂ 支配。</a:t>
            </a:r>
          </a:p>
        </p:txBody>
      </p:sp>
      <p:sp>
        <p:nvSpPr>
          <p:cNvPr id="4" name="仍展開 L₀；c4 改試 s=8">
            <a:extLst xmlns:a="http://schemas.openxmlformats.org/drawingml/2006/main">
              <a:ext uri="{FF2B5EF4-FFF2-40B4-BE49-F238E27FC236}">
                <a16:creationId xmlns:a16="http://schemas.microsoft.com/office/drawing/2014/main" id="{02F1FD23-31AD-41E1-BE06-7F7DC5E7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仍展開 L₀；c4 改試 s=8</a:t>
            </a:r>
          </a:p>
        </p:txBody>
      </p:sp>
      <p:sp>
        <p:nvSpPr>
          <p:cNvPr id="5" name="嘗試前 Q = 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70825D2D-E97B-457E-89AE-D461DA1E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[L₁(B,2), L₂(B,8)]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0+4≤8；上一個候選不扣除 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f=9≤9，h=8，a′=9≤12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 峰值 4；B 在 8～9 秒接收峰值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候選 L₃=(B,9,{c4:4})，接著做支配判斷">
            <a:extLst xmlns:a="http://schemas.openxmlformats.org/drawingml/2006/main">
              <a:ext uri="{FF2B5EF4-FFF2-40B4-BE49-F238E27FC236}">
                <a16:creationId xmlns:a16="http://schemas.microsoft.com/office/drawing/2014/main" id="{0D31C7F6-D077-48FD-95C5-44496F52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候選 L₃=(B,9,{c4:4})，接著做支配判斷</a:t>
            </a:r>
          </a:p>
        </p:txBody>
      </p:sp>
      <p:sp>
        <p:nvSpPr>
          <p:cNvPr id="8" name="嘗試後 Q = 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D88E9B64-BA9F-496C-BAB3-F0C91D8C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[L₁(B,2), L₂(B,8)]</a:t>
            </a:r>
          </a:p>
        </p:txBody>
      </p:sp>
    </p:spTree>
    <p:extLst>
      <p:ext uri="{BB962C8B-B14F-4D97-AF65-F5344CB8AC3E}">
        <p14:creationId xmlns:p14="http://schemas.microsoft.com/office/powerpoint/2010/main" val="3206568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第二包 6：逐項刪除 L₃ 的理由">
            <a:extLst xmlns:a="http://schemas.openxmlformats.org/drawingml/2006/main">
              <a:ext uri="{FF2B5EF4-FFF2-40B4-BE49-F238E27FC236}">
                <a16:creationId xmlns:a16="http://schemas.microsoft.com/office/drawing/2014/main" id="{8675DC45-45ED-4620-9EC2-674F5D5E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6：逐項刪除 L₃ 的理由</a:t>
            </a:r>
          </a:p>
        </p:txBody>
      </p:sp>
      <p:sp>
        <p:nvSpPr>
          <p:cNvPr id="2" name="30">
            <a:extLst xmlns:a="http://schemas.openxmlformats.org/drawingml/2006/main">
              <a:ext uri="{FF2B5EF4-FFF2-40B4-BE49-F238E27FC236}">
                <a16:creationId xmlns:a16="http://schemas.microsoft.com/office/drawing/2014/main" id="{0030F245-39E6-42D4-99BB-A7E4F6E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30</a:t>
            </a:r>
          </a:p>
        </p:txBody>
      </p:sp>
      <p:sp>
        <p:nvSpPr>
          <p:cNvPr id="3" name="保留 L₂，L₃ 不加入 Q；這不會扣除任何全域資源。">
            <a:extLst xmlns:a="http://schemas.openxmlformats.org/drawingml/2006/main">
              <a:ext uri="{FF2B5EF4-FFF2-40B4-BE49-F238E27FC236}">
                <a16:creationId xmlns:a16="http://schemas.microsoft.com/office/drawing/2014/main" id="{F5C8C4EB-2C3E-4CB5-9EFF-ABF8CDE3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保留 L₂，L₃ 不加入 Q；這不會扣除任何全域資源。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38200" y="198120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905500"/>
                <a:gridCol w="175260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條件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到達不晚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8≤9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可以等待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O_B(t)+4=4≤4，8≤t≤9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已用量不更多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 都為 4，其餘都為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=[L₁(B,2), L₂(B,8)]；L₃ 標記為失效">
            <a:extLst xmlns:a="http://schemas.openxmlformats.org/drawingml/2006/main">
              <a:ext uri="{FF2B5EF4-FFF2-40B4-BE49-F238E27FC236}">
                <a16:creationId xmlns:a16="http://schemas.microsoft.com/office/drawing/2014/main" id="{E5415F55-9B27-4D23-855F-65A33764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Q=[L₁(B,2), L₂(B,8)]；L₃ 標記為失效</a:t>
            </a:r>
          </a:p>
        </p:txBody>
      </p:sp>
    </p:spTree>
    <p:extLst>
      <p:ext uri="{BB962C8B-B14F-4D97-AF65-F5344CB8AC3E}">
        <p14:creationId xmlns:p14="http://schemas.microsoft.com/office/powerpoint/2010/main" val="190921789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二包 7：再由 c6 到 C">
            <a:extLst xmlns:a="http://schemas.openxmlformats.org/drawingml/2006/main">
              <a:ext uri="{FF2B5EF4-FFF2-40B4-BE49-F238E27FC236}">
                <a16:creationId xmlns:a16="http://schemas.microsoft.com/office/drawing/2014/main" id="{17FA0026-75AD-4C0C-8632-00BDF20C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7：再由 c6 到 C</a:t>
            </a:r>
          </a:p>
        </p:txBody>
      </p:sp>
      <p:sp>
        <p:nvSpPr>
          <p:cNvPr id="2" name="31">
            <a:extLst xmlns:a="http://schemas.openxmlformats.org/drawingml/2006/main">
              <a:ext uri="{FF2B5EF4-FFF2-40B4-BE49-F238E27FC236}">
                <a16:creationId xmlns:a16="http://schemas.microsoft.com/office/drawing/2014/main" id="{98103CCC-36C2-45AC-8EE9-276BB0BA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31</a:t>
            </a:r>
          </a:p>
        </p:txBody>
      </p:sp>
      <p:sp>
        <p:nvSpPr>
          <p:cNvPr id="3" name="標籤編號是建立順序，Q 則按到達時間排序。">
            <a:extLst xmlns:a="http://schemas.openxmlformats.org/drawingml/2006/main">
              <a:ext uri="{FF2B5EF4-FFF2-40B4-BE49-F238E27FC236}">
                <a16:creationId xmlns:a16="http://schemas.microsoft.com/office/drawing/2014/main" id="{1E59235C-6F07-46BA-BC03-3E90E7CB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標籤編號是建立順序，Q 則按到達時間排序。</a:t>
            </a:r>
          </a:p>
        </p:txBody>
      </p:sp>
      <p:sp>
        <p:nvSpPr>
          <p:cNvPr id="4" name="仍展開 L₀；c6 選 s=1">
            <a:extLst xmlns:a="http://schemas.openxmlformats.org/drawingml/2006/main">
              <a:ext uri="{FF2B5EF4-FFF2-40B4-BE49-F238E27FC236}">
                <a16:creationId xmlns:a16="http://schemas.microsoft.com/office/drawing/2014/main" id="{BB613F53-59D4-4E0A-B206-0E8D9655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仍展開 L₀；c6 選 s=1</a:t>
            </a:r>
          </a:p>
        </p:txBody>
      </p:sp>
      <p:sp>
        <p:nvSpPr>
          <p:cNvPr id="5" name="嘗試前 Q = 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46EEA311-4048-4F8E-9ED3-13F9261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[L₁(B,2), L₂(B,8)]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0+4≤R[c6]=4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f=2≤2，δ=1，h=2，a′=3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 峰值 4；C 在 2～3 秒接收峰值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建立 L₄=(C,3,{c6:4})，依到達時間重新排序">
            <a:extLst xmlns:a="http://schemas.openxmlformats.org/drawingml/2006/main">
              <a:ext uri="{FF2B5EF4-FFF2-40B4-BE49-F238E27FC236}">
                <a16:creationId xmlns:a16="http://schemas.microsoft.com/office/drawing/2014/main" id="{A4BFE917-ACE4-4DC6-A8E4-60BDAF09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 L₄=(C,3,{c6:4})，依到達時間重新排序</a:t>
            </a:r>
          </a:p>
        </p:txBody>
      </p:sp>
      <p:sp>
        <p:nvSpPr>
          <p:cNvPr id="8" name="嘗試後 Q = [L₁(B,2), L₄(C,3), L₂(B,">
            <a:extLst xmlns:a="http://schemas.openxmlformats.org/drawingml/2006/main">
              <a:ext uri="{FF2B5EF4-FFF2-40B4-BE49-F238E27FC236}">
                <a16:creationId xmlns:a16="http://schemas.microsoft.com/office/drawing/2014/main" id="{9ADB85B2-E89E-4E03-A04C-31FDA491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[L₁(B,2), L₄(C,3), L₂(B,8)]</a:t>
            </a:r>
          </a:p>
        </p:txBody>
      </p:sp>
    </p:spTree>
    <p:extLst>
      <p:ext uri="{BB962C8B-B14F-4D97-AF65-F5344CB8AC3E}">
        <p14:creationId xmlns:p14="http://schemas.microsoft.com/office/powerpoint/2010/main" val="98874280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二包 8：取出早到 B 的 L₁">
            <a:extLst xmlns:a="http://schemas.openxmlformats.org/drawingml/2006/main">
              <a:ext uri="{FF2B5EF4-FFF2-40B4-BE49-F238E27FC236}">
                <a16:creationId xmlns:a16="http://schemas.microsoft.com/office/drawing/2014/main" id="{4A46BD70-1F1F-44B0-9470-569ED19E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8：取出早到 B 的 L₁</a:t>
            </a:r>
          </a:p>
        </p:txBody>
      </p:sp>
      <p:sp>
        <p:nvSpPr>
          <p:cNvPr id="2" name="32">
            <a:extLst xmlns:a="http://schemas.openxmlformats.org/drawingml/2006/main">
              <a:ext uri="{FF2B5EF4-FFF2-40B4-BE49-F238E27FC236}">
                <a16:creationId xmlns:a16="http://schemas.microsoft.com/office/drawing/2014/main" id="{5BA0ADC4-15D9-41DA-8AE5-5C4D8C5B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32</a:t>
            </a:r>
          </a:p>
        </p:txBody>
      </p:sp>
      <p:sp>
        <p:nvSpPr>
          <p:cNvPr id="3" name="「未執行」不能寫成「通過」。">
            <a:extLst xmlns:a="http://schemas.openxmlformats.org/drawingml/2006/main">
              <a:ext uri="{FF2B5EF4-FFF2-40B4-BE49-F238E27FC236}">
                <a16:creationId xmlns:a16="http://schemas.microsoft.com/office/drawing/2014/main" id="{A5F1957D-F623-4429-8284-A41A4DD0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「未執行」不能寫成「通過」。</a:t>
            </a:r>
          </a:p>
        </p:txBody>
      </p:sp>
      <p:sp>
        <p:nvSpPr>
          <p:cNvPr id="4" name="Q 取出 L₁(B,2)；先嘗試 c2">
            <a:extLst xmlns:a="http://schemas.openxmlformats.org/drawingml/2006/main">
              <a:ext uri="{FF2B5EF4-FFF2-40B4-BE49-F238E27FC236}">
                <a16:creationId xmlns:a16="http://schemas.microsoft.com/office/drawing/2014/main" id="{A052AD61-06E8-4B20-B2E7-C0CC91CF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取出 L₁(B,2)；先嘗試 c2</a:t>
            </a:r>
          </a:p>
        </p:txBody>
      </p:sp>
      <p:sp>
        <p:nvSpPr>
          <p:cNvPr id="5" name="嘗試前 Q =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56EE6B14-9F61-4E09-9493-21AEF8B3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[L₄(C,3), L₂(B,8)]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U[c2]+S=0+4&gt;R[c2]=0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容量已不足，不再執行時間檢查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容量已不足，不再執行 buffer 檢查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不建立新標籤；繼續用 L₁ 嘗試 c5">
            <a:extLst xmlns:a="http://schemas.openxmlformats.org/drawingml/2006/main">
              <a:ext uri="{FF2B5EF4-FFF2-40B4-BE49-F238E27FC236}">
                <a16:creationId xmlns:a16="http://schemas.microsoft.com/office/drawing/2014/main" id="{3A2B184B-4F88-4120-999E-A5BA8F87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不建立新標籤；繼續用 L₁ 嘗試 c5</a:t>
            </a:r>
          </a:p>
        </p:txBody>
      </p:sp>
      <p:sp>
        <p:nvSpPr>
          <p:cNvPr id="8" name="嘗試後 Q =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71C7D4C2-DA16-41B1-9CA8-CB248071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[L₄(C,3), L₂(B,8)]</a:t>
            </a:r>
          </a:p>
        </p:txBody>
      </p:sp>
    </p:spTree>
    <p:extLst>
      <p:ext uri="{BB962C8B-B14F-4D97-AF65-F5344CB8AC3E}">
        <p14:creationId xmlns:p14="http://schemas.microsoft.com/office/powerpoint/2010/main" val="140655748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二包 9：L₁ 等到 c5 會超量">
            <a:extLst xmlns:a="http://schemas.openxmlformats.org/drawingml/2006/main">
              <a:ext uri="{FF2B5EF4-FFF2-40B4-BE49-F238E27FC236}">
                <a16:creationId xmlns:a16="http://schemas.microsoft.com/office/drawing/2014/main" id="{24F75E61-EA0F-492D-9E60-0744C602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9：L₁ 等到 c5 會超量</a:t>
            </a:r>
          </a:p>
        </p:txBody>
      </p:sp>
      <p:sp>
        <p:nvSpPr>
          <p:cNvPr id="2" name="33">
            <a:extLst xmlns:a="http://schemas.openxmlformats.org/drawingml/2006/main">
              <a:ext uri="{FF2B5EF4-FFF2-40B4-BE49-F238E27FC236}">
                <a16:creationId xmlns:a16="http://schemas.microsoft.com/office/drawing/2014/main" id="{94142CE8-2F7A-44CE-8334-FA3C6007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33</a:t>
            </a:r>
          </a:p>
        </p:txBody>
      </p:sp>
      <p:sp>
        <p:nvSpPr>
          <p:cNvPr id="3" name="接收時可行的 L₁，可能因後續等待而無法繼續。">
            <a:extLst xmlns:a="http://schemas.openxmlformats.org/drawingml/2006/main">
              <a:ext uri="{FF2B5EF4-FFF2-40B4-BE49-F238E27FC236}">
                <a16:creationId xmlns:a16="http://schemas.microsoft.com/office/drawing/2014/main" id="{C5C4617F-1772-4026-AEC3-2974FFF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接收時可行的 L₁，可能因後續等待而無法繼續。</a:t>
            </a:r>
          </a:p>
        </p:txBody>
      </p:sp>
      <p:sp>
        <p:nvSpPr>
          <p:cNvPr id="4" name="目前 L₁=(B,2,{c3:4})；c5 選 s=10">
            <a:extLst xmlns:a="http://schemas.openxmlformats.org/drawingml/2006/main">
              <a:ext uri="{FF2B5EF4-FFF2-40B4-BE49-F238E27FC236}">
                <a16:creationId xmlns:a16="http://schemas.microsoft.com/office/drawing/2014/main" id="{90FDC21C-67F0-428A-B243-873EBEC5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 L₁=(B,2,{c3:4})；c5 選 s=10</a:t>
            </a:r>
          </a:p>
        </p:txBody>
      </p:sp>
      <p:sp>
        <p:nvSpPr>
          <p:cNvPr id="5" name="嘗試前 Q =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053AD9FF-0C59-464E-9EB0-3D5FA1FF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[L₄(C,3), L₂(B,8)]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0+4≤R[c5]=4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f=11≤11，h=11，a′=12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 在第 3 秒：既有 4 + 本包 4 = 8&gt;4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不建立目的地標籤；L₁ 的所有後續嘗試結束">
            <a:extLst xmlns:a="http://schemas.openxmlformats.org/drawingml/2006/main">
              <a:ext uri="{FF2B5EF4-FFF2-40B4-BE49-F238E27FC236}">
                <a16:creationId xmlns:a16="http://schemas.microsoft.com/office/drawing/2014/main" id="{E565CDD1-A747-4841-8C9C-D33622F5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不建立目的地標籤；L₁ 的所有後續嘗試結束</a:t>
            </a:r>
          </a:p>
        </p:txBody>
      </p:sp>
      <p:sp>
        <p:nvSpPr>
          <p:cNvPr id="8" name="嘗試後 Q =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7D0EF352-1F0F-4E55-8DA2-69C7BBD2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[L₄(C,3), L₂(B,8)]</a:t>
            </a:r>
          </a:p>
        </p:txBody>
      </p:sp>
    </p:spTree>
    <p:extLst>
      <p:ext uri="{BB962C8B-B14F-4D97-AF65-F5344CB8AC3E}">
        <p14:creationId xmlns:p14="http://schemas.microsoft.com/office/powerpoint/2010/main" val="83629816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二包 10：取出 C 的 L₄，試 c7">
            <a:extLst xmlns:a="http://schemas.openxmlformats.org/drawingml/2006/main">
              <a:ext uri="{FF2B5EF4-FFF2-40B4-BE49-F238E27FC236}">
                <a16:creationId xmlns:a16="http://schemas.microsoft.com/office/drawing/2014/main" id="{9C11EDE8-392E-4C87-A343-3BEF45C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10：取出 C 的 L₄，試 c7</a:t>
            </a:r>
          </a:p>
        </p:txBody>
      </p:sp>
      <p:sp>
        <p:nvSpPr>
          <p:cNvPr id="2" name="34">
            <a:extLst xmlns:a="http://schemas.openxmlformats.org/drawingml/2006/main">
              <a:ext uri="{FF2B5EF4-FFF2-40B4-BE49-F238E27FC236}">
                <a16:creationId xmlns:a16="http://schemas.microsoft.com/office/drawing/2014/main" id="{808F9E81-B7CB-449C-8747-6F6AAC8E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34</a:t>
            </a:r>
          </a:p>
        </p:txBody>
      </p:sp>
      <p:sp>
        <p:nvSpPr>
          <p:cNvPr id="3" name="整包 4 MB 不能使用僅剩 2 MB 的 contact。">
            <a:extLst xmlns:a="http://schemas.openxmlformats.org/drawingml/2006/main">
              <a:ext uri="{FF2B5EF4-FFF2-40B4-BE49-F238E27FC236}">
                <a16:creationId xmlns:a16="http://schemas.microsoft.com/office/drawing/2014/main" id="{A53D44DE-EB59-49F2-8BF0-567BF947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整包 4 MB 不能使用僅剩 2 MB 的 contact。</a:t>
            </a:r>
          </a:p>
        </p:txBody>
      </p:sp>
      <p:sp>
        <p:nvSpPr>
          <p:cNvPr id="4" name="取出 L₄=(C,3,{c6:4})；嘗試 c7">
            <a:extLst xmlns:a="http://schemas.openxmlformats.org/drawingml/2006/main">
              <a:ext uri="{FF2B5EF4-FFF2-40B4-BE49-F238E27FC236}">
                <a16:creationId xmlns:a16="http://schemas.microsoft.com/office/drawing/2014/main" id="{2D3CF538-BE15-4E11-9393-3BE01F3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L₄=(C,3,{c6:4})；嘗試 c7</a:t>
            </a:r>
          </a:p>
        </p:txBody>
      </p:sp>
      <p:sp>
        <p:nvSpPr>
          <p:cNvPr id="5" name="嘗試前 Q = [L₂(B,8)]">
            <a:extLst xmlns:a="http://schemas.openxmlformats.org/drawingml/2006/main">
              <a:ext uri="{FF2B5EF4-FFF2-40B4-BE49-F238E27FC236}">
                <a16:creationId xmlns:a16="http://schemas.microsoft.com/office/drawing/2014/main" id="{851F106D-23F8-4949-8366-05E4CEDF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[L₂(B,8)]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0+4&gt;R[c7]=2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容量已不足，時間檢查未執行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容量已不足，buffer 檢查未執行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不建立標籤；同一個 L₄ 繼續嘗試 c8">
            <a:extLst xmlns:a="http://schemas.openxmlformats.org/drawingml/2006/main">
              <a:ext uri="{FF2B5EF4-FFF2-40B4-BE49-F238E27FC236}">
                <a16:creationId xmlns:a16="http://schemas.microsoft.com/office/drawing/2014/main" id="{26A837D1-BBC2-4EC0-9F71-5F7B9B52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不建立標籤；同一個 L₄ 繼續嘗試 c8</a:t>
            </a:r>
          </a:p>
        </p:txBody>
      </p:sp>
      <p:sp>
        <p:nvSpPr>
          <p:cNvPr id="8" name="嘗試後 Q = [L₂(B,8)]">
            <a:extLst xmlns:a="http://schemas.openxmlformats.org/drawingml/2006/main">
              <a:ext uri="{FF2B5EF4-FFF2-40B4-BE49-F238E27FC236}">
                <a16:creationId xmlns:a16="http://schemas.microsoft.com/office/drawing/2014/main" id="{52E86C15-E789-4EB9-B641-A79FA937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[L₂(B,8)]</a:t>
            </a:r>
          </a:p>
        </p:txBody>
      </p:sp>
    </p:spTree>
    <p:extLst>
      <p:ext uri="{BB962C8B-B14F-4D97-AF65-F5344CB8AC3E}">
        <p14:creationId xmlns:p14="http://schemas.microsoft.com/office/powerpoint/2010/main" val="213428460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二包 11：c8 容量足夠但太晚到">
            <a:extLst xmlns:a="http://schemas.openxmlformats.org/drawingml/2006/main">
              <a:ext uri="{FF2B5EF4-FFF2-40B4-BE49-F238E27FC236}">
                <a16:creationId xmlns:a16="http://schemas.microsoft.com/office/drawing/2014/main" id="{B2F0E59C-0D71-4171-B9AC-7765A18F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11：c8 容量足夠但太晚到</a:t>
            </a:r>
          </a:p>
        </p:txBody>
      </p:sp>
      <p:sp>
        <p:nvSpPr>
          <p:cNvPr id="2" name="35">
            <a:extLst xmlns:a="http://schemas.openxmlformats.org/drawingml/2006/main">
              <a:ext uri="{FF2B5EF4-FFF2-40B4-BE49-F238E27FC236}">
                <a16:creationId xmlns:a16="http://schemas.microsoft.com/office/drawing/2014/main" id="{B620C684-FB99-4A8F-84DA-FDE16F3D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35</a:t>
            </a:r>
          </a:p>
        </p:txBody>
      </p:sp>
      <p:sp>
        <p:nvSpPr>
          <p:cNvPr id="3" name="不能在第 3 秒才收到整包，卻從第 2 秒開始發送。">
            <a:extLst xmlns:a="http://schemas.openxmlformats.org/drawingml/2006/main">
              <a:ext uri="{FF2B5EF4-FFF2-40B4-BE49-F238E27FC236}">
                <a16:creationId xmlns:a16="http://schemas.microsoft.com/office/drawing/2014/main" id="{CDD83B55-972B-48DF-BD74-1909FD72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不能在第 3 秒才收到整包，卻從第 2 秒開始發送。</a:t>
            </a:r>
          </a:p>
        </p:txBody>
      </p:sp>
      <p:sp>
        <p:nvSpPr>
          <p:cNvPr id="4" name="目前 L₄=(C,3,{c6:4})；嘗試 c8">
            <a:extLst xmlns:a="http://schemas.openxmlformats.org/drawingml/2006/main">
              <a:ext uri="{FF2B5EF4-FFF2-40B4-BE49-F238E27FC236}">
                <a16:creationId xmlns:a16="http://schemas.microsoft.com/office/drawing/2014/main" id="{10A3493F-E4CF-4232-9D72-133BFDB7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 L₄=(C,3,{c6:4})；嘗試 c8</a:t>
            </a:r>
          </a:p>
        </p:txBody>
      </p:sp>
      <p:sp>
        <p:nvSpPr>
          <p:cNvPr id="5" name="嘗試前 Q = [L₂(B,8)]">
            <a:extLst xmlns:a="http://schemas.openxmlformats.org/drawingml/2006/main">
              <a:ext uri="{FF2B5EF4-FFF2-40B4-BE49-F238E27FC236}">
                <a16:creationId xmlns:a16="http://schemas.microsoft.com/office/drawing/2014/main" id="{623D6CFE-0510-4EBB-83EF-D612DD66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[L₂(B,8)]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0+4≤R[c8]=4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最早 max(3,2)=3 &gt; 最晚 3−4/4=2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沒有候選 s，buffer 檢查未執行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無可列舉的起始時間；L₄ 的延伸結束">
            <a:extLst xmlns:a="http://schemas.openxmlformats.org/drawingml/2006/main">
              <a:ext uri="{FF2B5EF4-FFF2-40B4-BE49-F238E27FC236}">
                <a16:creationId xmlns:a16="http://schemas.microsoft.com/office/drawing/2014/main" id="{C9206612-4BFA-4B56-A38A-274E3A3C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無可列舉的起始時間；L₄ 的延伸結束</a:t>
            </a:r>
          </a:p>
        </p:txBody>
      </p:sp>
      <p:sp>
        <p:nvSpPr>
          <p:cNvPr id="8" name="嘗試後 Q = [L₂(B,8)]">
            <a:extLst xmlns:a="http://schemas.openxmlformats.org/drawingml/2006/main">
              <a:ext uri="{FF2B5EF4-FFF2-40B4-BE49-F238E27FC236}">
                <a16:creationId xmlns:a16="http://schemas.microsoft.com/office/drawing/2014/main" id="{4C761C6D-E981-4EB4-8E15-466CF496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[L₂(B,8)]</a:t>
            </a:r>
          </a:p>
        </p:txBody>
      </p:sp>
    </p:spTree>
    <p:extLst>
      <p:ext uri="{BB962C8B-B14F-4D97-AF65-F5344CB8AC3E}">
        <p14:creationId xmlns:p14="http://schemas.microsoft.com/office/powerpoint/2010/main" val="135520466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二包 12：取出晚到 B 的 L₂">
            <a:extLst xmlns:a="http://schemas.openxmlformats.org/drawingml/2006/main">
              <a:ext uri="{FF2B5EF4-FFF2-40B4-BE49-F238E27FC236}">
                <a16:creationId xmlns:a16="http://schemas.microsoft.com/office/drawing/2014/main" id="{AC544915-BEE3-4F7E-8D9E-A7E1E127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12：取出晚到 B 的 L₂</a:t>
            </a:r>
          </a:p>
        </p:txBody>
      </p:sp>
      <p:sp>
        <p:nvSpPr>
          <p:cNvPr id="2" name="36">
            <a:extLst xmlns:a="http://schemas.openxmlformats.org/drawingml/2006/main">
              <a:ext uri="{FF2B5EF4-FFF2-40B4-BE49-F238E27FC236}">
                <a16:creationId xmlns:a16="http://schemas.microsoft.com/office/drawing/2014/main" id="{CA098F2C-30C8-4569-9865-87C74D54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36</a:t>
            </a:r>
          </a:p>
        </p:txBody>
      </p:sp>
      <p:sp>
        <p:nvSpPr>
          <p:cNvPr id="3" name="同一個 B 節點再次展開，這次使用不同的到達狀態。">
            <a:extLst xmlns:a="http://schemas.openxmlformats.org/drawingml/2006/main">
              <a:ext uri="{FF2B5EF4-FFF2-40B4-BE49-F238E27FC236}">
                <a16:creationId xmlns:a16="http://schemas.microsoft.com/office/drawing/2014/main" id="{522FAA70-5B79-40A8-9C1B-5B479EA6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同一個 B 節點再次展開，這次使用不同的到達狀態。</a:t>
            </a:r>
          </a:p>
        </p:txBody>
      </p:sp>
      <p:sp>
        <p:nvSpPr>
          <p:cNvPr id="4" name="取出 L₂=(B,8,{c4:4})；先試 c2">
            <a:extLst xmlns:a="http://schemas.openxmlformats.org/drawingml/2006/main">
              <a:ext uri="{FF2B5EF4-FFF2-40B4-BE49-F238E27FC236}">
                <a16:creationId xmlns:a16="http://schemas.microsoft.com/office/drawing/2014/main" id="{B65E11B4-EFEB-414B-84A9-EEC4EDD4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L₂=(B,8,{c4:4})；先試 c2</a:t>
            </a:r>
          </a:p>
        </p:txBody>
      </p:sp>
      <p:sp>
        <p:nvSpPr>
          <p:cNvPr id="5" name="嘗試前 Q = []">
            <a:extLst xmlns:a="http://schemas.openxmlformats.org/drawingml/2006/main">
              <a:ext uri="{FF2B5EF4-FFF2-40B4-BE49-F238E27FC236}">
                <a16:creationId xmlns:a16="http://schemas.microsoft.com/office/drawing/2014/main" id="{DD7A9584-3D13-4019-A355-99FE462C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0+4&gt;R[c2]=0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依檢查順序，時間檢查未執行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依檢查順序，buffer 檢查未執行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未執行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不建立標籤；L₂ 繼續嘗試 c5">
            <a:extLst xmlns:a="http://schemas.openxmlformats.org/drawingml/2006/main">
              <a:ext uri="{FF2B5EF4-FFF2-40B4-BE49-F238E27FC236}">
                <a16:creationId xmlns:a16="http://schemas.microsoft.com/office/drawing/2014/main" id="{48B37308-C054-456C-BC1C-BA32F41F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不建立標籤；L₂ 繼續嘗試 c5</a:t>
            </a:r>
          </a:p>
        </p:txBody>
      </p:sp>
      <p:sp>
        <p:nvSpPr>
          <p:cNvPr id="8" name="嘗試後 Q = []">
            <a:extLst xmlns:a="http://schemas.openxmlformats.org/drawingml/2006/main">
              <a:ext uri="{FF2B5EF4-FFF2-40B4-BE49-F238E27FC236}">
                <a16:creationId xmlns:a16="http://schemas.microsoft.com/office/drawing/2014/main" id="{DC8F8BFF-F5BE-4A29-AEA6-305B982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[]</a:t>
            </a:r>
          </a:p>
        </p:txBody>
      </p:sp>
    </p:spTree>
    <p:extLst>
      <p:ext uri="{BB962C8B-B14F-4D97-AF65-F5344CB8AC3E}">
        <p14:creationId xmlns:p14="http://schemas.microsoft.com/office/powerpoint/2010/main" val="67740622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二包 13：L₂ 經 c5 成功到 D">
            <a:extLst xmlns:a="http://schemas.openxmlformats.org/drawingml/2006/main">
              <a:ext uri="{FF2B5EF4-FFF2-40B4-BE49-F238E27FC236}">
                <a16:creationId xmlns:a16="http://schemas.microsoft.com/office/drawing/2014/main" id="{E9D9E43D-D82C-4CB8-A1B0-2085F8B6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13：L₂ 經 c5 成功到 D</a:t>
            </a:r>
          </a:p>
        </p:txBody>
      </p:sp>
      <p:sp>
        <p:nvSpPr>
          <p:cNvPr id="2" name="37">
            <a:extLst xmlns:a="http://schemas.openxmlformats.org/drawingml/2006/main">
              <a:ext uri="{FF2B5EF4-FFF2-40B4-BE49-F238E27FC236}">
                <a16:creationId xmlns:a16="http://schemas.microsoft.com/office/drawing/2014/main" id="{F6659D29-9B5B-482E-8B0D-AB209663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37</a:t>
            </a:r>
          </a:p>
        </p:txBody>
      </p:sp>
      <p:sp>
        <p:nvSpPr>
          <p:cNvPr id="3" name="第 8 秒之後 B 的第一包占用已清空，所以等待可行。">
            <a:extLst xmlns:a="http://schemas.openxmlformats.org/drawingml/2006/main">
              <a:ext uri="{FF2B5EF4-FFF2-40B4-BE49-F238E27FC236}">
                <a16:creationId xmlns:a16="http://schemas.microsoft.com/office/drawing/2014/main" id="{06FABBC8-D6F7-4D31-8E3F-9EB90FCA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 8 秒之後 B 的第一包占用已清空，所以等待可行。</a:t>
            </a:r>
          </a:p>
        </p:txBody>
      </p:sp>
      <p:sp>
        <p:nvSpPr>
          <p:cNvPr id="4" name="目前 L₂=(B,8,{c4:4})；c5 選 s=10">
            <a:extLst xmlns:a="http://schemas.openxmlformats.org/drawingml/2006/main">
              <a:ext uri="{FF2B5EF4-FFF2-40B4-BE49-F238E27FC236}">
                <a16:creationId xmlns:a16="http://schemas.microsoft.com/office/drawing/2014/main" id="{0950CBDC-41AC-418C-BF1F-6967534D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 L₂=(B,8,{c4:4})；c5 選 s=10</a:t>
            </a:r>
          </a:p>
        </p:txBody>
      </p:sp>
      <p:sp>
        <p:nvSpPr>
          <p:cNvPr id="5" name="嘗試前 Q = []">
            <a:extLst xmlns:a="http://schemas.openxmlformats.org/drawingml/2006/main">
              <a:ext uri="{FF2B5EF4-FFF2-40B4-BE49-F238E27FC236}">
                <a16:creationId xmlns:a16="http://schemas.microsoft.com/office/drawing/2014/main" id="{9F5C05BF-19EE-4723-923C-B7177F70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嘗試前 Q = []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105156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572375"/>
                <a:gridCol w="14668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代入數值／結果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0+4≤R[c5]=4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f=11≤11，h=11，a′=12≤12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 在 8～11 秒峰值 4；D 接收峰值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建立 L₅=(D,12,{c4:4,c5:4})，pred=L₂">
            <a:extLst xmlns:a="http://schemas.openxmlformats.org/drawingml/2006/main">
              <a:ext uri="{FF2B5EF4-FFF2-40B4-BE49-F238E27FC236}">
                <a16:creationId xmlns:a16="http://schemas.microsoft.com/office/drawing/2014/main" id="{5385C8F8-9D7E-4E5F-B2ED-17E3D51E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 L₅=(D,12,{c4:4,c5:4})，pred=L₂</a:t>
            </a:r>
          </a:p>
        </p:txBody>
      </p:sp>
      <p:sp>
        <p:nvSpPr>
          <p:cNvPr id="8" name="嘗試後 Q = [L₅(D,12)]">
            <a:extLst xmlns:a="http://schemas.openxmlformats.org/drawingml/2006/main">
              <a:ext uri="{FF2B5EF4-FFF2-40B4-BE49-F238E27FC236}">
                <a16:creationId xmlns:a16="http://schemas.microsoft.com/office/drawing/2014/main" id="{013D2C1D-8112-4DD0-BA6B-8E458532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嘗試後 Q = [L₅(D,12)]</a:t>
            </a:r>
          </a:p>
        </p:txBody>
      </p:sp>
    </p:spTree>
    <p:extLst>
      <p:ext uri="{BB962C8B-B14F-4D97-AF65-F5344CB8AC3E}">
        <p14:creationId xmlns:p14="http://schemas.microsoft.com/office/powerpoint/2010/main" val="1950684952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第二包 14：取出目的地與回溯">
            <a:extLst xmlns:a="http://schemas.openxmlformats.org/drawingml/2006/main">
              <a:ext uri="{FF2B5EF4-FFF2-40B4-BE49-F238E27FC236}">
                <a16:creationId xmlns:a16="http://schemas.microsoft.com/office/drawing/2014/main" id="{0543D2C7-98C0-4C45-BBB5-D217D015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14：取出目的地與回溯</a:t>
            </a:r>
          </a:p>
        </p:txBody>
      </p:sp>
      <p:sp>
        <p:nvSpPr>
          <p:cNvPr id="2" name="38">
            <a:extLst xmlns:a="http://schemas.openxmlformats.org/drawingml/2006/main">
              <a:ext uri="{FF2B5EF4-FFF2-40B4-BE49-F238E27FC236}">
                <a16:creationId xmlns:a16="http://schemas.microsoft.com/office/drawing/2014/main" id="{B73C0CF2-2E62-4D9B-9E80-A98FAEBA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38</a:t>
            </a:r>
          </a:p>
        </p:txBody>
      </p:sp>
      <p:sp>
        <p:nvSpPr>
          <p:cNvPr id="3" name="選定 A→B→D，完整到達時間為第 12 秒。">
            <a:extLst xmlns:a="http://schemas.openxmlformats.org/drawingml/2006/main">
              <a:ext uri="{FF2B5EF4-FFF2-40B4-BE49-F238E27FC236}">
                <a16:creationId xmlns:a16="http://schemas.microsoft.com/office/drawing/2014/main" id="{C4D02E58-E81B-4C4E-B52A-46B1C7CC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 A→B→D，完整到達時間為第 12 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5A419-A780-4273-955C-99FFD823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936900" cy="288475"/>
          </a:xfrm>
          <a:custGeom xmlns:a="http://schemas.openxmlformats.org/drawingml/2006/main">
            <a:pathLst>
              <a:path w="1936900" h="288475">
                <a:moveTo>
                  <a:pt x="0" y="0"/>
                </a:moveTo>
                <a:lnTo>
                  <a:pt x="1119188" y="166688"/>
                </a:lnTo>
                <a:lnTo>
                  <a:pt x="1936900" y="288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9168E-3D90-4BB8-A647-09E497CF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996" y="2326494"/>
            <a:ext cx="89405" cy="90334"/>
          </a:xfrm>
          <a:custGeom xmlns:a="http://schemas.openxmlformats.org/drawingml/2006/main">
            <a:pathLst>
              <a:path w="89405" h="90334">
                <a:moveTo>
                  <a:pt x="0" y="90334"/>
                </a:moveTo>
                <a:lnTo>
                  <a:pt x="89405" y="57481"/>
                </a:lnTo>
                <a:lnTo>
                  <a:pt x="134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47B0B8B5-946B-458A-AFFA-27FA879F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1985963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E658E-8BE6-43B9-92D5-B1B0CB8E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003833" cy="614964"/>
          </a:xfrm>
          <a:custGeom xmlns:a="http://schemas.openxmlformats.org/drawingml/2006/main">
            <a:pathLst>
              <a:path w="2003833" h="614964">
                <a:moveTo>
                  <a:pt x="0" y="0"/>
                </a:moveTo>
                <a:lnTo>
                  <a:pt x="1264978" y="1744"/>
                </a:lnTo>
                <a:lnTo>
                  <a:pt x="2003833" y="61496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ED74E-5C2E-44AE-A00F-6361E6A3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21" y="2955315"/>
            <a:ext cx="93486" cy="88524"/>
          </a:xfrm>
          <a:custGeom xmlns:a="http://schemas.openxmlformats.org/drawingml/2006/main">
            <a:pathLst>
              <a:path w="93486" h="88524">
                <a:moveTo>
                  <a:pt x="0" y="70279"/>
                </a:moveTo>
                <a:lnTo>
                  <a:pt x="93486" y="88524"/>
                </a:lnTo>
                <a:lnTo>
                  <a:pt x="58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C1AA96F-9891-40E8-83A7-05024142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78" y="215439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5EF9A-D83E-49CC-B32E-14F3E0A5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9972"/>
            <a:ext cx="1954543" cy="1365278"/>
          </a:xfrm>
          <a:custGeom xmlns:a="http://schemas.openxmlformats.org/drawingml/2006/main">
            <a:pathLst>
              <a:path w="1954543" h="1365278">
                <a:moveTo>
                  <a:pt x="0" y="1365278"/>
                </a:moveTo>
                <a:lnTo>
                  <a:pt x="961855" y="388555"/>
                </a:lnTo>
                <a:lnTo>
                  <a:pt x="195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8014F-C6A6-4AAD-8707-8A989A97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59" y="2527915"/>
            <a:ext cx="94484" cy="85048"/>
          </a:xfrm>
          <a:custGeom xmlns:a="http://schemas.openxmlformats.org/drawingml/2006/main">
            <a:pathLst>
              <a:path w="94484" h="85048">
                <a:moveTo>
                  <a:pt x="33289" y="85048"/>
                </a:moveTo>
                <a:lnTo>
                  <a:pt x="94484" y="120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18F937FD-5194-4C18-B645-34034E1E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380" y="265230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81122-4634-41E2-94A1-396C91B1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6048"/>
            <a:ext cx="2024508" cy="1259202"/>
          </a:xfrm>
          <a:custGeom xmlns:a="http://schemas.openxmlformats.org/drawingml/2006/main">
            <a:pathLst>
              <a:path w="2024508" h="1259202">
                <a:moveTo>
                  <a:pt x="0" y="1259202"/>
                </a:moveTo>
                <a:lnTo>
                  <a:pt x="1276520" y="759551"/>
                </a:lnTo>
                <a:lnTo>
                  <a:pt x="2024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28F58-84FE-47F9-A199-0738E72E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19" y="2646048"/>
            <a:ext cx="91189" cy="91600"/>
          </a:xfrm>
          <a:custGeom xmlns:a="http://schemas.openxmlformats.org/drawingml/2006/main">
            <a:pathLst>
              <a:path w="91189" h="91600">
                <a:moveTo>
                  <a:pt x="65074" y="91600"/>
                </a:moveTo>
                <a:lnTo>
                  <a:pt x="91189" y="0"/>
                </a:lnTo>
                <a:lnTo>
                  <a:pt x="0" y="2751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B0E61452-856C-4841-8D99-ECD78C52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45" y="3129374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3962C-3A29-4A35-9256-9FE2F196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33575" cy="809205"/>
          </a:xfrm>
          <a:custGeom xmlns:a="http://schemas.openxmlformats.org/drawingml/2006/main">
            <a:pathLst>
              <a:path w="1933575" h="809205">
                <a:moveTo>
                  <a:pt x="0" y="0"/>
                </a:moveTo>
                <a:lnTo>
                  <a:pt x="973397" y="807881"/>
                </a:lnTo>
                <a:lnTo>
                  <a:pt x="1933575" y="80920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8AB21-5639-466C-8A45-AFAECE2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798" y="3192299"/>
            <a:ext cx="83653" cy="91330"/>
          </a:xfrm>
          <a:custGeom xmlns:a="http://schemas.openxmlformats.org/drawingml/2006/main">
            <a:pathLst>
              <a:path w="83653" h="91330">
                <a:moveTo>
                  <a:pt x="0" y="91330"/>
                </a:moveTo>
                <a:lnTo>
                  <a:pt x="83653" y="45780"/>
                </a:lnTo>
                <a:lnTo>
                  <a:pt x="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F1CA5B6-1C05-46CB-92DA-26CCBF20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97" y="296053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3FCAF-8F70-41D6-93EB-9EB370CA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40248" cy="412819"/>
          </a:xfrm>
          <a:custGeom xmlns:a="http://schemas.openxmlformats.org/drawingml/2006/main">
            <a:pathLst>
              <a:path w="1940248" h="412819">
                <a:moveTo>
                  <a:pt x="0" y="0"/>
                </a:moveTo>
                <a:lnTo>
                  <a:pt x="1119188" y="238125"/>
                </a:lnTo>
                <a:lnTo>
                  <a:pt x="1940248" y="4128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C3688-8CC2-475B-A561-3A85C0E5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85" y="4256008"/>
            <a:ext cx="91263" cy="89331"/>
          </a:xfrm>
          <a:custGeom xmlns:a="http://schemas.openxmlformats.org/drawingml/2006/main">
            <a:pathLst>
              <a:path w="91263" h="89331">
                <a:moveTo>
                  <a:pt x="0" y="89331"/>
                </a:moveTo>
                <a:lnTo>
                  <a:pt x="91263" y="62061"/>
                </a:lnTo>
                <a:lnTo>
                  <a:pt x="19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5064AC22-38EE-4CF7-B12B-C990B3F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867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DD4F2-41FA-4ADE-9131-B7FCEC06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7740"/>
            <a:ext cx="1944055" cy="1063760"/>
          </a:xfrm>
          <a:custGeom xmlns:a="http://schemas.openxmlformats.org/drawingml/2006/main">
            <a:pathLst>
              <a:path w="1944055" h="1063760">
                <a:moveTo>
                  <a:pt x="0" y="1063760"/>
                </a:moveTo>
                <a:lnTo>
                  <a:pt x="997898" y="254735"/>
                </a:lnTo>
                <a:lnTo>
                  <a:pt x="1944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6C021-8E2A-45AC-B52A-5830685A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43" y="3295376"/>
            <a:ext cx="92587" cy="88190"/>
          </a:xfrm>
          <a:custGeom xmlns:a="http://schemas.openxmlformats.org/drawingml/2006/main">
            <a:pathLst>
              <a:path w="92587" h="88190">
                <a:moveTo>
                  <a:pt x="23744" y="88190"/>
                </a:moveTo>
                <a:lnTo>
                  <a:pt x="92587" y="223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8768BD4-BE44-4215-BDBB-5FCABD6D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98" y="3296251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2C3FA-6B7B-4843-B71D-76026C25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0452"/>
            <a:ext cx="2001610" cy="951048"/>
          </a:xfrm>
          <a:custGeom xmlns:a="http://schemas.openxmlformats.org/drawingml/2006/main">
            <a:pathLst>
              <a:path w="2001610" h="951048">
                <a:moveTo>
                  <a:pt x="0" y="951048"/>
                </a:moveTo>
                <a:lnTo>
                  <a:pt x="1240477" y="617073"/>
                </a:lnTo>
                <a:lnTo>
                  <a:pt x="200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C6350-6821-47CA-8435-D33374D7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796" y="3430452"/>
            <a:ext cx="93690" cy="88114"/>
          </a:xfrm>
          <a:custGeom xmlns:a="http://schemas.openxmlformats.org/drawingml/2006/main">
            <a:pathLst>
              <a:path w="93690" h="88114">
                <a:moveTo>
                  <a:pt x="57517" y="88114"/>
                </a:moveTo>
                <a:lnTo>
                  <a:pt x="93690" y="0"/>
                </a:lnTo>
                <a:lnTo>
                  <a:pt x="0" y="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99999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AEE65E97-DAF8-4D1A-9585-5AF7F063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377" y="3771299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11D3F-B227-40F1-A88C-A3F4F454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6CA21244-22AC-4079-B13C-F2DA9A3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F44C59-9C97-4DD1-A09E-A38EC687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597187E-418A-4329-821D-8537D146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20B4B8-EC6C-4AA3-858B-ED031CAD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43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12B142F0-8548-400C-8CA4-6AAA6BFB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BFC62F-9A78-4EC9-8A22-3DC58B9A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7C48CE1B-B5F5-498A-B199-7F02D90A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62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BF247A-2125-439A-AF6D-8079F19F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F5D45593-7158-4AC4-87D7-FF33F4F1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箭頭：可用的通訊方向">
            <a:extLst xmlns:a="http://schemas.openxmlformats.org/drawingml/2006/main">
              <a:ext uri="{FF2B5EF4-FFF2-40B4-BE49-F238E27FC236}">
                <a16:creationId xmlns:a16="http://schemas.microsoft.com/office/drawing/2014/main" id="{944BA702-94A5-45D2-81E0-77A98942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箭頭：可用的通訊方向</a:t>
            </a:r>
          </a:p>
        </p:txBody>
      </p:sp>
      <p:sp>
        <p:nvSpPr>
          <p:cNvPr id="39" name="• 取出 L₅(D,12)，本次搜尋結束">
            <a:extLst xmlns:a="http://schemas.openxmlformats.org/drawingml/2006/main">
              <a:ext uri="{FF2B5EF4-FFF2-40B4-BE49-F238E27FC236}">
                <a16:creationId xmlns:a16="http://schemas.microsoft.com/office/drawing/2014/main" id="{DD063408-3D1D-40E6-B8E8-2051497E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取出 L₅(D,12)，本次搜尋結束</a:t>
            </a:r>
          </a:p>
        </p:txBody>
      </p:sp>
      <p:sp>
        <p:nvSpPr>
          <p:cNvPr id="40" name="• pred：L₅ ← L₂ ← L₀">
            <a:extLst xmlns:a="http://schemas.openxmlformats.org/drawingml/2006/main">
              <a:ext uri="{FF2B5EF4-FFF2-40B4-BE49-F238E27FC236}">
                <a16:creationId xmlns:a16="http://schemas.microsoft.com/office/drawing/2014/main" id="{C86F3181-043A-4DAB-B3FB-769D041F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pred：L₅ ← L₂ ← L₀</a:t>
            </a:r>
          </a:p>
        </p:txBody>
      </p:sp>
      <p:sp>
        <p:nvSpPr>
          <p:cNvPr id="41" name="• 反轉後：c4(s=7)、c5(s=10)">
            <a:extLst xmlns:a="http://schemas.openxmlformats.org/drawingml/2006/main">
              <a:ext uri="{FF2B5EF4-FFF2-40B4-BE49-F238E27FC236}">
                <a16:creationId xmlns:a16="http://schemas.microsoft.com/office/drawing/2014/main" id="{44355CB8-24AD-4854-932E-36316E4B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反轉後：c4(s=7)、c5(s=10)</a:t>
            </a:r>
          </a:p>
        </p:txBody>
      </p:sp>
    </p:spTree>
    <p:extLst>
      <p:ext uri="{BB962C8B-B14F-4D97-AF65-F5344CB8AC3E}">
        <p14:creationId xmlns:p14="http://schemas.microsoft.com/office/powerpoint/2010/main" val="109680185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第二包 15：接受後的完整占用">
            <a:extLst xmlns:a="http://schemas.openxmlformats.org/drawingml/2006/main">
              <a:ext uri="{FF2B5EF4-FFF2-40B4-BE49-F238E27FC236}">
                <a16:creationId xmlns:a16="http://schemas.microsoft.com/office/drawing/2014/main" id="{A5F088E7-1C78-405C-8EA6-241FF39A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 15：接受後的完整占用</a:t>
            </a:r>
          </a:p>
        </p:txBody>
      </p:sp>
      <p:sp>
        <p:nvSpPr>
          <p:cNvPr id="2" name="39">
            <a:extLst xmlns:a="http://schemas.openxmlformats.org/drawingml/2006/main">
              <a:ext uri="{FF2B5EF4-FFF2-40B4-BE49-F238E27FC236}">
                <a16:creationId xmlns:a16="http://schemas.microsoft.com/office/drawing/2014/main" id="{321343D2-3329-4A7A-8233-FD00CA63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39</a:t>
            </a:r>
          </a:p>
        </p:txBody>
      </p:sp>
      <p:sp>
        <p:nvSpPr>
          <p:cNvPr id="3" name="兩包在 B 的合計占用峰值為 4 MB，沒有超量。">
            <a:extLst xmlns:a="http://schemas.openxmlformats.org/drawingml/2006/main">
              <a:ext uri="{FF2B5EF4-FFF2-40B4-BE49-F238E27FC236}">
                <a16:creationId xmlns:a16="http://schemas.microsoft.com/office/drawing/2014/main" id="{1EC19F19-9FFE-408A-8CBF-2C24A0BF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兩包在 B 的合計占用峰值為 4 MB，沒有超量。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35FA8-A871-4904-84D0-0D1C8546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9048750" cy="2143125"/>
          </a:xfrm>
          <a:custGeom xmlns:a="http://schemas.openxmlformats.org/drawingml/2006/main">
            <a:pathLst>
              <a:path w="9048750" h="2143125">
                <a:moveTo>
                  <a:pt x="0" y="0"/>
                </a:moveTo>
                <a:lnTo>
                  <a:pt x="0" y="2143125"/>
                </a:lnTo>
                <a:lnTo>
                  <a:pt x="904875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1570B-8642-4E68-A174-224A163A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" name="0">
            <a:extLst xmlns:a="http://schemas.openxmlformats.org/drawingml/2006/main">
              <a:ext uri="{FF2B5EF4-FFF2-40B4-BE49-F238E27FC236}">
                <a16:creationId xmlns:a16="http://schemas.microsoft.com/office/drawing/2014/main" id="{AD057AD5-FD1D-40A8-A87A-0D616304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23C9B-3F54-41C3-B620-AB90B268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9E533E30-700E-470E-93F3-0A06C73D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325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2FF2A-4DBD-4870-9C05-01E70040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60929037-CDC9-406A-8BB4-BA325D40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CA2DD-5B5C-41D7-869C-6F85B582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2" name="6">
            <a:extLst xmlns:a="http://schemas.openxmlformats.org/drawingml/2006/main">
              <a:ext uri="{FF2B5EF4-FFF2-40B4-BE49-F238E27FC236}">
                <a16:creationId xmlns:a16="http://schemas.microsoft.com/office/drawing/2014/main" id="{0EBA2F0F-8923-4EFF-A166-90FED964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94598-E838-4506-A79E-8CF18FAA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62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4" name="8">
            <a:extLst xmlns:a="http://schemas.openxmlformats.org/drawingml/2006/main">
              <a:ext uri="{FF2B5EF4-FFF2-40B4-BE49-F238E27FC236}">
                <a16:creationId xmlns:a16="http://schemas.microsoft.com/office/drawing/2014/main" id="{759A56AF-3960-4E1C-A639-C15A985A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0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0FE21-FE59-47CA-9593-BF21203E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750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6" name="10">
            <a:extLst xmlns:a="http://schemas.openxmlformats.org/drawingml/2006/main">
              <a:ext uri="{FF2B5EF4-FFF2-40B4-BE49-F238E27FC236}">
                <a16:creationId xmlns:a16="http://schemas.microsoft.com/office/drawing/2014/main" id="{2FB6744D-8724-4475-ACFE-1E65CD76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825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ADBA2-86FD-4322-B980-320DCBFA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196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8" name="12">
            <a:extLst xmlns:a="http://schemas.openxmlformats.org/drawingml/2006/main">
              <a:ext uri="{FF2B5EF4-FFF2-40B4-BE49-F238E27FC236}">
                <a16:creationId xmlns:a16="http://schemas.microsoft.com/office/drawing/2014/main" id="{EF7BD844-BB64-4C50-8CBA-94DFDB8B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148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9" name="0">
            <a:extLst xmlns:a="http://schemas.openxmlformats.org/drawingml/2006/main">
              <a:ext uri="{FF2B5EF4-FFF2-40B4-BE49-F238E27FC236}">
                <a16:creationId xmlns:a16="http://schemas.microsoft.com/office/drawing/2014/main" id="{C8D9358C-91EB-4726-81CE-20BA0199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20" name="2">
            <a:extLst xmlns:a="http://schemas.openxmlformats.org/drawingml/2006/main">
              <a:ext uri="{FF2B5EF4-FFF2-40B4-BE49-F238E27FC236}">
                <a16:creationId xmlns:a16="http://schemas.microsoft.com/office/drawing/2014/main" id="{B4D8DBAC-ADC4-4D16-9023-2F4322C6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21" name="4">
            <a:extLst xmlns:a="http://schemas.openxmlformats.org/drawingml/2006/main">
              <a:ext uri="{FF2B5EF4-FFF2-40B4-BE49-F238E27FC236}">
                <a16:creationId xmlns:a16="http://schemas.microsoft.com/office/drawing/2014/main" id="{770C3666-6B17-497B-8CDB-AC512B83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564A0-45BF-4078-AB9F-BA7A0C9F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BBB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C6E68-A5FC-49C2-AA3A-D74FDCED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9048750" cy="1714500"/>
          </a:xfrm>
          <a:custGeom xmlns:a="http://schemas.openxmlformats.org/drawingml/2006/main">
            <a:pathLst>
              <a:path w="9048750" h="1714500">
                <a:moveTo>
                  <a:pt x="0" y="1714500"/>
                </a:moveTo>
                <a:lnTo>
                  <a:pt x="1508125" y="1714500"/>
                </a:lnTo>
                <a:lnTo>
                  <a:pt x="2262188" y="0"/>
                </a:lnTo>
                <a:lnTo>
                  <a:pt x="4524375" y="0"/>
                </a:lnTo>
                <a:lnTo>
                  <a:pt x="5278438" y="1714500"/>
                </a:lnTo>
                <a:lnTo>
                  <a:pt x="6032500" y="0"/>
                </a:lnTo>
                <a:lnTo>
                  <a:pt x="7540625" y="0"/>
                </a:lnTo>
                <a:lnTo>
                  <a:pt x="8294688" y="1714500"/>
                </a:lnTo>
                <a:lnTo>
                  <a:pt x="904875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24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7EE972E8-C38C-41A7-9290-6CB5FC8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00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25" name="時間（秒）">
            <a:extLst xmlns:a="http://schemas.openxmlformats.org/drawingml/2006/main">
              <a:ext uri="{FF2B5EF4-FFF2-40B4-BE49-F238E27FC236}">
                <a16:creationId xmlns:a16="http://schemas.microsoft.com/office/drawing/2014/main" id="{7CE05655-B92E-44E7-92E6-EE63C7C7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673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時間（秒）</a:t>
            </a:r>
          </a:p>
        </p:txBody>
      </p:sp>
      <p:sp>
        <p:nvSpPr>
          <p:cNvPr id="26" name="容量上限 4 MB">
            <a:extLst xmlns:a="http://schemas.openxmlformats.org/drawingml/2006/main">
              <a:ext uri="{FF2B5EF4-FFF2-40B4-BE49-F238E27FC236}">
                <a16:creationId xmlns:a16="http://schemas.microsoft.com/office/drawing/2014/main" id="{2F967313-C60F-4EE8-B2C9-4B6C0F5A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容量上限 4 MB</a:t>
            </a:r>
          </a:p>
        </p:txBody>
      </p:sp>
      <p:sp>
        <p:nvSpPr>
          <p:cNvPr id="27" name="B：第一包＋第二包的合計占用">
            <a:extLst xmlns:a="http://schemas.openxmlformats.org/drawingml/2006/main">
              <a:ext uri="{FF2B5EF4-FFF2-40B4-BE49-F238E27FC236}">
                <a16:creationId xmlns:a16="http://schemas.microsoft.com/office/drawing/2014/main" id="{97D2A6ED-8DA8-4C5F-8581-A622A1FC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B：第一包＋第二包的合計占用</a:t>
            </a:r>
          </a:p>
        </p:txBody>
      </p:sp>
    </p:spTree>
    <p:extLst>
      <p:ext uri="{BB962C8B-B14F-4D97-AF65-F5344CB8AC3E}">
        <p14:creationId xmlns:p14="http://schemas.microsoft.com/office/powerpoint/2010/main" val="161181789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二包標籤總表：每個結果可追溯">
            <a:extLst xmlns:a="http://schemas.openxmlformats.org/drawingml/2006/main">
              <a:ext uri="{FF2B5EF4-FFF2-40B4-BE49-F238E27FC236}">
                <a16:creationId xmlns:a16="http://schemas.microsoft.com/office/drawing/2014/main" id="{164B72DF-2ED4-4F8C-85AE-54FE465E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第二包標籤總表：每個結果可追溯</a:t>
            </a:r>
          </a:p>
        </p:txBody>
      </p:sp>
      <p:sp>
        <p:nvSpPr>
          <p:cNvPr id="2" name="40">
            <a:extLst xmlns:a="http://schemas.openxmlformats.org/drawingml/2006/main">
              <a:ext uri="{FF2B5EF4-FFF2-40B4-BE49-F238E27FC236}">
                <a16:creationId xmlns:a16="http://schemas.microsoft.com/office/drawing/2014/main" id="{DA74E3E6-FAB4-4EF1-842C-1A51DCE4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40</a:t>
            </a:r>
          </a:p>
        </p:txBody>
      </p:sp>
      <p:sp>
        <p:nvSpPr>
          <p:cNvPr id="3" name="「延伸失敗」、「被支配」、「已展開」是不同的狀態。">
            <a:extLst xmlns:a="http://schemas.openxmlformats.org/drawingml/2006/main">
              <a:ext uri="{FF2B5EF4-FFF2-40B4-BE49-F238E27FC236}">
                <a16:creationId xmlns:a16="http://schemas.microsoft.com/office/drawing/2014/main" id="{58566D7C-1EF3-495E-96B0-68A5C55A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「延伸失敗」、「被支配」、「已展開」是不同的狀態。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1619250"/>
          <a:ext xmlns:a="http://schemas.openxmlformats.org/drawingml/2006/main" cx="10515600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2143125"/>
                <a:gridCol w="3048000"/>
                <a:gridCol w="394335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標籤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節點／時間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非零 U（MB）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最終處理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A，1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已展開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B，2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c3:4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已展開，後續皆失敗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B，8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c4:4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已展開，選定路徑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B，9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c4:4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被 L₂ 支配，不入列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C，3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c6:4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已展開，後續皆失敗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D，12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c4:4、c5:4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取出目的地，回傳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82192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如何驗證目前版本？">
            <a:extLst xmlns:a="http://schemas.openxmlformats.org/drawingml/2006/main">
              <a:ext uri="{FF2B5EF4-FFF2-40B4-BE49-F238E27FC236}">
                <a16:creationId xmlns:a16="http://schemas.microsoft.com/office/drawing/2014/main" id="{D7F1A02C-F5B2-4BD9-927B-DA6F8B89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如何驗證目前版本？</a:t>
            </a:r>
          </a:p>
        </p:txBody>
      </p:sp>
      <p:sp>
        <p:nvSpPr>
          <p:cNvPr id="2" name="41">
            <a:extLst xmlns:a="http://schemas.openxmlformats.org/drawingml/2006/main">
              <a:ext uri="{FF2B5EF4-FFF2-40B4-BE49-F238E27FC236}">
                <a16:creationId xmlns:a16="http://schemas.microsoft.com/office/drawing/2014/main" id="{C44CBC99-E0BB-421D-AAF9-CAEDEF55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41</a:t>
            </a:r>
          </a:p>
        </p:txBody>
      </p:sp>
      <p:sp>
        <p:nvSpPr>
          <p:cNvPr id="3" name="驗證程式必須採用相同模型，才能判斷演算法是否出錯。">
            <a:extLst xmlns:a="http://schemas.openxmlformats.org/drawingml/2006/main">
              <a:ext uri="{FF2B5EF4-FFF2-40B4-BE49-F238E27FC236}">
                <a16:creationId xmlns:a16="http://schemas.microsoft.com/office/drawing/2014/main" id="{E375AB51-64EC-4423-BABC-DC1D99E5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驗證程式必須採用相同模型，才能判斷演算法是否出錯。</a:t>
            </a:r>
          </a:p>
        </p:txBody>
      </p:sp>
      <p:sp>
        <p:nvSpPr>
          <p:cNvPr id="4" name="• 保留原演算法定義，固定測試輸入">
            <a:extLst xmlns:a="http://schemas.openxmlformats.org/drawingml/2006/main">
              <a:ext uri="{FF2B5EF4-FFF2-40B4-BE49-F238E27FC236}">
                <a16:creationId xmlns:a16="http://schemas.microsoft.com/office/drawing/2014/main" id="{F4910417-E156-4F4F-85F2-7B6C88BD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保留原演算法定義，固定測試輸入</a:t>
            </a:r>
          </a:p>
        </p:txBody>
      </p:sp>
      <p:sp>
        <p:nvSpPr>
          <p:cNvPr id="5" name="• 獨立列舉路徑與格點發送時刻，作為比較答案">
            <a:extLst xmlns:a="http://schemas.openxmlformats.org/drawingml/2006/main">
              <a:ext uri="{FF2B5EF4-FFF2-40B4-BE49-F238E27FC236}">
                <a16:creationId xmlns:a16="http://schemas.microsoft.com/office/drawing/2014/main" id="{0B59BE5D-5E10-409B-AFCC-E1B75562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獨立列舉路徑與格點發送時刻，作為比較答案</a:t>
            </a:r>
          </a:p>
        </p:txBody>
      </p:sp>
      <p:sp>
        <p:nvSpPr>
          <p:cNvPr id="6" name="• 比較可行性與最早完整到達時間">
            <a:extLst xmlns:a="http://schemas.openxmlformats.org/drawingml/2006/main">
              <a:ext uri="{FF2B5EF4-FFF2-40B4-BE49-F238E27FC236}">
                <a16:creationId xmlns:a16="http://schemas.microsoft.com/office/drawing/2014/main" id="{16E9B10C-2E56-4076-8706-5954A5A7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比較可行性與最早完整到達時間</a:t>
            </a:r>
          </a:p>
        </p:txBody>
      </p:sp>
      <p:sp>
        <p:nvSpPr>
          <p:cNvPr id="7" name="• 另外關閉支配刪除，檢查答案是否改變">
            <a:extLst xmlns:a="http://schemas.openxmlformats.org/drawingml/2006/main">
              <a:ext uri="{FF2B5EF4-FFF2-40B4-BE49-F238E27FC236}">
                <a16:creationId xmlns:a16="http://schemas.microsoft.com/office/drawing/2014/main" id="{C2C3A229-D1B8-4FD5-ACEB-A14053D6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另外關閉支配刪除，檢查答案是否改變</a:t>
            </a:r>
          </a:p>
        </p:txBody>
      </p:sp>
    </p:spTree>
    <p:extLst>
      <p:ext uri="{BB962C8B-B14F-4D97-AF65-F5344CB8AC3E}">
        <p14:creationId xmlns:p14="http://schemas.microsoft.com/office/powerpoint/2010/main" val="156035196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驗證結果與適用範圍">
            <a:extLst xmlns:a="http://schemas.openxmlformats.org/drawingml/2006/main">
              <a:ext uri="{FF2B5EF4-FFF2-40B4-BE49-F238E27FC236}">
                <a16:creationId xmlns:a16="http://schemas.microsoft.com/office/drawing/2014/main" id="{17065C4F-A9A3-4000-BB5F-DBFF2499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驗證結果與適用範圍</a:t>
            </a:r>
          </a:p>
        </p:txBody>
      </p:sp>
      <p:sp>
        <p:nvSpPr>
          <p:cNvPr id="2" name="42">
            <a:extLst xmlns:a="http://schemas.openxmlformats.org/drawingml/2006/main">
              <a:ext uri="{FF2B5EF4-FFF2-40B4-BE49-F238E27FC236}">
                <a16:creationId xmlns:a16="http://schemas.microsoft.com/office/drawing/2014/main" id="{22CC965F-A873-48D4-AB68-CA999352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42</a:t>
            </a:r>
          </a:p>
        </p:txBody>
      </p:sp>
      <p:sp>
        <p:nvSpPr>
          <p:cNvPr id="3" name="目前未找到同一離散時間模型內的失敗案例；尚非所有輸入的正確性證明">
            <a:extLst xmlns:a="http://schemas.openxmlformats.org/drawingml/2006/main">
              <a:ext uri="{FF2B5EF4-FFF2-40B4-BE49-F238E27FC236}">
                <a16:creationId xmlns:a16="http://schemas.microsoft.com/office/drawing/2014/main" id="{BE0C1461-4B33-4DF8-A23F-9B178D69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目前未找到同一離散時間模型內的失敗案例；尚非所有輸入的正確性證明。</a:t>
            </a:r>
          </a:p>
        </p:txBody>
      </p:sp>
      <p:sp>
        <p:nvSpPr>
          <p:cNvPr id="4" name="• 14 個人工案例，共 15 次單包查詢">
            <a:extLst xmlns:a="http://schemas.openxmlformats.org/drawingml/2006/main">
              <a:ext uri="{FF2B5EF4-FFF2-40B4-BE49-F238E27FC236}">
                <a16:creationId xmlns:a16="http://schemas.microsoft.com/office/drawing/2014/main" id="{EE9E8700-195F-4544-831B-00A27863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14 個人工案例，共 15 次單包查詢</a:t>
            </a:r>
          </a:p>
        </p:txBody>
      </p:sp>
      <p:sp>
        <p:nvSpPr>
          <p:cNvPr id="5" name="• 15 次查詢與獨立列舉答案全部一致">
            <a:extLst xmlns:a="http://schemas.openxmlformats.org/drawingml/2006/main">
              <a:ext uri="{FF2B5EF4-FFF2-40B4-BE49-F238E27FC236}">
                <a16:creationId xmlns:a16="http://schemas.microsoft.com/office/drawing/2014/main" id="{91C6B9AF-4754-4002-B065-094F021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15 次查詢與獨立列舉答案全部一致</a:t>
            </a:r>
          </a:p>
        </p:txBody>
      </p:sp>
      <p:sp>
        <p:nvSpPr>
          <p:cNvPr id="6" name="• 18 項單元測試通過">
            <a:extLst xmlns:a="http://schemas.openxmlformats.org/drawingml/2006/main">
              <a:ext uri="{FF2B5EF4-FFF2-40B4-BE49-F238E27FC236}">
                <a16:creationId xmlns:a16="http://schemas.microsoft.com/office/drawing/2014/main" id="{9292C806-DC5F-4745-A2A7-3AEA0A20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18 項單元測試通過</a:t>
            </a:r>
          </a:p>
        </p:txBody>
      </p:sp>
      <p:sp>
        <p:nvSpPr>
          <p:cNvPr id="7" name="• 啟用／停用支配刪除，15 次答案相同">
            <a:extLst xmlns:a="http://schemas.openxmlformats.org/drawingml/2006/main">
              <a:ext uri="{FF2B5EF4-FFF2-40B4-BE49-F238E27FC236}">
                <a16:creationId xmlns:a16="http://schemas.microsoft.com/office/drawing/2014/main" id="{9B334F43-75BB-40BE-9C4D-7483B923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啟用／停用支配刪除，15 次答案相同</a:t>
            </a:r>
          </a:p>
        </p:txBody>
      </p:sp>
    </p:spTree>
    <p:extLst>
      <p:ext uri="{BB962C8B-B14F-4D97-AF65-F5344CB8AC3E}">
        <p14:creationId xmlns:p14="http://schemas.microsoft.com/office/powerpoint/2010/main" val="197414065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支配刪除的觀察結果">
            <a:extLst xmlns:a="http://schemas.openxmlformats.org/drawingml/2006/main">
              <a:ext uri="{FF2B5EF4-FFF2-40B4-BE49-F238E27FC236}">
                <a16:creationId xmlns:a16="http://schemas.microsoft.com/office/drawing/2014/main" id="{71333426-6207-40BE-BB96-02C4E7FE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支配刪除的觀察結果</a:t>
            </a:r>
          </a:p>
        </p:txBody>
      </p:sp>
      <p:sp>
        <p:nvSpPr>
          <p:cNvPr id="2" name="43">
            <a:extLst xmlns:a="http://schemas.openxmlformats.org/drawingml/2006/main">
              <a:ext uri="{FF2B5EF4-FFF2-40B4-BE49-F238E27FC236}">
                <a16:creationId xmlns:a16="http://schemas.microsoft.com/office/drawing/2014/main" id="{0BA5E21B-2C37-48F1-B43D-F6B898F6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43</a:t>
            </a:r>
          </a:p>
        </p:txBody>
      </p:sp>
      <p:sp>
        <p:nvSpPr>
          <p:cNvPr id="3" name="下一階段才適合評估更大規模的時間與記憶體成本。">
            <a:extLst xmlns:a="http://schemas.openxmlformats.org/drawingml/2006/main">
              <a:ext uri="{FF2B5EF4-FFF2-40B4-BE49-F238E27FC236}">
                <a16:creationId xmlns:a16="http://schemas.microsoft.com/office/drawing/2014/main" id="{AF55DF30-2B02-43B3-9842-3B5787E0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下一階段才適合評估更大規模的時間與記憶體成本。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051560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95500"/>
                <a:gridCol w="2095500"/>
                <a:gridCol w="213360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案例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停用支配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啟用支配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最佳到達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可刪除標籤案例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5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兩包範例：第二包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12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指標：加入優先佇列的標籤數">
            <a:extLst xmlns:a="http://schemas.openxmlformats.org/drawingml/2006/main">
              <a:ext uri="{FF2B5EF4-FFF2-40B4-BE49-F238E27FC236}">
                <a16:creationId xmlns:a16="http://schemas.microsoft.com/office/drawing/2014/main" id="{0B5185D6-6F1B-4C34-8DF7-951A3897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指標：加入優先佇列的標籤數</a:t>
            </a:r>
          </a:p>
        </p:txBody>
      </p:sp>
    </p:spTree>
    <p:extLst>
      <p:ext uri="{BB962C8B-B14F-4D97-AF65-F5344CB8AC3E}">
        <p14:creationId xmlns:p14="http://schemas.microsoft.com/office/powerpoint/2010/main" val="167603266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限制一：格點最早 ≠ 連續時間最早">
            <a:extLst xmlns:a="http://schemas.openxmlformats.org/drawingml/2006/main">
              <a:ext uri="{FF2B5EF4-FFF2-40B4-BE49-F238E27FC236}">
                <a16:creationId xmlns:a16="http://schemas.microsoft.com/office/drawing/2014/main" id="{68E6FE56-2307-48D0-9B78-BFC71244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限制一：格點最早 ≠ 連續時間最早</a:t>
            </a:r>
          </a:p>
        </p:txBody>
      </p:sp>
      <p:sp>
        <p:nvSpPr>
          <p:cNvPr id="2" name="44">
            <a:extLst xmlns:a="http://schemas.openxmlformats.org/drawingml/2006/main">
              <a:ext uri="{FF2B5EF4-FFF2-40B4-BE49-F238E27FC236}">
                <a16:creationId xmlns:a16="http://schemas.microsoft.com/office/drawing/2014/main" id="{60D4E938-9517-404F-AE52-A0544658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44</a:t>
            </a:r>
          </a:p>
        </p:txBody>
      </p:sp>
      <p:sp>
        <p:nvSpPr>
          <p:cNvPr id="3" name="現有結果只支持離散時間版本，不能直接宣稱連續時間最佳。">
            <a:extLst xmlns:a="http://schemas.openxmlformats.org/drawingml/2006/main">
              <a:ext uri="{FF2B5EF4-FFF2-40B4-BE49-F238E27FC236}">
                <a16:creationId xmlns:a16="http://schemas.microsoft.com/office/drawing/2014/main" id="{36FB2EEB-0A80-4C2A-9D94-D4CCD8C0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現有結果只支持離散時間版本，不能直接宣稱連續時間最佳。</a:t>
            </a:r>
          </a:p>
        </p:txBody>
      </p:sp>
      <p:sp>
        <p:nvSpPr>
          <p:cNvPr id="4" name="• Δ = 1 秒時，最佳完整到達為 4 秒">
            <a:extLst xmlns:a="http://schemas.openxmlformats.org/drawingml/2006/main">
              <a:ext uri="{FF2B5EF4-FFF2-40B4-BE49-F238E27FC236}">
                <a16:creationId xmlns:a16="http://schemas.microsoft.com/office/drawing/2014/main" id="{2C05D760-2BC3-40B7-9D6D-8B03B280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Δ = 1 秒時，最佳完整到達為 4 秒</a:t>
            </a:r>
          </a:p>
        </p:txBody>
      </p:sp>
      <p:sp>
        <p:nvSpPr>
          <p:cNvPr id="5" name="• 允許非整數起始時刻，可於 3.5 秒到達">
            <a:extLst xmlns:a="http://schemas.openxmlformats.org/drawingml/2006/main">
              <a:ext uri="{FF2B5EF4-FFF2-40B4-BE49-F238E27FC236}">
                <a16:creationId xmlns:a16="http://schemas.microsoft.com/office/drawing/2014/main" id="{EA8530CF-9585-4F7F-ADE5-DF3D4DF9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允許非整數起始時刻，可於 3.5 秒到達</a:t>
            </a:r>
          </a:p>
        </p:txBody>
      </p:sp>
      <p:sp>
        <p:nvSpPr>
          <p:cNvPr id="6" name="• 緩衝區門檻可能產生新的非整數時刻">
            <a:extLst xmlns:a="http://schemas.openxmlformats.org/drawingml/2006/main">
              <a:ext uri="{FF2B5EF4-FFF2-40B4-BE49-F238E27FC236}">
                <a16:creationId xmlns:a16="http://schemas.microsoft.com/office/drawing/2014/main" id="{EC2D84DF-E59B-453D-BA4E-C79218FD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6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緩衝區門檻可能產生新的非整數時刻</a:t>
            </a:r>
          </a:p>
        </p:txBody>
      </p:sp>
      <p:sp>
        <p:nvSpPr>
          <p:cNvPr id="7" name="連續時間 3.5 秒     ／     整數格點 4 秒">
            <a:extLst xmlns:a="http://schemas.openxmlformats.org/drawingml/2006/main">
              <a:ext uri="{FF2B5EF4-FFF2-40B4-BE49-F238E27FC236}">
                <a16:creationId xmlns:a16="http://schemas.microsoft.com/office/drawing/2014/main" id="{92D39878-5486-4136-9DC6-24E0CE22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連續時間 3.5 秒     ／     整數格點 4 秒</a:t>
            </a:r>
          </a:p>
        </p:txBody>
      </p:sp>
    </p:spTree>
    <p:extLst>
      <p:ext uri="{BB962C8B-B14F-4D97-AF65-F5344CB8AC3E}">
        <p14:creationId xmlns:p14="http://schemas.microsoft.com/office/powerpoint/2010/main" val="1819028979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限制二：總容量不等於可排入整包">
            <a:extLst xmlns:a="http://schemas.openxmlformats.org/drawingml/2006/main">
              <a:ext uri="{FF2B5EF4-FFF2-40B4-BE49-F238E27FC236}">
                <a16:creationId xmlns:a16="http://schemas.microsoft.com/office/drawing/2014/main" id="{BDEC55A2-613C-42E4-87E8-75017CA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限制二：總容量不等於可排入整包</a:t>
            </a:r>
          </a:p>
        </p:txBody>
      </p:sp>
      <p:sp>
        <p:nvSpPr>
          <p:cNvPr id="2" name="45">
            <a:extLst xmlns:a="http://schemas.openxmlformats.org/drawingml/2006/main">
              <a:ext uri="{FF2B5EF4-FFF2-40B4-BE49-F238E27FC236}">
                <a16:creationId xmlns:a16="http://schemas.microsoft.com/office/drawing/2014/main" id="{1AE95986-3956-4AE6-8B96-1E7DC352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45</a:t>
            </a:r>
          </a:p>
        </p:txBody>
      </p:sp>
      <p:sp>
        <p:nvSpPr>
          <p:cNvPr id="3" name="加入已排定傳輸時段表之前，不能保證實際鏈路排程可行。">
            <a:extLst xmlns:a="http://schemas.openxmlformats.org/drawingml/2006/main">
              <a:ext uri="{FF2B5EF4-FFF2-40B4-BE49-F238E27FC236}">
                <a16:creationId xmlns:a16="http://schemas.microsoft.com/office/drawing/2014/main" id="{EA0D31BE-08FD-462C-B80A-C08F9C32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加入已排定傳輸時段表之前，不能保證實際鏈路排程可行。</a:t>
            </a:r>
          </a:p>
        </p:txBody>
      </p:sp>
      <p:sp>
        <p:nvSpPr>
          <p:cNvPr id="4" name="• contact 長 6 秒；剩餘總容量 3 MB">
            <a:extLst xmlns:a="http://schemas.openxmlformats.org/drawingml/2006/main">
              <a:ext uri="{FF2B5EF4-FFF2-40B4-BE49-F238E27FC236}">
                <a16:creationId xmlns:a16="http://schemas.microsoft.com/office/drawing/2014/main" id="{D514158C-F63E-48B8-941A-3D8AD07B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contact 長 6 秒；剩餘總容量 3 MB</a:t>
            </a:r>
          </a:p>
        </p:txBody>
      </p:sp>
      <p:sp>
        <p:nvSpPr>
          <p:cNvPr id="5" name="• 速率 1 MB/s，新 bundle 需連續傳送 2 秒">
            <a:extLst xmlns:a="http://schemas.openxmlformats.org/drawingml/2006/main">
              <a:ext uri="{FF2B5EF4-FFF2-40B4-BE49-F238E27FC236}">
                <a16:creationId xmlns:a16="http://schemas.microsoft.com/office/drawing/2014/main" id="{74BB721E-3A2F-4AE6-AAA7-142B8FEE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速率 1 MB/s，新 bundle 需連續傳送 2 秒</a:t>
            </a:r>
          </a:p>
        </p:txBody>
      </p:sp>
      <p:sp>
        <p:nvSpPr>
          <p:cNvPr id="6" name="• 空檔各只有 1 秒，無法排入整包">
            <a:extLst xmlns:a="http://schemas.openxmlformats.org/drawingml/2006/main">
              <a:ext uri="{FF2B5EF4-FFF2-40B4-BE49-F238E27FC236}">
                <a16:creationId xmlns:a16="http://schemas.microsoft.com/office/drawing/2014/main" id="{9ECCC1A5-9487-4F89-8188-4D672BE6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空檔各只有 1 秒，無法排入整包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CC89F-9B4B-4863-96A2-4D9BBAB8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D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空檔">
            <a:extLst xmlns:a="http://schemas.openxmlformats.org/drawingml/2006/main">
              <a:ext uri="{FF2B5EF4-FFF2-40B4-BE49-F238E27FC236}">
                <a16:creationId xmlns:a16="http://schemas.microsoft.com/office/drawing/2014/main" id="{B72D566B-AFCA-4415-AC0C-98BB039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空檔</a:t>
            </a:r>
          </a:p>
        </p:txBody>
      </p:sp>
      <p:sp>
        <p:nvSpPr>
          <p:cNvPr id="9" name="0">
            <a:extLst xmlns:a="http://schemas.openxmlformats.org/drawingml/2006/main">
              <a:ext uri="{FF2B5EF4-FFF2-40B4-BE49-F238E27FC236}">
                <a16:creationId xmlns:a16="http://schemas.microsoft.com/office/drawing/2014/main" id="{A8C436A9-A56A-4387-A37F-1312C41D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29210-3F9D-4500-ADDB-B3E178A1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0C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已占用">
            <a:extLst xmlns:a="http://schemas.openxmlformats.org/drawingml/2006/main">
              <a:ext uri="{FF2B5EF4-FFF2-40B4-BE49-F238E27FC236}">
                <a16:creationId xmlns:a16="http://schemas.microsoft.com/office/drawing/2014/main" id="{7ADABAF3-2FA6-4685-8B60-9FEDE9EA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已占用</a:t>
            </a:r>
          </a:p>
        </p:txBody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20024F24-98E4-4DF0-8C46-E40CB81C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7FDAF-88A8-4CDC-A150-1C81E03F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D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空檔">
            <a:extLst xmlns:a="http://schemas.openxmlformats.org/drawingml/2006/main">
              <a:ext uri="{FF2B5EF4-FFF2-40B4-BE49-F238E27FC236}">
                <a16:creationId xmlns:a16="http://schemas.microsoft.com/office/drawing/2014/main" id="{6CCD1DE6-CC19-4E3F-B902-812B278C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空檔</a:t>
            </a:r>
          </a:p>
        </p:txBody>
      </p:sp>
      <p:sp>
        <p:nvSpPr>
          <p:cNvPr id="15" name="2">
            <a:extLst xmlns:a="http://schemas.openxmlformats.org/drawingml/2006/main">
              <a:ext uri="{FF2B5EF4-FFF2-40B4-BE49-F238E27FC236}">
                <a16:creationId xmlns:a16="http://schemas.microsoft.com/office/drawing/2014/main" id="{E3036D3D-C578-4A15-A259-4AEF23D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9F1E8-3853-4390-AED3-63FB2C7F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0C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已占用">
            <a:extLst xmlns:a="http://schemas.openxmlformats.org/drawingml/2006/main">
              <a:ext uri="{FF2B5EF4-FFF2-40B4-BE49-F238E27FC236}">
                <a16:creationId xmlns:a16="http://schemas.microsoft.com/office/drawing/2014/main" id="{E06C5CEF-17F7-43AB-9548-414E3644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已占用</a:t>
            </a:r>
          </a:p>
        </p:txBody>
      </p:sp>
      <p:sp>
        <p:nvSpPr>
          <p:cNvPr id="18" name="3">
            <a:extLst xmlns:a="http://schemas.openxmlformats.org/drawingml/2006/main">
              <a:ext uri="{FF2B5EF4-FFF2-40B4-BE49-F238E27FC236}">
                <a16:creationId xmlns:a16="http://schemas.microsoft.com/office/drawing/2014/main" id="{C1282FE6-E5A0-411B-BD91-C7CC8EAF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3BBCE-6870-4E16-8AB5-6C553C6D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D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空檔">
            <a:extLst xmlns:a="http://schemas.openxmlformats.org/drawingml/2006/main">
              <a:ext uri="{FF2B5EF4-FFF2-40B4-BE49-F238E27FC236}">
                <a16:creationId xmlns:a16="http://schemas.microsoft.com/office/drawing/2014/main" id="{300F3372-0A8E-4B06-BDB8-DA6731CF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空檔</a:t>
            </a:r>
          </a:p>
        </p:txBody>
      </p:sp>
      <p:sp>
        <p:nvSpPr>
          <p:cNvPr id="21" name="4">
            <a:extLst xmlns:a="http://schemas.openxmlformats.org/drawingml/2006/main">
              <a:ext uri="{FF2B5EF4-FFF2-40B4-BE49-F238E27FC236}">
                <a16:creationId xmlns:a16="http://schemas.microsoft.com/office/drawing/2014/main" id="{8A5F7823-ABA8-4C50-81A7-4860A1F0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09795-FF98-4A3B-B1CD-B100F84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1571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0C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已占用">
            <a:extLst xmlns:a="http://schemas.openxmlformats.org/drawingml/2006/main">
              <a:ext uri="{FF2B5EF4-FFF2-40B4-BE49-F238E27FC236}">
                <a16:creationId xmlns:a16="http://schemas.microsoft.com/office/drawing/2014/main" id="{DEAC27D6-7317-4DC1-9031-0ED04A77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671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已占用</a:t>
            </a:r>
          </a:p>
        </p:txBody>
      </p:sp>
      <p:sp>
        <p:nvSpPr>
          <p:cNvPr id="24" name="5">
            <a:extLst xmlns:a="http://schemas.openxmlformats.org/drawingml/2006/main">
              <a:ext uri="{FF2B5EF4-FFF2-40B4-BE49-F238E27FC236}">
                <a16:creationId xmlns:a16="http://schemas.microsoft.com/office/drawing/2014/main" id="{026CBBD5-C233-45BC-95F4-C94376C3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29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25" name="6 秒">
            <a:extLst xmlns:a="http://schemas.openxmlformats.org/drawingml/2006/main">
              <a:ext uri="{FF2B5EF4-FFF2-40B4-BE49-F238E27FC236}">
                <a16:creationId xmlns:a16="http://schemas.microsoft.com/office/drawing/2014/main" id="{CA639EC1-B1F0-4CB3-9C1E-65646B62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29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6 秒</a:t>
            </a:r>
          </a:p>
        </p:txBody>
      </p:sp>
    </p:spTree>
    <p:extLst>
      <p:ext uri="{BB962C8B-B14F-4D97-AF65-F5344CB8AC3E}">
        <p14:creationId xmlns:p14="http://schemas.microsoft.com/office/powerpoint/2010/main" val="97918884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目前結論與下一步">
            <a:extLst xmlns:a="http://schemas.openxmlformats.org/drawingml/2006/main">
              <a:ext uri="{FF2B5EF4-FFF2-40B4-BE49-F238E27FC236}">
                <a16:creationId xmlns:a16="http://schemas.microsoft.com/office/drawing/2014/main" id="{B948A5FE-EA1A-4B67-84E1-D776CF74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目前結論與下一步</a:t>
            </a:r>
          </a:p>
        </p:txBody>
      </p:sp>
      <p:sp>
        <p:nvSpPr>
          <p:cNvPr id="2" name="46">
            <a:extLst xmlns:a="http://schemas.openxmlformats.org/drawingml/2006/main">
              <a:ext uri="{FF2B5EF4-FFF2-40B4-BE49-F238E27FC236}">
                <a16:creationId xmlns:a16="http://schemas.microsoft.com/office/drawing/2014/main" id="{F35BDE08-5A4B-4DD5-AB92-ED366AE2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46</a:t>
            </a:r>
          </a:p>
        </p:txBody>
      </p:sp>
      <p:sp>
        <p:nvSpPr>
          <p:cNvPr id="3" name="先界定並證明目前模型，再決定擴充範圍與效能比較。">
            <a:extLst xmlns:a="http://schemas.openxmlformats.org/drawingml/2006/main">
              <a:ext uri="{FF2B5EF4-FFF2-40B4-BE49-F238E27FC236}">
                <a16:creationId xmlns:a16="http://schemas.microsoft.com/office/drawing/2014/main" id="{AC3F6F30-8ABC-4E93-9276-CD7108BB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先界定並證明目前模型，再決定擴充範圍與效能比較。</a:t>
            </a:r>
          </a:p>
        </p:txBody>
      </p:sp>
      <p:sp>
        <p:nvSpPr>
          <p:cNvPr id="4" name="• 已建立：時間、整包容量與逐 byte buffer 檢查">
            <a:extLst xmlns:a="http://schemas.openxmlformats.org/drawingml/2006/main">
              <a:ext uri="{FF2B5EF4-FFF2-40B4-BE49-F238E27FC236}">
                <a16:creationId xmlns:a16="http://schemas.microsoft.com/office/drawing/2014/main" id="{23CEC4AC-EBE6-4CAF-8E24-68AC44B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已建立：時間、整包容量與逐 byte buffer 檢查</a:t>
            </a:r>
          </a:p>
        </p:txBody>
      </p:sp>
      <p:sp>
        <p:nvSpPr>
          <p:cNvPr id="5" name="• 已驗證：小型格點案例與支配刪除的一致性">
            <a:extLst xmlns:a="http://schemas.openxmlformats.org/drawingml/2006/main">
              <a:ext uri="{FF2B5EF4-FFF2-40B4-BE49-F238E27FC236}">
                <a16:creationId xmlns:a16="http://schemas.microsoft.com/office/drawing/2014/main" id="{AD911B98-CFA2-437A-A976-A961E7FF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已驗證：小型格點案例與支配刪除的一致性</a:t>
            </a:r>
          </a:p>
        </p:txBody>
      </p:sp>
      <p:sp>
        <p:nvSpPr>
          <p:cNvPr id="6" name="• 待補：一般性證明與連續時間候選時刻">
            <a:extLst xmlns:a="http://schemas.openxmlformats.org/drawingml/2006/main">
              <a:ext uri="{FF2B5EF4-FFF2-40B4-BE49-F238E27FC236}">
                <a16:creationId xmlns:a16="http://schemas.microsoft.com/office/drawing/2014/main" id="{2361C03F-6921-4EA9-86C5-9FC46CAB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待補：一般性證明與連續時間候選時刻</a:t>
            </a:r>
          </a:p>
        </p:txBody>
      </p:sp>
      <p:sp>
        <p:nvSpPr>
          <p:cNvPr id="7" name="• 後續擴充：已排定傳輸時段表；需另行確認修正">
            <a:extLst xmlns:a="http://schemas.openxmlformats.org/drawingml/2006/main">
              <a:ext uri="{FF2B5EF4-FFF2-40B4-BE49-F238E27FC236}">
                <a16:creationId xmlns:a16="http://schemas.microsoft.com/office/drawing/2014/main" id="{34953A2D-FA44-4137-897B-2B5DB652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後續擴充：已排定傳輸時段表；需另行確認修正</a:t>
            </a:r>
          </a:p>
        </p:txBody>
      </p:sp>
    </p:spTree>
    <p:extLst>
      <p:ext uri="{BB962C8B-B14F-4D97-AF65-F5344CB8AC3E}">
        <p14:creationId xmlns:p14="http://schemas.microsoft.com/office/powerpoint/2010/main" val="141055206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錄：範例 Contact Plan">
            <a:extLst xmlns:a="http://schemas.openxmlformats.org/drawingml/2006/main">
              <a:ext uri="{FF2B5EF4-FFF2-40B4-BE49-F238E27FC236}">
                <a16:creationId xmlns:a16="http://schemas.microsoft.com/office/drawing/2014/main" id="{2449E087-3EAF-476D-AE06-911DCDA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附錄：範例 Contact Plan</a:t>
            </a:r>
          </a:p>
        </p:txBody>
      </p:sp>
      <p:sp>
        <p:nvSpPr>
          <p:cNvPr id="2" name="47">
            <a:extLst xmlns:a="http://schemas.openxmlformats.org/drawingml/2006/main">
              <a:ext uri="{FF2B5EF4-FFF2-40B4-BE49-F238E27FC236}">
                <a16:creationId xmlns:a16="http://schemas.microsoft.com/office/drawing/2014/main" id="{7DF3C603-B0E2-4430-BF45-B04AF2FD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47</a:t>
            </a:r>
          </a:p>
        </p:txBody>
      </p:sp>
      <p:sp>
        <p:nvSpPr>
          <p:cNvPr id="3" name="同一拓樸可以有多個不同時段的 contact。">
            <a:extLst xmlns:a="http://schemas.openxmlformats.org/drawingml/2006/main">
              <a:ext uri="{FF2B5EF4-FFF2-40B4-BE49-F238E27FC236}">
                <a16:creationId xmlns:a16="http://schemas.microsoft.com/office/drawing/2014/main" id="{3C6AF40E-7A7C-4300-B428-943D9884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同一拓樸可以有多個不同時段的 contact。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1600200"/>
          <a:ext xmlns:a="http://schemas.openxmlformats.org/drawingml/2006/main" cx="105156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667000"/>
                <a:gridCol w="2476500"/>
                <a:gridCol w="2019300"/>
                <a:gridCol w="2019300"/>
              </a:tblGrid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時段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δ（秒）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R（MB）</a:t>
                      </a:r>
                    </a:p>
                  </a:txBody>
                  <a:tcPr marL="91440" marR="91440" marT="45720" marB="45720">
                    <a:solidFill>
                      <a:srgbClr val="EAEAF5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X →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2～3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 →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6～7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 →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1～2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 →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7～9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 →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10～11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 →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1～2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 →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4～5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 →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2～3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709462"/>
      </p:ext>
    </p:extLst>
  </p:cSld>
</p:sld>
</file>

<file path=ppt/theme/theme1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2026-10-05T08:15:27.7260000Z</dcterms:created>
  <dcterms:modified xsi:type="dcterms:W3CDTF">2026-10-05T08:15:27.7260000Z</dcterms:modified>
</coreProperties>
</file>