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1524838ef4a88" /><Relationship Type="http://schemas.openxmlformats.org/officeDocument/2006/relationships/extended-properties" Target="/docProps/app.xml" Id="R07e6e822d2274ebf" /><Relationship Type="http://schemas.openxmlformats.org/officeDocument/2006/relationships/officeDocument" Target="/ppt/presentation.xml" Id="R5a9f2e8e0f9a4d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9ac99c5114065"/>
  </p:sldMasterIdLst>
  <p:notesMasterIdLst>
    <p:notesMasterId xmlns:r="http://schemas.openxmlformats.org/officeDocument/2006/relationships" r:id="R539111c470024324"/>
  </p:notesMasterIdLst>
  <p:sldIdLst>
    <p:sldId xmlns:r="http://schemas.openxmlformats.org/officeDocument/2006/relationships" id="256" r:id="Rc3a0196cbb074ffe"/>
    <p:sldId xmlns:r="http://schemas.openxmlformats.org/officeDocument/2006/relationships" id="257" r:id="R91062614007c4db3"/>
    <p:sldId xmlns:r="http://schemas.openxmlformats.org/officeDocument/2006/relationships" id="258" r:id="R32858b6687f44d22"/>
    <p:sldId xmlns:r="http://schemas.openxmlformats.org/officeDocument/2006/relationships" id="259" r:id="Rb8d49e7404aa47a5"/>
    <p:sldId xmlns:r="http://schemas.openxmlformats.org/officeDocument/2006/relationships" id="260" r:id="Radebf2e7c8db4ebe"/>
    <p:sldId xmlns:r="http://schemas.openxmlformats.org/officeDocument/2006/relationships" id="261" r:id="Rf245df1c1a42418a"/>
    <p:sldId xmlns:r="http://schemas.openxmlformats.org/officeDocument/2006/relationships" id="262" r:id="R7984207860d6492d"/>
    <p:sldId xmlns:r="http://schemas.openxmlformats.org/officeDocument/2006/relationships" id="263" r:id="R322093adef624279"/>
    <p:sldId xmlns:r="http://schemas.openxmlformats.org/officeDocument/2006/relationships" id="264" r:id="Rb3159ce04ee84c79"/>
    <p:sldId xmlns:r="http://schemas.openxmlformats.org/officeDocument/2006/relationships" id="265" r:id="R5ae7295208ab4fcf"/>
    <p:sldId xmlns:r="http://schemas.openxmlformats.org/officeDocument/2006/relationships" id="266" r:id="R19a9eaddb0c249c1"/>
    <p:sldId xmlns:r="http://schemas.openxmlformats.org/officeDocument/2006/relationships" id="267" r:id="R8c0c409dead84dc7"/>
    <p:sldId xmlns:r="http://schemas.openxmlformats.org/officeDocument/2006/relationships" id="268" r:id="R5a1e757797884f49"/>
    <p:sldId xmlns:r="http://schemas.openxmlformats.org/officeDocument/2006/relationships" id="269" r:id="R1ec025444a8d4b4b"/>
    <p:sldId xmlns:r="http://schemas.openxmlformats.org/officeDocument/2006/relationships" id="270" r:id="Rcb623928261b4a90"/>
    <p:sldId xmlns:r="http://schemas.openxmlformats.org/officeDocument/2006/relationships" id="271" r:id="R720f30bc32124fce"/>
    <p:sldId xmlns:r="http://schemas.openxmlformats.org/officeDocument/2006/relationships" id="272" r:id="R4996aa013c4e4ef0"/>
    <p:sldId xmlns:r="http://schemas.openxmlformats.org/officeDocument/2006/relationships" id="273" r:id="Re53dfda0acde4c2d"/>
    <p:sldId xmlns:r="http://schemas.openxmlformats.org/officeDocument/2006/relationships" id="274" r:id="R0c7e2c35b32b493b"/>
    <p:sldId xmlns:r="http://schemas.openxmlformats.org/officeDocument/2006/relationships" id="275" r:id="R6e3bc06e5be2479f"/>
    <p:sldId xmlns:r="http://schemas.openxmlformats.org/officeDocument/2006/relationships" id="276" r:id="R30be55f9c81e4b92"/>
    <p:sldId xmlns:r="http://schemas.openxmlformats.org/officeDocument/2006/relationships" id="277" r:id="R16a4d04e3ae5418f"/>
    <p:sldId xmlns:r="http://schemas.openxmlformats.org/officeDocument/2006/relationships" id="278" r:id="R519281ca64544c18"/>
    <p:sldId xmlns:r="http://schemas.openxmlformats.org/officeDocument/2006/relationships" id="279" r:id="R2029dba0007a4429"/>
    <p:sldId xmlns:r="http://schemas.openxmlformats.org/officeDocument/2006/relationships" id="280" r:id="Rbe8031f1f93248f9"/>
    <p:sldId xmlns:r="http://schemas.openxmlformats.org/officeDocument/2006/relationships" id="281" r:id="Rbedeb30cfcc84ae6"/>
    <p:sldId xmlns:r="http://schemas.openxmlformats.org/officeDocument/2006/relationships" id="282" r:id="Re9894dcc661d49a9"/>
    <p:sldId xmlns:r="http://schemas.openxmlformats.org/officeDocument/2006/relationships" id="283" r:id="Rd4d77ab615fb45f7"/>
    <p:sldId xmlns:r="http://schemas.openxmlformats.org/officeDocument/2006/relationships" id="284" r:id="R28eaa49f645043b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ad31f3ac8495a" /><Relationship Type="http://schemas.openxmlformats.org/officeDocument/2006/relationships/slideMaster" Target="/ppt/slideMasters/slideMaster1.xml" Id="R5589ac99c5114065" /><Relationship Type="http://schemas.openxmlformats.org/officeDocument/2006/relationships/notesMaster" Target="/ppt/notesMasters/notesMaster1.xml" Id="R539111c470024324" /><Relationship Type="http://schemas.openxmlformats.org/officeDocument/2006/relationships/presProps" Target="/ppt/presProps.xml" Id="Rc1a30584ca02440a" /><Relationship Type="http://schemas.openxmlformats.org/officeDocument/2006/relationships/viewProps" Target="/ppt/viewProps.xml" Id="R03da62285fb64d8c" /><Relationship Type="http://schemas.openxmlformats.org/officeDocument/2006/relationships/tableStyles" Target="/ppt/tableStyles.xml" Id="Rdc060d61f5724bb3" /><Relationship Type="http://schemas.openxmlformats.org/officeDocument/2006/relationships/slide" Target="/ppt/slides/slide1.xml" Id="Rc3a0196cbb074ffe" /><Relationship Type="http://schemas.openxmlformats.org/officeDocument/2006/relationships/slide" Target="/ppt/slides/slide2.xml" Id="R91062614007c4db3" /><Relationship Type="http://schemas.openxmlformats.org/officeDocument/2006/relationships/slide" Target="/ppt/slides/slide3.xml" Id="R32858b6687f44d22" /><Relationship Type="http://schemas.openxmlformats.org/officeDocument/2006/relationships/slide" Target="/ppt/slides/slide4.xml" Id="Rb8d49e7404aa47a5" /><Relationship Type="http://schemas.openxmlformats.org/officeDocument/2006/relationships/slide" Target="/ppt/slides/slide5.xml" Id="Radebf2e7c8db4ebe" /><Relationship Type="http://schemas.openxmlformats.org/officeDocument/2006/relationships/slide" Target="/ppt/slides/slide6.xml" Id="Rf245df1c1a42418a" /><Relationship Type="http://schemas.openxmlformats.org/officeDocument/2006/relationships/slide" Target="/ppt/slides/slide7.xml" Id="R7984207860d6492d" /><Relationship Type="http://schemas.openxmlformats.org/officeDocument/2006/relationships/slide" Target="/ppt/slides/slide8.xml" Id="R322093adef624279" /><Relationship Type="http://schemas.openxmlformats.org/officeDocument/2006/relationships/slide" Target="/ppt/slides/slide9.xml" Id="Rb3159ce04ee84c79" /><Relationship Type="http://schemas.openxmlformats.org/officeDocument/2006/relationships/slide" Target="/ppt/slides/slide10.xml" Id="R5ae7295208ab4fcf" /><Relationship Type="http://schemas.openxmlformats.org/officeDocument/2006/relationships/slide" Target="/ppt/slides/slide11.xml" Id="R19a9eaddb0c249c1" /><Relationship Type="http://schemas.openxmlformats.org/officeDocument/2006/relationships/slide" Target="/ppt/slides/slide12.xml" Id="R8c0c409dead84dc7" /><Relationship Type="http://schemas.openxmlformats.org/officeDocument/2006/relationships/slide" Target="/ppt/slides/slide13.xml" Id="R5a1e757797884f49" /><Relationship Type="http://schemas.openxmlformats.org/officeDocument/2006/relationships/slide" Target="/ppt/slides/slide14.xml" Id="R1ec025444a8d4b4b" /><Relationship Type="http://schemas.openxmlformats.org/officeDocument/2006/relationships/slide" Target="/ppt/slides/slide15.xml" Id="Rcb623928261b4a90" /><Relationship Type="http://schemas.openxmlformats.org/officeDocument/2006/relationships/slide" Target="/ppt/slides/slide16.xml" Id="R720f30bc32124fce" /><Relationship Type="http://schemas.openxmlformats.org/officeDocument/2006/relationships/slide" Target="/ppt/slides/slide17.xml" Id="R4996aa013c4e4ef0" /><Relationship Type="http://schemas.openxmlformats.org/officeDocument/2006/relationships/slide" Target="/ppt/slides/slide18.xml" Id="Re53dfda0acde4c2d" /><Relationship Type="http://schemas.openxmlformats.org/officeDocument/2006/relationships/slide" Target="/ppt/slides/slide19.xml" Id="R0c7e2c35b32b493b" /><Relationship Type="http://schemas.openxmlformats.org/officeDocument/2006/relationships/slide" Target="/ppt/slides/slide20.xml" Id="R6e3bc06e5be2479f" /><Relationship Type="http://schemas.openxmlformats.org/officeDocument/2006/relationships/slide" Target="/ppt/slides/slide21.xml" Id="R30be55f9c81e4b92" /><Relationship Type="http://schemas.openxmlformats.org/officeDocument/2006/relationships/slide" Target="/ppt/slides/slide22.xml" Id="R16a4d04e3ae5418f" /><Relationship Type="http://schemas.openxmlformats.org/officeDocument/2006/relationships/slide" Target="/ppt/slides/slide23.xml" Id="R519281ca64544c18" /><Relationship Type="http://schemas.openxmlformats.org/officeDocument/2006/relationships/slide" Target="/ppt/slides/slide24.xml" Id="R2029dba0007a4429" /><Relationship Type="http://schemas.openxmlformats.org/officeDocument/2006/relationships/slide" Target="/ppt/slides/slide25.xml" Id="Rbe8031f1f93248f9" /><Relationship Type="http://schemas.openxmlformats.org/officeDocument/2006/relationships/slide" Target="/ppt/slides/slide26.xml" Id="Rbedeb30cfcc84ae6" /><Relationship Type="http://schemas.openxmlformats.org/officeDocument/2006/relationships/slide" Target="/ppt/slides/slide27.xml" Id="Re9894dcc661d49a9" /><Relationship Type="http://schemas.openxmlformats.org/officeDocument/2006/relationships/slide" Target="/ppt/slides/slide28.xml" Id="Rd4d77ab615fb45f7" /><Relationship Type="http://schemas.openxmlformats.org/officeDocument/2006/relationships/slide" Target="/ppt/slides/slide29.xml" Id="R28eaa49f645043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7716cb4f743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328f93b834421" /><Relationship Type="http://schemas.openxmlformats.org/officeDocument/2006/relationships/notesMaster" Target="/ppt/notesMasters/notesMaster1.xml" Id="R523392aad7b0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ad0a69aa34d40" /><Relationship Type="http://schemas.openxmlformats.org/officeDocument/2006/relationships/notesMaster" Target="/ppt/notesMasters/notesMaster1.xml" Id="R5f7f51950e194f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07d1d180e48aa" /><Relationship Type="http://schemas.openxmlformats.org/officeDocument/2006/relationships/notesMaster" Target="/ppt/notesMasters/notesMaster1.xml" Id="R9037c7667cc3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e71f1fa5e24550" /><Relationship Type="http://schemas.openxmlformats.org/officeDocument/2006/relationships/notesMaster" Target="/ppt/notesMasters/notesMaster1.xml" Id="Radd14667032f46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cfddabe634245" /><Relationship Type="http://schemas.openxmlformats.org/officeDocument/2006/relationships/notesMaster" Target="/ppt/notesMasters/notesMaster1.xml" Id="Re7b5b6dd045144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8304901d434c8b" /><Relationship Type="http://schemas.openxmlformats.org/officeDocument/2006/relationships/notesMaster" Target="/ppt/notesMasters/notesMaster1.xml" Id="R07ec401ec36a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de43913f504b58" /><Relationship Type="http://schemas.openxmlformats.org/officeDocument/2006/relationships/notesMaster" Target="/ppt/notesMasters/notesMaster1.xml" Id="R877fa70512dd49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2bb8f4e14b4fdd" /><Relationship Type="http://schemas.openxmlformats.org/officeDocument/2006/relationships/notesMaster" Target="/ppt/notesMasters/notesMaster1.xml" Id="Rc66725e0f086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aa6751f2864ed5" /><Relationship Type="http://schemas.openxmlformats.org/officeDocument/2006/relationships/notesMaster" Target="/ppt/notesMasters/notesMaster1.xml" Id="R672a4c79d1264d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cd582bf0984403" /><Relationship Type="http://schemas.openxmlformats.org/officeDocument/2006/relationships/notesMaster" Target="/ppt/notesMasters/notesMaster1.xml" Id="R70a2ad49afb146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6467f520e04c81" /><Relationship Type="http://schemas.openxmlformats.org/officeDocument/2006/relationships/notesMaster" Target="/ppt/notesMasters/notesMaster1.xml" Id="R5cd71a96443347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5ee5d287114994" /><Relationship Type="http://schemas.openxmlformats.org/officeDocument/2006/relationships/notesMaster" Target="/ppt/notesMasters/notesMaster1.xml" Id="R9cf27bb81c9249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0f9f1789634aac" /><Relationship Type="http://schemas.openxmlformats.org/officeDocument/2006/relationships/notesMaster" Target="/ppt/notesMasters/notesMaster1.xml" Id="R6e7c2d2ee1a84b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5d3aee0c45455a" /><Relationship Type="http://schemas.openxmlformats.org/officeDocument/2006/relationships/notesMaster" Target="/ppt/notesMasters/notesMaster1.xml" Id="R580fb5e0dfba4e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637fd9ea404e84" /><Relationship Type="http://schemas.openxmlformats.org/officeDocument/2006/relationships/notesMaster" Target="/ppt/notesMasters/notesMaster1.xml" Id="R6601ee39e9534f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e1f73f1eb44f6f" /><Relationship Type="http://schemas.openxmlformats.org/officeDocument/2006/relationships/notesMaster" Target="/ppt/notesMasters/notesMaster1.xml" Id="Rc74ad445ba924b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707e4c671f4e45" /><Relationship Type="http://schemas.openxmlformats.org/officeDocument/2006/relationships/notesMaster" Target="/ppt/notesMasters/notesMaster1.xml" Id="Ra98817566b3544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e6f15fb3aa4c4d" /><Relationship Type="http://schemas.openxmlformats.org/officeDocument/2006/relationships/notesMaster" Target="/ppt/notesMasters/notesMaster1.xml" Id="R12e0111ce0c440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c99ef1f68f436f" /><Relationship Type="http://schemas.openxmlformats.org/officeDocument/2006/relationships/notesMaster" Target="/ppt/notesMasters/notesMaster1.xml" Id="R4af8013659f44c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d056db74f54532" /><Relationship Type="http://schemas.openxmlformats.org/officeDocument/2006/relationships/notesMaster" Target="/ppt/notesMasters/notesMaster1.xml" Id="R58dd0109a0294a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e7888d1a7d4c2d" /><Relationship Type="http://schemas.openxmlformats.org/officeDocument/2006/relationships/notesMaster" Target="/ppt/notesMasters/notesMaster1.xml" Id="R4489aba50c6e45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af77b25fdf4d55" /><Relationship Type="http://schemas.openxmlformats.org/officeDocument/2006/relationships/notesMaster" Target="/ppt/notesMasters/notesMaster1.xml" Id="R55845e9fec6646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2a5ec130b64e51" /><Relationship Type="http://schemas.openxmlformats.org/officeDocument/2006/relationships/notesMaster" Target="/ppt/notesMasters/notesMaster1.xml" Id="R20af380a56f14f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4ef1f0f4ab4e6b" /><Relationship Type="http://schemas.openxmlformats.org/officeDocument/2006/relationships/notesMaster" Target="/ppt/notesMasters/notesMaster1.xml" Id="Ra650c44c8ead45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80adc62e08e4354" /><Relationship Type="http://schemas.openxmlformats.org/officeDocument/2006/relationships/notesMaster" Target="/ppt/notesMasters/notesMaster1.xml" Id="R1e1cb49a5c0148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c6aa2ebdde4570" /><Relationship Type="http://schemas.openxmlformats.org/officeDocument/2006/relationships/notesMaster" Target="/ppt/notesMasters/notesMaster1.xml" Id="R7627cea55d924e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8c3b8323c474d86" /><Relationship Type="http://schemas.openxmlformats.org/officeDocument/2006/relationships/notesMaster" Target="/ppt/notesMasters/notesMaster1.xml" Id="R40b4e6f65fc043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847c40726c428a" /><Relationship Type="http://schemas.openxmlformats.org/officeDocument/2006/relationships/notesMaster" Target="/ppt/notesMasters/notesMaster1.xml" Id="R051346c758204b9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8166b255eb4e44" /><Relationship Type="http://schemas.openxmlformats.org/officeDocument/2006/relationships/notesMaster" Target="/ppt/notesMasters/notesMaster1.xml" Id="R929f18f922614f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流程：從 Q 取出完整抵達時間最小的有效 label，以最後 contact 的接收端查找下一跳，逐一檢查所有可用格點起始時間，再進行時間、容量、sender/receiver buffer 與 dominance 檢查。新 label 通過才加入 Q。每個 label 分別處理，不把整個實體節點永久標記完成。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集中式規劃是研究假設。中央保存 contact plan、剩餘可分配資料量 R_c 與前包 buffer 占用 O_v(t)。搜尋單包時固定這些輸入，各候選只是互斥方案。找到並驗證整條路徑後才更新全域資源。控制指令及回報延遲尚未建模。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維持本 PPT 的 (c, A, s, pred)。Label 下標只識別 Label，不代表 contact 編號。Q 使用 min-priority queue，以完整抵達時間 A 為主鍵，同時間以建立順序為次鍵。同值規則只求可重現，不宣稱有利於後續 bundles。c₀ 為初始化使用的虛擬 contact。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本例有 X,A,B,C,D 五個節點，八個 contacts。每包 4 MB，速率均為 4 MB/s，因此傳輸時間是 1 秒；傳播延遲另計。所有節點 buffer=4 MB，時間格點 1 秒，horizon=12 秒。第一包 X到D，g=0；第二包 A到D，g=1。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的基本資料為 ID、sender、receiver、start、end、rate。OWLT 是傳播延遲資料，本研究記為 δ_c。R_c 是中央維護的剩餘可分配資料量，既有輸入為(4,4,4,8,4,4,2,4)MB。c7 的理論 volume=4MB，但本例指定可分配量2MB，其減少原因未建模，不應說是第一包使用c7造成。Contact end 是 sender 發送截止，arrival 可以在 end 之後。NASA HDTN 也在JSON內附owlt，與ION將range分開的方式不同。資料參考：https://ccsds.org/Pubs/734x3b1.pdf；https://ntrs.nasa.gov/api/citations/20230015434/downloads/TM-20230000826_REV2_2.pdf。數值來源：output/validation/walkthrough_input.json。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 L0=(c0,0,無,空)。c1 起送2，完成3，δ=0，到B的A=3，L1=(c1,3,2,L0)。X等待0到2期間持有4MB，2到3逐byte釋放；B在2到3逐byte接收。此時尚未扣除R。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由L1使用c2：s=6、發送完成7、δ=1、D在7到8接收、A=8。使用c5：s=10、完成11、δ=1、A=12。兩個候選先入Q，仍未提交資源。終點取出的最早有效label為L2。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搜尋中的候選互為替代方案，不互相預約。完整路徑接受後，才一併更新剩餘容量與逐 byte Buffer 占用，並新增同一 contact 的發送時段預約。c2 最後 byte 在 7 秒送出，整包在 8 秒抵達 D，發送預約不延長至 8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第二包L0=(c0,1,無,空)。c3在1到2傳送、δ=0，建立L1=(c3,2,1,L0)。只通過到達前綴檢查，並未保證B能等待到任意未來時間。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c4窗口7到9、傳輸時間1秒、Δ=1秒，可列舉s=7或8。L2=(c4,8,7,L0)，L3=(c4,9,8,L0)。不同發送時間的候選不能一開始就只取最早值，因接收期間及之後等待可能受前包buffer影響。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 與 8 是 Δ=1 秒下的候選開始時間，不是連續時間僅有兩種選擇。每個 s 都需獨立檢查時窗、剩餘容量、同 contact 發送預約、傳送端等待與逐 byte 釋放、接收端逐 byte 占用。某個 s 失敗仍繼續枚舉後面的 s。本例第一包未使用 c4，兩個候選都沒有既有發送時段衝突。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這頁保留 PPT 既有 L2/L3 的例子，沒有把早到直接當成一般支配規則。兩者相同前驅與 incoming contact，L2 在 B 可持有 S=4 MB 從 8 秒等到 9 秒，並接續本例的 c5。不同前綴之間如何比較、加入發送時段預約後的一般替代性，以及允許哪些路徑，仍待正式定義與證明。本次不採用程式中的額外路徑用量條件來取代 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 的示意順序為 L1(A=2)、L4(A=3)、L2(A=8)。L4 比 L2 晚建立，但更早抵達，因此先處理。實作可用 min-heap，不必每次把整個 Q 重新排序。同值先建立者優先。被支配而失效的項目若仍留在 heap，取出時跳過，但保留 pred 回溯紀錄。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取出L1後嘗試c2；第一包已把R_c2扣為0，本包4MB，因此容量條件失敗。圖解是同一次展開的分段展示，不在尚未檢查完L1時真的取出下一個label。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仍在展開L1。嘗試c5需要B從2秒持有本包到10秒。第一包在3到6秒占4MB，合计可達8MB，違反M_B=4MB。整段等待必須檢查，不能只看抵達時刻。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取出L4，c7可分配資料量2MB小於S=4MB，容量不符。此2MB是案例給定的初始R，不是速率，也不是由窗口長度計算的全部volume。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同一次L4展開，c8容量通過，但A=3，最早起送3；c8 end=3，完整傳輸需要1秒，故最晚起送2。可用發送集合為空。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取出L2，receiver為B，A=8。c2的R仍然0，拒絕；仍需嘗試其他outgoing contacts。這表現同節點可保留多個labels的必要性。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L2經c5：s=10、完成11、δ=1、A=12，產生L5=(c5,12,10,L2)。B在8到10持有4MB，10到11逐byte釋放；D在11到12接收。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 pred 由 L5 回溯到 L2、L0，還原 c4 發送[7,8)、c5發送[10,11)。檢查完整路徑後，扣 R[c4]、R[c5]，累加各節點逐 byte Buffer 曲線，並提交這兩個 contact 的發送時段。候選搜尋階段不提交。加入新檢查後本例沒有新增時段衝突，圖中路徑可作示範，不以此宣稱一般正確性已證明。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包在B的占用分別為2到7與7到11，總峰值4MB。最後R=(0,0,4,4,0,4,2,4)MB。這個案例沒有鏈路時間衝突，不表示aggregate容量模型一般就能保證無衝突。研究正確性僅沿用現行有限格點與已列假設下的條件式論證，不宣稱連續時間或多包聯合最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維持原本時間枚舉。對當前 Label 的完整抵達時間 A，s≥max(A,start(c))。f=s+S/r(c)≤end(c)，完整抵達時間為 f+δ(c)。若 T 是指定期限，還需抵達≤T。傳送端檢查從 A 到 s 的整包等待以及 s 到 f 的逐 byte 釋放，接收端檢查 s+δ 到 f+δ 的逐 byte 接收。接收完成後到下一跳的等待，在下一次延伸時檢查。時段預約在此採同 contact 一次傳送一包的候選模型，不延伸宣稱不同 contacts 共用天線的互斥已處理。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本頁為新增示例，不改動原 PPT 的 c4 開放時間。示例 contact 開放7到10秒，第一包已預約[7,8)，第二包需要1秒。Δ=1時，s=7衝突，s=8與s=9不衝突，但仍需其餘可行性檢查。半開區間允許前包在8秒發送結束，後包同一時刻起送。對每個預約[sj,fj)，不重疊條件為 f≤sj 或 s≥fj。只預約發送時間，傳播延遲另影響接收時間與接收端Buffer。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此頁列出討論中的保守候選，不代表已採用新的 dominance 演算法。相同前驅、相同 contact、不同開始時間的情況先以 PPT 例子說明。等待條件為在兩個抵達時間之間，既有占用加上整包S始終不超過Buffer上限。加入發送時段表後，一般後續可替代性仍需依允許路徑與預約語意論證。未用route_usage或U作為新增正式Label欄位。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通過與一般證明分開記錄。時間枚舉的保證只對明確指定的Δ與時間範圍成立，不能外推連續時間。若比對找到同模型錯誤，保留反例、停止效能比較並提出候選修正，不為了通過測試直接更改演算法。本次只修改PPT，不修改程式、網頁或既有研究基準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節為接收端起送時間篩選的候選定義。c是contact識別，與Label編號無關。s是嘗試的開始時間，S是資料量，大小寫不可混用。A(L)是目前Label所記錄的完整抵達時間，A節點名稱與A(L)時間意義不同。採本PPT的完整接收後轉送與每個contact固定速率假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′是目前這次候選延伸的完整抵達時間，若建立新Label，其A欄位就記錄a′，不是額外一種抵達時間。t不是Label編號，也不是固定取樣點。O_B包含所有已接受前包的預約曲線，候選路徑互不累加。每次查詢期間已接受預約保持不變。Δ只控制候選起送時間，Buffer條件仍需對整段接收期間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個byte抵達h=s+δ_c，最後byte抵達a′=s+S/r_c+δ_c。接收期間本包占用r_c(t−h)，從0線性上升至S。要求O_B(t)+r_c(t−h)≤M_B在閉區間[h,a′]全程成立，包含完整接收後、交付前的峰值。這裡只檢查接收，不代表收完後可一直等待。分段線性占用可在所有相關折點與必要的跳躍兩側檢查，不能只挑一個中點。例子使用c4，s=7、S=4、r_c=4、δ_c=0，則h=7、a′=8。7.5秒新包占用2MB，前包在B占用0，總占用2≤4MB。此單點只是說明算式，全段7到8秒均須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義ReceiverFeasibleStarts(L,c)：給定本包大小S、接收端既有占用O_B、Buffer上限M_B與格點Δ，產生所有s∈ΔZ，且s≥max(A(L),start(c))、s+S/r_c≤end(c)，並滿足接收端整段占用條件的時間。這個輸出不檢查剩餘contact容量、同contact發送預約、傳送端等待與釋放、抵達期限；它們仍由後續必要檢查處理。若c4=[7,9)、S=4、r=4、δ=0、Δ=1、來源在7秒前已完整收到、B在7到9秒既有占用為0，輸出{7,8}。這只表示這一跳能接收，不證明完整路徑可行。接收完成後的等待在下一跳檢查。初版可以沿用逐格枚舉來實作這個函式，並未證明減少枚舉或提高效率。未變更Label欄位或正式支配規則，尚未實作或做正確性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a67bc75f145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46b5230cf44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e5ec855f147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05e32ef654f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16757963f4a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e37f966e41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5e78af723413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5f80c0d7a4e8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08549e92a45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768477e8940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cbe7587c248d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8236be0a94a5f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17CB1-9435-41DF-82BB-EBE192493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3155AB-ECC4-4CB3-BF8A-893BABB874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0D94CAE-DCE3-48FB-A997-859733C91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2F43941-8EB1-4187-83BE-D8ABB908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987B219-6AEA-4BA8-8156-6C1F123A4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ADF516-9F4E-4E4C-92BD-1729E5A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580DB40-74D7-4B89-8FCB-5AC492301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EF24556-A827-4E86-9219-D3657EC0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D220CB07-8D76-45C8-B823-9B0C603CA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E56A76A-34A6-45AB-B621-E82D19180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6A7B8F0-048C-4A93-8975-1B1B36798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C627E21-C2D9-4132-8BEC-38F2F15F3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E2EC14-8140-4ABB-8108-131B9462D3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55DD071-4CA6-4DEB-B5D9-8AA4B1866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6ABFE10-ED91-40FB-8305-7B6C125143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2D9E51-6359-4255-B60A-539E2E4D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102497E-E12B-4757-BE39-DE36964D5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EEB9E700-D46F-41AA-9B07-4D7359B66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AA103239-40F4-48E6-A385-EC0BFCC84B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6CBF9251-9BED-4996-AE9C-5DD38E3CD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6607526-40E0-46EA-AFBE-854EE2171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07FE15-FD05-4DE0-8404-D42E72011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76FB4E-56B6-4D68-A3B8-58BFC6A9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B07415C-80DE-4F77-BFD2-52ABB574F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B547701-8215-43DE-B7B7-401322A835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EE8E636-F393-470A-9840-FC82F2D83C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B13719B0-E439-4F10-878A-74858F6BE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07:16:30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82037E58-115C-47B8-AFB5-74C255EC6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1B7303D6-44E0-420C-BA71-C9B6D3A11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B37EA7-2E24-434D-B3D7-217E54E2F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556FE757-70C0-4D1B-84F2-7884EF9C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07:16:30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28D2C89A-C339-4FFA-BF94-10DCE1189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1304B679-7543-4BBC-ADFF-DC36462A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DF65CFB0-D7FF-4A0E-BE40-12AD98113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07:16:30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1B5EDC65-E733-4DFA-B875-E7E3B6D05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9D3D81AC-8F66-4CA3-B3A8-F05A43D70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6F7296-5C65-4814-8ADE-5B1F309E2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F4933B9-EB6E-41FF-BA9F-1ED249F96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01B082-3E49-4A50-9580-5864B143F4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E587D37B-ED61-4FE1-8485-9DD49D19F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06CAC0A-AB69-4732-BB4E-8B13B0486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93F33B9-5448-47F6-82BC-7FE04A520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908B78D-C03A-4470-94C0-8B7170BF8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B893DC8-701B-4758-ADB7-CC80CCBE22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EBCF15F-4849-4782-9AEE-0C1EC5C8A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FEF147C2-0717-47EA-A315-AE5CD6C13E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5047B99-EB23-4EC5-B2E7-78B0D89C6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255FF7D4-0920-40E5-ABF6-E67CA5474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D6AF44-41C0-4192-8DF8-BB3D41342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BEA3CCE-8088-484E-AD86-6D144DB2D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BD34116-9287-4371-84BC-FD6D97FCD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3AC95EF-96F5-4BC7-A115-B424D1B4D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57EAE0F-F82A-4FA1-A50E-B7FB5BE4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C6A94BBF-BEFC-481B-9438-527EF1307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15B7249-6406-48E7-B715-6CCD73AA0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CB53C38-D2B6-4857-AD30-A57D67D67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09DEB2D-D732-4E9A-BA07-2C037AB0C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7FD0F2-6911-46A0-B68F-D57125AE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07:16:30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087ebf81f48a7" /><Relationship Type="http://schemas.openxmlformats.org/officeDocument/2006/relationships/slideLayout" Target="/ppt/slideLayouts/slideLayout1.xml" Id="R4bcbc09f2d9348cb" /><Relationship Type="http://schemas.openxmlformats.org/officeDocument/2006/relationships/slideLayout" Target="/ppt/slideLayouts/slideLayout2.xml" Id="R761b4b132f1d41c0" /><Relationship Type="http://schemas.openxmlformats.org/officeDocument/2006/relationships/slideLayout" Target="/ppt/slideLayouts/slideLayout3.xml" Id="R1d8b205125464015" /><Relationship Type="http://schemas.openxmlformats.org/officeDocument/2006/relationships/slideLayout" Target="/ppt/slideLayouts/slideLayout4.xml" Id="Rf0e32143af5d4f95" /><Relationship Type="http://schemas.openxmlformats.org/officeDocument/2006/relationships/slideLayout" Target="/ppt/slideLayouts/slideLayout5.xml" Id="R080708e12f15456d" /><Relationship Type="http://schemas.openxmlformats.org/officeDocument/2006/relationships/slideLayout" Target="/ppt/slideLayouts/slideLayout6.xml" Id="R4cdf1ac435214643" /><Relationship Type="http://schemas.openxmlformats.org/officeDocument/2006/relationships/slideLayout" Target="/ppt/slideLayouts/slideLayout7.xml" Id="R2ec1835219c14276" /><Relationship Type="http://schemas.openxmlformats.org/officeDocument/2006/relationships/slideLayout" Target="/ppt/slideLayouts/slideLayout8.xml" Id="Rb939f874e3d14314" /><Relationship Type="http://schemas.openxmlformats.org/officeDocument/2006/relationships/slideLayout" Target="/ppt/slideLayouts/slideLayout9.xml" Id="R963d1ff747114c0b" /><Relationship Type="http://schemas.openxmlformats.org/officeDocument/2006/relationships/slideLayout" Target="/ppt/slideLayouts/slideLayout10.xml" Id="Re01fbf144ab74644" /><Relationship Type="http://schemas.openxmlformats.org/officeDocument/2006/relationships/slideLayout" Target="/ppt/slideLayouts/slideLayout11.xml" Id="R417379c3c16f4b5c" /><Relationship Type="http://schemas.openxmlformats.org/officeDocument/2006/relationships/slideLayout" Target="/ppt/slideLayouts/slideLayout12.xml" Id="Re2a38623eb0540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48D016A4-ABFB-4F58-A123-2AFB6746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2EBC1E-4899-4D02-942B-DB610249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A795A-1FC5-4DC0-B4FF-1A4571CCCE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153DEDF-26CC-481C-861F-FFD318218C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E1FE2B4-9A84-42DF-9FC9-64E3A777FB0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cbc09f2d9348cb"/>
    <p:sldLayoutId xmlns:r="http://schemas.openxmlformats.org/officeDocument/2006/relationships" id="2147483650" r:id="R761b4b132f1d41c0"/>
    <p:sldLayoutId xmlns:r="http://schemas.openxmlformats.org/officeDocument/2006/relationships" id="2147483651" r:id="R1d8b205125464015"/>
    <p:sldLayoutId xmlns:r="http://schemas.openxmlformats.org/officeDocument/2006/relationships" id="2147483652" r:id="Rf0e32143af5d4f95"/>
    <p:sldLayoutId xmlns:r="http://schemas.openxmlformats.org/officeDocument/2006/relationships" id="2147483653" r:id="R080708e12f15456d"/>
    <p:sldLayoutId xmlns:r="http://schemas.openxmlformats.org/officeDocument/2006/relationships" id="2147483654" r:id="R4cdf1ac435214643"/>
    <p:sldLayoutId xmlns:r="http://schemas.openxmlformats.org/officeDocument/2006/relationships" id="2147483655" r:id="R2ec1835219c14276"/>
    <p:sldLayoutId xmlns:r="http://schemas.openxmlformats.org/officeDocument/2006/relationships" id="2147483656" r:id="Rb939f874e3d14314"/>
    <p:sldLayoutId xmlns:r="http://schemas.openxmlformats.org/officeDocument/2006/relationships" id="2147483657" r:id="R963d1ff747114c0b"/>
    <p:sldLayoutId xmlns:r="http://schemas.openxmlformats.org/officeDocument/2006/relationships" id="2147483658" r:id="Re01fbf144ab74644"/>
    <p:sldLayoutId xmlns:r="http://schemas.openxmlformats.org/officeDocument/2006/relationships" id="2147483659" r:id="R417379c3c16f4b5c"/>
    <p:sldLayoutId xmlns:r="http://schemas.openxmlformats.org/officeDocument/2006/relationships" id="2147483660" r:id="Re2a38623eb05406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e8aa720f6e41c2" /><Relationship Type="http://schemas.openxmlformats.org/officeDocument/2006/relationships/notesSlide" Target="/ppt/notesSlides/notesSlide1.xml" Id="R43b7516fbec041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d96d039b23427a" /><Relationship Type="http://schemas.openxmlformats.org/officeDocument/2006/relationships/notesSlide" Target="/ppt/notesSlides/notesSlide2.xml" Id="R03fd50503d3e46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327a1e3a6c44dd" /><Relationship Type="http://schemas.openxmlformats.org/officeDocument/2006/relationships/notesSlide" Target="/ppt/notesSlides/notesSlide3.xml" Id="Rdc27ddc30958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c0e83338f1468e" /><Relationship Type="http://schemas.openxmlformats.org/officeDocument/2006/relationships/notesSlide" Target="/ppt/notesSlides/notesSlide4.xml" Id="R04cc2defcf594e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dab01c27534f37" /><Relationship Type="http://schemas.openxmlformats.org/officeDocument/2006/relationships/notesSlide" Target="/ppt/notesSlides/notesSlide5.xml" Id="R05bac2b34cea4c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48cb48335e4038" /><Relationship Type="http://schemas.openxmlformats.org/officeDocument/2006/relationships/notesSlide" Target="/ppt/notesSlides/notesSlide6.xml" Id="R5cf9f0c0c4b2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6e6c27cc264b09" /><Relationship Type="http://schemas.openxmlformats.org/officeDocument/2006/relationships/notesSlide" Target="/ppt/notesSlides/notesSlide7.xml" Id="R7fc3a7ba3539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a59710538f49bf" /><Relationship Type="http://schemas.openxmlformats.org/officeDocument/2006/relationships/notesSlide" Target="/ppt/notesSlides/notesSlide8.xml" Id="Rc883ba22033546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c44039e15e4b06" /><Relationship Type="http://schemas.openxmlformats.org/officeDocument/2006/relationships/notesSlide" Target="/ppt/notesSlides/notesSlide9.xml" Id="R0a529c46b92c4a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c26e131c1d4c82" /><Relationship Type="http://schemas.openxmlformats.org/officeDocument/2006/relationships/notesSlide" Target="/ppt/notesSlides/notesSlide10.xml" Id="Rbb587f3711904d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bad448afbd41f2" /><Relationship Type="http://schemas.openxmlformats.org/officeDocument/2006/relationships/notesSlide" Target="/ppt/notesSlides/notesSlide11.xml" Id="R1d17048bad1b4a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a72caaaedc45e4" /><Relationship Type="http://schemas.openxmlformats.org/officeDocument/2006/relationships/notesSlide" Target="/ppt/notesSlides/notesSlide12.xml" Id="R5f9e5224df8548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b11d5933f34e29" /><Relationship Type="http://schemas.openxmlformats.org/officeDocument/2006/relationships/notesSlide" Target="/ppt/notesSlides/notesSlide13.xml" Id="R0ac74de032f04c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6f1192558e4524" /><Relationship Type="http://schemas.openxmlformats.org/officeDocument/2006/relationships/notesSlide" Target="/ppt/notesSlides/notesSlide14.xml" Id="R483e37dfe01443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19f47b5aa04261" /><Relationship Type="http://schemas.openxmlformats.org/officeDocument/2006/relationships/image" Target="/ppt/media/image.png" Id="R1284c764d42a49c4" /><Relationship Type="http://schemas.openxmlformats.org/officeDocument/2006/relationships/notesSlide" Target="/ppt/notesSlides/notesSlide15.xml" Id="R657b4539c76f49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55dab08cbc4636" /><Relationship Type="http://schemas.openxmlformats.org/officeDocument/2006/relationships/notesSlide" Target="/ppt/notesSlides/notesSlide16.xml" Id="Rb81716cf3c9541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2cb7d0d7c24e0f" /><Relationship Type="http://schemas.openxmlformats.org/officeDocument/2006/relationships/notesSlide" Target="/ppt/notesSlides/notesSlide17.xml" Id="R4233a940c24d4f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9649ce6b5441c9" /><Relationship Type="http://schemas.openxmlformats.org/officeDocument/2006/relationships/notesSlide" Target="/ppt/notesSlides/notesSlide18.xml" Id="R2b34a818c2e74d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971936c0084bb6" /><Relationship Type="http://schemas.openxmlformats.org/officeDocument/2006/relationships/notesSlide" Target="/ppt/notesSlides/notesSlide19.xml" Id="R5a76c04393bc49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1caa7abacb4b3c" /><Relationship Type="http://schemas.openxmlformats.org/officeDocument/2006/relationships/notesSlide" Target="/ppt/notesSlides/notesSlide20.xml" Id="R0b8156e5b95048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27e48070ab44e8" /><Relationship Type="http://schemas.openxmlformats.org/officeDocument/2006/relationships/notesSlide" Target="/ppt/notesSlides/notesSlide21.xml" Id="R2bd67ef83dac4f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4037262024473" /><Relationship Type="http://schemas.openxmlformats.org/officeDocument/2006/relationships/notesSlide" Target="/ppt/notesSlides/notesSlide22.xml" Id="R31be59a345f64c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0ecb58d9f4e3c" /><Relationship Type="http://schemas.openxmlformats.org/officeDocument/2006/relationships/notesSlide" Target="/ppt/notesSlides/notesSlide23.xml" Id="R2a90fa50cffe49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39fa5f5ed4149" /><Relationship Type="http://schemas.openxmlformats.org/officeDocument/2006/relationships/notesSlide" Target="/ppt/notesSlides/notesSlide24.xml" Id="R721379eeaeba46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cf3f7815941a7" /><Relationship Type="http://schemas.openxmlformats.org/officeDocument/2006/relationships/notesSlide" Target="/ppt/notesSlides/notesSlide25.xml" Id="Rda417e3cb4bb44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44ee035314f53" /><Relationship Type="http://schemas.openxmlformats.org/officeDocument/2006/relationships/notesSlide" Target="/ppt/notesSlides/notesSlide26.xml" Id="Ra36085ec555a4d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203c55fdb473d" /><Relationship Type="http://schemas.openxmlformats.org/officeDocument/2006/relationships/notesSlide" Target="/ppt/notesSlides/notesSlide27.xml" Id="Rf55674a14c9d49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9c2df67b84b79" /><Relationship Type="http://schemas.openxmlformats.org/officeDocument/2006/relationships/notesSlide" Target="/ppt/notesSlides/notesSlide28.xml" Id="R67259fea646941e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5f9025e134c6c" /><Relationship Type="http://schemas.openxmlformats.org/officeDocument/2006/relationships/notesSlide" Target="/ppt/notesSlides/notesSlide29.xml" Id="Rd3dc3f268c5b4e44" /></Relationships>
</file>

<file path=ppt/slides/slide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B8B8B"/>
                </a:solidFill>
                <a:latin typeface="DFKai-SB"/>
                <a:ea typeface="DFKai-SB"/>
                <a:cs typeface="DFKai-SB"/>
              </a:defRPr>
            </a:pPr>
            <a:fld id="{AD75FED6-38D0-DE9C-92C0-6E7FA635581C}" type="slidenum">
              <a:rPr sz="1200">
                <a:solidFill>
                  <a:srgbClr val="8B8B8B"/>
                </a:solidFill>
                <a:latin typeface="DFKai-SB"/>
                <a:ea typeface="DFKai-SB"/>
                <a:cs typeface="DFKai-SB"/>
              </a:rPr>
              <a:t>1</a:t>
            </a:fld>
            <a:endParaRPr/>
          </a:p>
        </p:txBody>
      </p:sp>
      <p:sp>
        <p:nvSpPr>
          <p:cNvPr id="9" name="圖解：一個標籤如何往下走">
            <a:extLst xmlns:a="http://schemas.openxmlformats.org/drawingml/2006/main">
              <a:ext uri="{FF2B5EF4-FFF2-40B4-BE49-F238E27FC236}">
                <a16:creationId xmlns:a16="http://schemas.microsoft.com/office/drawing/2014/main" id="{F31A8B3B-3C30-4ED4-9EAB-61E9E11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圖解：一個標籤如何往下走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0DC76B0D-7DB0-4AA4-9CD6-17E3518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每一頁只追蹤一個動作；圖上的 Q 是尚待處理的標籤。">
            <a:extLst xmlns:a="http://schemas.openxmlformats.org/drawingml/2006/main">
              <a:ext uri="{FF2B5EF4-FFF2-40B4-BE49-F238E27FC236}">
                <a16:creationId xmlns:a16="http://schemas.microsoft.com/office/drawing/2014/main" id="{91596793-96AD-4397-A4D0-52B1A3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每個開始時間分別檢查，通過後建立 Label，再做支配判斷。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11FB93-AA58-47E4-AB47-208E7C6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3" name="取出標籤&#10;(v, a, U)">
            <a:extLst xmlns:a="http://schemas.openxmlformats.org/drawingml/2006/main">
              <a:ext uri="{FF2B5EF4-FFF2-40B4-BE49-F238E27FC236}">
                <a16:creationId xmlns:a16="http://schemas.microsoft.com/office/drawing/2014/main" id="{6C022025-675B-4202-9121-8CFE6DC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85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</a:t>
            </a:r>
            <a:endParaRPr sz="172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(c, A, s, 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)</a:t>
            </a:r>
          </a:p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82D4B455-6F52-4C03-86C6-2218D4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D246C2F-CED6-460B-8CE1-14232E0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3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16F3D81-E4F6-4C77-BE28-05E7EFA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7" name="選 contact&#10;列舉時刻 s">
            <a:extLst xmlns:a="http://schemas.openxmlformats.org/drawingml/2006/main">
              <a:ext uri="{FF2B5EF4-FFF2-40B4-BE49-F238E27FC236}">
                <a16:creationId xmlns:a16="http://schemas.microsoft.com/office/drawing/2014/main" id="{395F660B-E541-4A6D-856C-1C987A5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1981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選下一個 contact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列舉發送時間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C97B7C34-A44E-49B4-B138-8A8E56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F480E53-9AF4-4E47-AA05-138AC50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9AE198-53CE-4B80-A5C0-A0DC48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1" name="時間、容量&#10;Buffer 檢查">
            <a:extLst xmlns:a="http://schemas.openxmlformats.org/drawingml/2006/main">
              <a:ext uri="{FF2B5EF4-FFF2-40B4-BE49-F238E27FC236}">
                <a16:creationId xmlns:a16="http://schemas.microsoft.com/office/drawing/2014/main" id="{926D4498-FE29-4832-AB01-F5BBBAA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時間、容量、時段</a:t>
            </a:r>
          </a:p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Buffer 檢查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41298D1-1FD3-47FE-95D5-BCBFF4F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0" cy="9525"/>
          </a:xfrm>
          <a:custGeom xmlns:a="http://schemas.openxmlformats.org/drawingml/2006/main">
            <a:rect l="0" t="0" r="0" b="0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53DDAE-920E-47CF-A56F-B637D16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7C494FB-F83B-4278-9E65-213DA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5" name="支配判斷&#10;保留或刪除">
            <a:extLst xmlns:a="http://schemas.openxmlformats.org/drawingml/2006/main">
              <a:ext uri="{FF2B5EF4-FFF2-40B4-BE49-F238E27FC236}">
                <a16:creationId xmlns:a16="http://schemas.microsoft.com/office/drawing/2014/main" id="{2CDF9EA3-1822-4984-9C12-4CF6353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支配判斷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保留或刪除</a:t>
            </a:r>
          </a:p>
        </p:txBody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208F013-1ED0-4727-8E78-566E06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5A172C9-F7D5-4D9E-9949-4C8DCD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835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DFBB73B-2B08-43ED-97F4-79559B1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81425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29" name="失敗：拒絕這次延伸">
            <a:extLst xmlns:a="http://schemas.openxmlformats.org/drawingml/2006/main">
              <a:ext uri="{FF2B5EF4-FFF2-40B4-BE49-F238E27FC236}">
                <a16:creationId xmlns:a16="http://schemas.microsoft.com/office/drawing/2014/main" id="{5E8B123F-9D0A-4633-9230-52D5105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576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失敗：拒絕這次延伸</a:t>
            </a:r>
          </a:p>
        </p:txBody>
      </p:sp>
      <p:sp>
        <p:nvSpPr>
          <p:cNvPr id="30" name="手繪多邊形: 圖案 29">
            <a:extLst xmlns:a="http://schemas.openxmlformats.org/drawingml/2006/main">
              <a:ext uri="{FF2B5EF4-FFF2-40B4-BE49-F238E27FC236}">
                <a16:creationId xmlns:a16="http://schemas.microsoft.com/office/drawing/2014/main" id="{D6A90AF7-7D38-4E55-985F-B23877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1" name="手繪多邊形: 圖案 30">
            <a:extLst xmlns:a="http://schemas.openxmlformats.org/drawingml/2006/main">
              <a:ext uri="{FF2B5EF4-FFF2-40B4-BE49-F238E27FC236}">
                <a16:creationId xmlns:a16="http://schemas.microsoft.com/office/drawing/2014/main" id="{26F6A6E8-2DA9-4BE9-98C4-B96B6F8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60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4E9AEFA-1A17-4F38-80AE-8261388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3" name="通過：加入 Q">
            <a:extLst xmlns:a="http://schemas.openxmlformats.org/drawingml/2006/main">
              <a:ext uri="{FF2B5EF4-FFF2-40B4-BE49-F238E27FC236}">
                <a16:creationId xmlns:a16="http://schemas.microsoft.com/office/drawing/2014/main" id="{4F8B1EFC-7731-4F36-8DFF-E5273EA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通過：加入 Q</a:t>
            </a:r>
          </a:p>
        </p:txBody>
      </p:sp>
      <p:sp>
        <p:nvSpPr>
          <p:cNvPr id="34" name="藍：嘗試　綠：保留　紅叉：拒絕　橘：前包占用">
            <a:extLst xmlns:a="http://schemas.openxmlformats.org/drawingml/2006/main">
              <a:ext uri="{FF2B5EF4-FFF2-40B4-BE49-F238E27FC236}">
                <a16:creationId xmlns:a16="http://schemas.microsoft.com/office/drawing/2014/main" id="{909D12FE-D4F0-48BF-A3AC-AEE067E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藍：嘗試　綠：保留　紅叉：拒絕　橘：前包占用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938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中央維護剩餘容量、Buffer 占用及 contact 已預約發送時段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 路徑接受後更新資源狀態，再以更新後的狀態替 B 搜尋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99B76C91-3DEF-403D-B104-512F3DC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Q 與 U 的讀法">
            <a:extLst xmlns:a="http://schemas.openxmlformats.org/drawingml/2006/main">
              <a:ext uri="{FF2B5EF4-FFF2-40B4-BE49-F238E27FC236}">
                <a16:creationId xmlns:a16="http://schemas.microsoft.com/office/drawing/2014/main" id="{D83F66B3-B118-4816-9BB7-3ADD335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與 Q 的定義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36A1F7F-F151-498B-80AA-FE093C8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81EDD45-2D9A-43BF-BAFB-3337E60B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(c, A, s, </a:t>
            </a: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)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60F4612-DC4D-4385-AF9B-5755557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72F6AB1-587A-4F66-8E15-213CE49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860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最後使用的 contact；目前節點為它的接收端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CC2F8EF-D37B-4568-9A5D-12F4A3A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2A98481-1DD9-4690-B17D-038222C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整包通過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c 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後，完整抵達接收端的時間</a:t>
            </a:r>
            <a:endParaRPr sz="2025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BF5AB7-E04E-4680-A799-B6477E9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ADBF53A-2D07-488A-90D3-8F486846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7185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在 c 上實際開始傳送的時間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215C3AE-CD68-4EB5-8D0F-3361B7F1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1477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FE53101-8872-4397-B3CE-684DE9B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1477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前一個 label，供路徑與各跳時間回溯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1410748-4E68-40F0-BFE3-97A4676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例：L₂ = (c4, 8, 7, L₀)，表示 7 秒起送、8 秒到 B。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E8AEC30-0018-4B76-A477-DCD64AF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Q：依 A 取出最小者，同值先建立者優先。L₀ = (c₀, g, —, ∅)。</a:t>
            </a:r>
          </a:p>
        </p:txBody>
      </p:sp>
    </p:spTree>
    <p:extLst>
      <p:ext uri="{BB962C8B-B14F-4D97-AF65-F5344CB8AC3E}">
        <p14:creationId xmlns:p14="http://schemas.microsoft.com/office/powerpoint/2010/main" val="1465308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S=4 MB，傳輸時間 S/r=1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手繪多邊形: 圖案 69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手繪多邊形: 圖案 71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手繪多邊形: 圖案 73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手繪多邊形: 圖案 75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  <p:sp>
        <p:nvSpPr>
          <p:cNvPr id="81" name="c1">
            <a:extLst xmlns:a="http://schemas.openxmlformats.org/drawingml/2006/main">
              <a:ext uri="{FF2B5EF4-FFF2-40B4-BE49-F238E27FC236}">
                <a16:creationId xmlns:a16="http://schemas.microsoft.com/office/drawing/2014/main" id="{E8B70119-AFD0-4F92-BC69-28ABBE2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E8A6AE67-4070-48E3-883C-12F9A7D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6235B4E9-469C-4540-945E-27A0922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748155E2-80C6-487C-938C-A3AD119E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C21272F0-DC72-49EE-8F78-C547EBA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179B7D1C-C8DC-4DA8-975A-E819292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1AF742B6-3441-4CB6-B65A-174A5BD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2015797B-B264-4CA6-98D6-26CFE0C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與資源狀態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節點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buffer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上限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=4 MB</a:t>
            </a:r>
          </a:p>
        </p:txBody>
      </p:sp>
      <p:graphicFrame>
        <p:nvGraphicFramePr>
          <p:cNvPr id="131" name="表格 80"/>
          <p:cNvGraphicFramePr/>
          <p:nvPr/>
        </p:nvGraphicFramePr>
        <p:xfrm>
          <a:off xmlns:a="http://schemas.openxmlformats.org/drawingml/2006/main" x="5826817" y="1394567"/>
          <a:ext xmlns:a="http://schemas.openxmlformats.org/drawingml/2006/main" cx="6209675" cy="3291840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1935"/>
                <a:gridCol w="1241935"/>
                <a:gridCol w="1241935"/>
                <a:gridCol w="1241935"/>
                <a:gridCol w="1241935"/>
              </a:tblGrid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傳送端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接收端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開始時間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結束時間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X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9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11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A9B9609D-F53E-4A17-94C3-28A92EC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402D3F27-6C6F-4479-BD23-C1C169A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B8FDB4F2-9290-473A-9847-2641BD3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152C9C13-4D14-4DB1-BD5E-1227CAA1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D7BA87BF-1B19-47C1-8759-20BFD27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ECAA8ACD-7BDB-4435-A98E-C637932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6D87B596-792E-4AA2-9378-1B524C3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9" name="c1">
            <a:extLst xmlns:a="http://schemas.openxmlformats.org/drawingml/2006/main">
              <a:ext uri="{FF2B5EF4-FFF2-40B4-BE49-F238E27FC236}">
                <a16:creationId xmlns:a16="http://schemas.microsoft.com/office/drawing/2014/main" id="{1EC0492B-892A-4500-914C-3385E55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90" name="c7">
            <a:extLst xmlns:a="http://schemas.openxmlformats.org/drawingml/2006/main">
              <a:ext uri="{FF2B5EF4-FFF2-40B4-BE49-F238E27FC236}">
                <a16:creationId xmlns:a16="http://schemas.microsoft.com/office/drawing/2014/main" id="{6318B838-97DE-4817-B9DD-0428DFF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FB7C0ED2-596D-465D-8A1C-7B99160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339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r=4 MB/s；δ(c2,c5,c6)=1 秒，其餘 δ=0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E00AF2DF-0A9A-4465-90FD-E8362C8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95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初始 R(c1～c8)=(4,4,4,8,4,4,2,4) MB</a:t>
            </a:r>
          </a:p>
        </p:txBody>
      </p:sp>
    </p:spTree>
    <p:extLst>
      <p:ext uri="{BB962C8B-B14F-4D97-AF65-F5344CB8AC3E}">
        <p14:creationId xmlns:p14="http://schemas.microsoft.com/office/powerpoint/2010/main" val="4187378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49C2689B-3202-43B9-B51B-A20213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可分配量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4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≥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ize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；</a:t>
            </a:r>
            <a:r>
              <a:rPr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buffer 為 4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MB，建立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L₁。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(c1, 3, 2, L₀)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[L₀(c₀,0,—,∅)] → 取出 L₀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[L₁(c1,3,2,L₀)]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D440B9FB-6110-44F7-9D25-2B26788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ABB9169B-48D7-404F-8F8A-926B035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CC913A2-2DA8-457F-AEB4-58F9198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F1E6F8A-6286-49AD-899D-217C409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5B1CEE2-020B-4F23-AA3D-2D1D946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F574807B-1167-4F84-8793-A36D157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1922D672-A63B-4D2F-8478-336CACD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315A9E5-4432-4106-983F-FBA8878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5F903D7C-C93B-44DD-81A3-A9E17EB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BC3FFBC6-8E7D-40F3-8E72-AD68636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</a:t>
            </a:r>
            <a:endParaRPr sz="202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L₂：D,8　　L₃：D,12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[L₁(c1,3,2,L₀)] → 取出 L₁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3F16BC1F-B38A-4881-BA85-886D311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EF96E82-DB33-49CB-879D-2AAE21D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</a:t>
            </a: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7</a:t>
            </a: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E2DAFA69-0CB7-404A-AD10-B261FA5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04992C6F-EA04-49F4-913B-574E6DC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6595D82A-0C6A-4E76-BD04-F659EA5E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DB333FF3-3F86-4EAF-BBFE-C964D33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1AA6DBC7-2DD5-45FF-BBAE-9D193A0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04B5D679-7862-44DB-910B-A06B548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05032842-8DFF-4B4A-8C7E-037227E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32BA1A0-9A4C-45B2-BC0C-EBB7BE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c1→c2，扣容量、更新 Buffer，預約 c1[2,3)、c2[6,7)。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手繪多邊形: 圖案 37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078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L₂(c2,8,6,L₁) → 第一包結束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CB2FE05-4CB1-4412-984A-C0B26C3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EB07CB91-90C0-441B-8C73-694CC48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85B2522-6376-4C4D-A195-9AD4404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4C0B9132-656E-4037-987F-6A4A006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9951574-1F93-4852-8043-254742A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A587A928-8BEA-4F23-A6F3-FCB1F3B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EA7C5DD0-B379-418F-A307-8A587A9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90CA67BA-B459-45FD-956D-3C015BE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37C91EAB-F9A6-46A6-BCB7-834FB83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：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嘗試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到 B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6FD4E901-907E-4F76-861E-C9206D3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1～2 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秒接收可行，因此保留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L₁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(c3, 2, 1, L₀)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[L₀(c₀,1,—,∅)] → 取出 L₀</a:t>
            </a:r>
          </a:p>
        </p:txBody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ECE5B1B7-AE61-4D6E-89C4-91D9452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8D515379-491E-4E8D-87D4-8668292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5474463-A411-4B30-B970-C54B185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75164BA5-9E8F-4038-B86D-DB1012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5B661736-839F-40FE-BE6E-555E09E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6CA437B4-F5A2-4B8C-AA37-22CA947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B255F75A-B562-4BD3-BF8B-6C71098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891802C-7ABF-4254-977A-6D567E3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5" name="c7">
            <a:extLst xmlns:a="http://schemas.openxmlformats.org/drawingml/2006/main">
              <a:ext uri="{FF2B5EF4-FFF2-40B4-BE49-F238E27FC236}">
                <a16:creationId xmlns:a16="http://schemas.microsoft.com/office/drawing/2014/main" id="{8C8B8057-D7BA-4727-B451-02C2DAA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：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嘗試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到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endParaRPr sz="3900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 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第二包發送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接收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8881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836" y="3076575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L₂：B,8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第 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8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秒完整抵達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　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036697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第二包：c4 可以晚一點出發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c4 的窗口為 7～9 秒，整包需 1 秒，所以起始時間只有 7">
            <a:extLst xmlns:a="http://schemas.openxmlformats.org/drawingml/2006/main">
              <a:ext uri="{FF2B5EF4-FFF2-40B4-BE49-F238E27FC236}">
                <a16:creationId xmlns:a16="http://schemas.microsoft.com/office/drawing/2014/main" id="{153412B1-F4E7-4914-B5CE-B64A5FB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Δ=1 秒，c4 開放 7～9 秒、整包需 1 秒，枚舉 s=7、8。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同一條 c4，兩個發送選擇">
            <a:extLst xmlns:a="http://schemas.openxmlformats.org/drawingml/2006/main">
              <a:ext uri="{FF2B5EF4-FFF2-40B4-BE49-F238E27FC236}">
                <a16:creationId xmlns:a16="http://schemas.microsoft.com/office/drawing/2014/main" id="{A830BCF3-5371-4852-A713-4CE62C3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同一條 c4，兩個候選開始時間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 窗口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s=7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s=8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</a:t>
            </a:r>
            <a:r>
              <a:rPr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</a:t>
            </a: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/>
              <a:t>：</a:t>
            </a:r>
            <a:r>
              <a:rPr sz="2025"/>
              <a:t>7 </a:t>
            </a:r>
            <a:r>
              <a:rPr sz="2025"/>
              <a:t>秒起送，</a:t>
            </a:r>
            <a:r>
              <a:rPr sz="2025"/>
              <a:t>8 </a:t>
            </a:r>
            <a:r>
              <a:rPr sz="2025"/>
              <a:t>秒完整抵達 </a:t>
            </a:r>
            <a:r>
              <a:rPr sz="2025"/>
              <a:t>B</a:t>
            </a:r>
            <a:br>
              <a:rPr sz="2025"/>
            </a:b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</a:t>
            </a:r>
            <a:r>
              <a:rPr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</a:t>
            </a: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/>
              <a:t>：</a:t>
            </a:r>
            <a:r>
              <a:rPr sz="2025"/>
              <a:t>8 </a:t>
            </a:r>
            <a:r>
              <a:rPr sz="2025"/>
              <a:t>秒起送，</a:t>
            </a:r>
            <a:r>
              <a:rPr sz="2025"/>
              <a:t>9 </a:t>
            </a:r>
            <a:r>
              <a:rPr sz="2025"/>
              <a:t>秒完整抵達 </a:t>
            </a:r>
            <a:r>
              <a:rPr sz="2025"/>
              <a:t>B</a:t>
            </a:r>
            <a:endParaRPr sz="2025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053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 = (c3, 2, 1, L₀)]</a:t>
            </a:r>
            <a:endParaRPr sz="1650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 = (c3, 2, 1, L₀), L₂ = (c4, 8, 7, L₀)]; </a:t>
            </a: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L₃ </a:t>
            </a: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待比較</a:t>
            </a:r>
            <a:endParaRPr sz="1650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27040899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07　支配圖解：保留 L₂，刪除 L₃">
            <a:extLst xmlns:a="http://schemas.openxmlformats.org/drawingml/2006/main">
              <a:ext uri="{FF2B5EF4-FFF2-40B4-BE49-F238E27FC236}">
                <a16:creationId xmlns:a16="http://schemas.microsoft.com/office/drawing/2014/main" id="{D61ED70F-1443-4E24-AA47-A3BBCB2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07　支配示例：L₂ 可等待至 L₃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544718B-A117-4694-83A9-CB5915A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L₂ 能等到第 9 秒，且 U₂=U₃，因此可以取代 L₃。">
            <a:extLst xmlns:a="http://schemas.openxmlformats.org/drawingml/2006/main">
              <a:ext uri="{FF2B5EF4-FFF2-40B4-BE49-F238E27FC236}">
                <a16:creationId xmlns:a16="http://schemas.microsoft.com/office/drawing/2014/main" id="{AFEA6227-0A7F-4D36-800F-BAB8C2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與 L₃ 有相同前驅與 contact，且 L₂ 能持有整包等到第 9 秒。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95EFDD8D-412E-4918-848B-8B512A2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1C20920-5DC8-4550-A752-3EF22E2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A6A3F27-24AF-44D4-AAE9-D873EDC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8DAE5E2C-156B-433F-B581-751FE5C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A540871-C4F0-46BE-89E3-6A7F219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56151C34-9887-4B90-AC31-7E48EFF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76574BC-8824-4875-9223-651C52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6C0F0C93-4673-4294-8F0A-0EF0C09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9062C76-D6A5-414F-9DB1-C67E425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E3007B2-BB5F-4EB7-A635-B7CAE25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FACDC8EC-FDB5-43CB-B0DA-185F953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3E38D82C-7AD2-4F52-A8D3-E846EA6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2DBF9D9-DD87-48A2-98B8-87B7367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D735A489-3D22-4D4E-956A-BD3DDF9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50A8F4C-4C9A-430E-A2B4-8327156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CD66471-B866-4CFA-85C5-B1954B2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DD892F1-4F69-4EFA-8791-59CD553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A6D2A430-5BDA-4B6B-B433-883D2AF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12671968-5FDA-4A94-A24A-1FDD007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A2456E1-F262-4269-A347-063ED19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0D08150-9928-4E22-927B-4D1442E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03041FB8-AD06-44DE-814B-AD2A9BE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03E400B-AB1D-4296-BA08-B22746B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172CBC0-79D8-45CF-9E25-27B44CD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AB166458-4328-404A-A637-2BAE5B1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6FB1689-58A1-4349-8900-B8E234A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AC002A5-9254-4294-BCDF-F169B55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45D94C7-DF9A-44C7-83BC-149F1CE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4D7ED73C-1FE2-4070-A442-5DAEA15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C928CCAF-1516-4C7C-8F1D-A3F31EA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187EBCF-C313-40F5-A213-B320DB6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FE48EB9-FC9C-4E16-9C2E-03564F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F9E53CC-588D-43B9-9B62-543177A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6952D139-2DA7-4D13-9D2E-F92543F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0CC3728-37A2-46B7-A2A1-92B7A74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9" name="L₂：B,8">
            <a:extLst xmlns:a="http://schemas.openxmlformats.org/drawingml/2006/main">
              <a:ext uri="{FF2B5EF4-FFF2-40B4-BE49-F238E27FC236}">
                <a16:creationId xmlns:a16="http://schemas.microsoft.com/office/drawing/2014/main" id="{5C773199-8DCC-48E6-9DE0-882780E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L₂：c4, A=8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39F5BB-4C0B-4E14-9C75-25C38C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41" name="L₃：B,9">
            <a:extLst xmlns:a="http://schemas.openxmlformats.org/drawingml/2006/main">
              <a:ext uri="{FF2B5EF4-FFF2-40B4-BE49-F238E27FC236}">
                <a16:creationId xmlns:a16="http://schemas.microsoft.com/office/drawing/2014/main" id="{8BBFA650-2FE1-4354-B5D5-AA81E4B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L₃：c4, A=9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BDAAD4DB-582E-4803-9441-5593A0B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238250" cy="9525"/>
          </a:xfrm>
          <a:custGeom xmlns:a="http://schemas.openxmlformats.org/drawingml/2006/main">
            <a:rect l="0" t="0" r="0" b="0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E51EB8B1-AB5A-4B65-B336-67F952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535" y="20688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4" name="持有 4 MB 等待 1 秒">
            <a:extLst xmlns:a="http://schemas.openxmlformats.org/drawingml/2006/main">
              <a:ext uri="{FF2B5EF4-FFF2-40B4-BE49-F238E27FC236}">
                <a16:creationId xmlns:a16="http://schemas.microsoft.com/office/drawing/2014/main" id="{D11AE641-42E2-42BC-BB59-B65E2D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持有 4 MB 等待 1 秒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BB44BB-07E9-4F68-895C-B931CF6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667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6" name="O_B(t)=0，總占用 4≤4">
            <a:extLst xmlns:a="http://schemas.openxmlformats.org/drawingml/2006/main">
              <a:ext uri="{FF2B5EF4-FFF2-40B4-BE49-F238E27FC236}">
                <a16:creationId xmlns:a16="http://schemas.microsoft.com/office/drawing/2014/main" id="{CD9AB3A7-CC23-4DD4-B19C-BC792A1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455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O_B(t)=0，總占用 4≤4</a:t>
            </a:r>
          </a:p>
        </p:txBody>
      </p:sp>
      <p:sp>
        <p:nvSpPr>
          <p:cNvPr id="47" name="c4 用量相同：都是 4 MB">
            <a:extLst xmlns:a="http://schemas.openxmlformats.org/drawingml/2006/main">
              <a:ext uri="{FF2B5EF4-FFF2-40B4-BE49-F238E27FC236}">
                <a16:creationId xmlns:a16="http://schemas.microsoft.com/office/drawing/2014/main" id="{9D130305-EF1F-4DA5-BB2A-6E51A09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本例可等待至 9 秒。一般支配條件待證明。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C0F20A03-C7DE-4B36-9445-26E138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1447800" cy="381000"/>
          </a:xfrm>
          <a:custGeom xmlns:a="http://schemas.openxmlformats.org/drawingml/2006/main">
            <a:rect l="0" t="0" r="0" b="0"/>
            <a:pathLst>
              <a:path w="1447800" h="381000">
                <a:moveTo>
                  <a:pt x="0" y="0"/>
                </a:moveTo>
                <a:lnTo>
                  <a:pt x="1447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49" name="Q 原本">
            <a:extLst xmlns:a="http://schemas.openxmlformats.org/drawingml/2006/main">
              <a:ext uri="{FF2B5EF4-FFF2-40B4-BE49-F238E27FC236}">
                <a16:creationId xmlns:a16="http://schemas.microsoft.com/office/drawing/2014/main" id="{378D7D4B-23F8-4621-9BD4-8B45CCF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0" name="[L₁(B,2), L₂(B,8)] ＋ 候選 L₃">
            <a:extLst xmlns:a="http://schemas.openxmlformats.org/drawingml/2006/main">
              <a:ext uri="{FF2B5EF4-FFF2-40B4-BE49-F238E27FC236}">
                <a16:creationId xmlns:a16="http://schemas.microsoft.com/office/drawing/2014/main" id="{BC7E88CA-A9CA-4948-A132-F0468A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 ＋ L₃(c4,9,8,L₀)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D0D2799F-B3BE-4A97-88BC-254FD02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88F9021F-897F-4659-B052-2CEEA60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3" name="Q 更新">
            <a:extLst xmlns:a="http://schemas.openxmlformats.org/drawingml/2006/main">
              <a:ext uri="{FF2B5EF4-FFF2-40B4-BE49-F238E27FC236}">
                <a16:creationId xmlns:a16="http://schemas.microsoft.com/office/drawing/2014/main" id="{CD5473A9-4625-4337-A117-60A41D3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4" name="[L₁(B,2), L₂(B,8)]；刪除 L₃">
            <a:extLst xmlns:a="http://schemas.openxmlformats.org/drawingml/2006/main">
              <a:ext uri="{FF2B5EF4-FFF2-40B4-BE49-F238E27FC236}">
                <a16:creationId xmlns:a16="http://schemas.microsoft.com/office/drawing/2014/main" id="{9196F14E-49A3-465C-B941-C755F15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L₂(c4,8,7,L₀)]；刪除 L₃</a:t>
            </a:r>
          </a:p>
        </p:txBody>
      </p:sp>
      <p:sp>
        <p:nvSpPr>
          <p:cNvPr id="56" name="c1">
            <a:extLst xmlns:a="http://schemas.openxmlformats.org/drawingml/2006/main">
              <a:ext uri="{FF2B5EF4-FFF2-40B4-BE49-F238E27FC236}">
                <a16:creationId xmlns:a16="http://schemas.microsoft.com/office/drawing/2014/main" id="{592916AA-90F5-4817-A568-83D31DE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57" name="c1">
            <a:extLst xmlns:a="http://schemas.openxmlformats.org/drawingml/2006/main">
              <a:ext uri="{FF2B5EF4-FFF2-40B4-BE49-F238E27FC236}">
                <a16:creationId xmlns:a16="http://schemas.microsoft.com/office/drawing/2014/main" id="{9B4D523E-0E5D-4CEF-88DA-AFF2547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58" name="c1">
            <a:extLst xmlns:a="http://schemas.openxmlformats.org/drawingml/2006/main">
              <a:ext uri="{FF2B5EF4-FFF2-40B4-BE49-F238E27FC236}">
                <a16:creationId xmlns:a16="http://schemas.microsoft.com/office/drawing/2014/main" id="{3A962E29-555F-49A5-9440-9A1A050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D35AB191-385B-4AF0-AB70-6783C13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8A43D693-26A1-4628-8987-F9582EA0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2C2A76E6-8474-49DF-9B69-8189B6C9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94F25F9B-9AE7-42E1-A241-1E47235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C891370-39BF-46A5-BC4D-5B70AC6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4" name="c7">
            <a:extLst xmlns:a="http://schemas.openxmlformats.org/drawingml/2006/main">
              <a:ext uri="{FF2B5EF4-FFF2-40B4-BE49-F238E27FC236}">
                <a16:creationId xmlns:a16="http://schemas.microsoft.com/office/drawing/2014/main" id="{6307F1CF-BAAA-4A2C-9EED-3D9ED6B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935347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第二包：L₄ 加入優先佇列 Q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DDB39F33-8AAC-4CD9-9119-3C60348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F5B9F7C-4408-45E4-80BE-C83EFE2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每次取出完整抵達時間最早者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c3, A=2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c6, A=3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c4, A=8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25CDF70-474F-4C8B-A803-DF0555A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24FCFF4-1256-41C1-8EDC-165F5E5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3E04EB32-7720-4735-905A-6F0F535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345F93AC-B09C-4E5E-9E4E-39D0EB8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5DEBAD45-BF06-4CD1-9D4C-B44FA2D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2F36613D-13E1-48EB-9D09-798C115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5A0D0CD-5D69-43A0-A094-2061225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E2A261A1-E717-445E-973A-4C40654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687770E8-2B35-400E-AFEB-6D22650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9C507EF-CABE-4891-A39E-2BBD829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BE51BB98-B306-4DA4-87D7-A0332E8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[L₄(c6,3,1,L₀), 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D1664A5-11C7-4D72-BD94-707CD39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A966404D-BF19-4A17-BA29-0044CE2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F76CE7-F4AD-4FB9-AD62-B285469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EBE06069-87D4-493A-BB20-D468938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1642264D-6055-42C9-B358-E97FBFD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00B0CD1-40D8-41C0-904D-6188179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A1F79F27-327E-47F8-BB55-CF151D3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7D2BFDC-0040-42C9-891D-B09B3D4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84CE7DDC-DD3D-414C-8BFD-318597C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10　早到 B：等待 c5 會超過上限">
            <a:extLst xmlns:a="http://schemas.openxmlformats.org/drawingml/2006/main">
              <a:ext uri="{FF2B5EF4-FFF2-40B4-BE49-F238E27FC236}">
                <a16:creationId xmlns:a16="http://schemas.microsoft.com/office/drawing/2014/main" id="{FF774D99-7088-4ED6-8626-24F4C59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10　早到 B：等待 c5 會超過上限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D028150-C8D9-4441-914B-BCF5CE2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第 3 秒：第一包 4 MB ＋ 第二包 4 MB ＝ 8 MB">
            <a:extLst xmlns:a="http://schemas.openxmlformats.org/drawingml/2006/main">
              <a:ext uri="{FF2B5EF4-FFF2-40B4-BE49-F238E27FC236}">
                <a16:creationId xmlns:a16="http://schemas.microsoft.com/office/drawing/2014/main" id="{96C19105-1DF6-4BAF-B433-C5DC6D4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3 秒：第一包 4 MB ＋ 第二包 4 MB ＝ 8 MB，超過上限。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39BFA07A-00AE-41AB-95C3-80E97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F70AF0F-6B61-4786-88AD-F0CFFE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2BF12FA-E6DA-4494-ACF6-EE2F25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D29CDFF-2F14-49C9-8C33-13D7A84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056A72CB-4726-4339-AC27-ADE228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D338B9E-2422-4D70-B778-462B29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632FC5E-22C8-4AF3-B03B-EA8A34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1E814D4-7153-4F5B-9533-3DA5C6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BFDEC198-9FB3-48E7-B468-0D510AD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D6B66C7-BC3D-49ED-B54D-FCA6D94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044084A-DC1A-4638-A4F2-A91E26C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1A885DC3-7EBB-4CB4-8E9E-1E767E4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00A0603-39D2-490F-8396-6074589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815FC0-C044-47AB-AC6B-7B36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41BC6AA-46BD-43D1-866F-559A62A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9C47DD5-8ABF-416C-85E0-89A48E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6087155-EDA2-4AE4-B25F-C16645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D45E8C0-B9A9-4999-BD06-F2E6BE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3674A767-F7BE-4BF5-BA72-B29B69A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89415CDB-188B-45F7-93BF-86087DC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57088ECF-3B79-4AD3-B07D-7359C33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48CBDE6D-9AD1-4371-ADE6-A4022C6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06C5A639-406D-4DF8-B28D-76CACF2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DE96AB85-9E34-4910-9AB1-994C21F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A25456E-5BF1-4904-ABCB-8FA143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FB6A6B76-3BF6-4790-9364-4E7755E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92BE4696-45B4-46F0-8871-E04AF1F9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D138F2B-04B6-4172-A531-254E59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1710E6D-BB2E-4C16-9755-51C3ABFB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F99A0F89-19D7-4B94-B86A-D6557AB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7FF8BF4-5314-4A51-8672-B12A365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E9C4523E-C802-463E-8B1A-8DFC915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DE42F113-8874-4A58-93A2-A86084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F0A1A859-EC8E-4661-BF0D-E2AF8E0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C4C71608-B394-437D-A110-B558ADC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23035AF-3A63-4899-B252-8E8998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FFC50F3C-6330-4DDE-B44C-BC6E603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0">
            <a:extLst xmlns:a="http://schemas.openxmlformats.org/drawingml/2006/main">
              <a:ext uri="{FF2B5EF4-FFF2-40B4-BE49-F238E27FC236}">
                <a16:creationId xmlns:a16="http://schemas.microsoft.com/office/drawing/2014/main" id="{86139ECF-4CEC-4C93-9187-EB9CA66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3" name="4">
            <a:extLst xmlns:a="http://schemas.openxmlformats.org/drawingml/2006/main">
              <a:ext uri="{FF2B5EF4-FFF2-40B4-BE49-F238E27FC236}">
                <a16:creationId xmlns:a16="http://schemas.microsoft.com/office/drawing/2014/main" id="{140DBB81-271D-47D9-84A2-D6EA43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7157D204-7050-4603-AE1E-57C298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5" name="8">
            <a:extLst xmlns:a="http://schemas.openxmlformats.org/drawingml/2006/main">
              <a:ext uri="{FF2B5EF4-FFF2-40B4-BE49-F238E27FC236}">
                <a16:creationId xmlns:a16="http://schemas.microsoft.com/office/drawing/2014/main" id="{1E728B81-816B-4DD6-A99C-8ADFB9F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6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408A28A6-051C-498A-870B-D68B063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7" name="上限 4">
            <a:extLst xmlns:a="http://schemas.openxmlformats.org/drawingml/2006/main">
              <a:ext uri="{FF2B5EF4-FFF2-40B4-BE49-F238E27FC236}">
                <a16:creationId xmlns:a16="http://schemas.microsoft.com/office/drawing/2014/main" id="{4E4A5785-ACCB-46EA-8B3B-AEFD32A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7527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B4216850-4EA5-427B-BC0E-24F4728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2">
            <a:extLst xmlns:a="http://schemas.openxmlformats.org/drawingml/2006/main">
              <a:ext uri="{FF2B5EF4-FFF2-40B4-BE49-F238E27FC236}">
                <a16:creationId xmlns:a16="http://schemas.microsoft.com/office/drawing/2014/main" id="{D7514C43-FF43-4459-809D-D15863F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1AB542BE-7995-4699-9A2B-236F4F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4">
            <a:extLst xmlns:a="http://schemas.openxmlformats.org/drawingml/2006/main">
              <a:ext uri="{FF2B5EF4-FFF2-40B4-BE49-F238E27FC236}">
                <a16:creationId xmlns:a16="http://schemas.microsoft.com/office/drawing/2014/main" id="{59B2B5DE-896D-46E6-B19C-12050C2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44E98A2-5D1F-4831-B65D-8EA9FDD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6">
            <a:extLst xmlns:a="http://schemas.openxmlformats.org/drawingml/2006/main">
              <a:ext uri="{FF2B5EF4-FFF2-40B4-BE49-F238E27FC236}">
                <a16:creationId xmlns:a16="http://schemas.microsoft.com/office/drawing/2014/main" id="{E2D6EA4A-ED78-47D5-B385-9B8F2A8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118FEDA6-4E00-4F84-A1BC-9222E0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8">
            <a:extLst xmlns:a="http://schemas.openxmlformats.org/drawingml/2006/main">
              <a:ext uri="{FF2B5EF4-FFF2-40B4-BE49-F238E27FC236}">
                <a16:creationId xmlns:a16="http://schemas.microsoft.com/office/drawing/2014/main" id="{7480CDD8-85B4-4F14-8DAC-BED58C8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B7411FD0-A883-48A6-BE7F-75A8E78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0">
            <a:extLst xmlns:a="http://schemas.openxmlformats.org/drawingml/2006/main">
              <a:ext uri="{FF2B5EF4-FFF2-40B4-BE49-F238E27FC236}">
                <a16:creationId xmlns:a16="http://schemas.microsoft.com/office/drawing/2014/main" id="{EABE3EBC-3BE2-4203-A785-7567A8F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812284B9-DDF8-412F-9416-C42C32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2">
            <a:extLst xmlns:a="http://schemas.openxmlformats.org/drawingml/2006/main">
              <a:ext uri="{FF2B5EF4-FFF2-40B4-BE49-F238E27FC236}">
                <a16:creationId xmlns:a16="http://schemas.microsoft.com/office/drawing/2014/main" id="{662ED5B2-8847-4578-A952-929F1B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16979AB6-BE17-432F-B67A-7A63A7C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12F506AF-8A78-4C42-8192-7642761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0"/>
                </a:moveTo>
                <a:lnTo>
                  <a:pt x="3238500" y="0"/>
                </a:lnTo>
                <a:lnTo>
                  <a:pt x="364331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300B4071-03E5-41FF-88F1-8416B2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48125" cy="1524000"/>
          </a:xfrm>
          <a:custGeom xmlns:a="http://schemas.openxmlformats.org/drawingml/2006/main">
            <a:rect l="0" t="0" r="0" b="0"/>
            <a:pathLst>
              <a:path w="4048125" h="1524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3238500" y="762000"/>
                </a:lnTo>
                <a:lnTo>
                  <a:pt x="3643313" y="1524000"/>
                </a:lnTo>
                <a:lnTo>
                  <a:pt x="4048125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63" name="秒">
            <a:extLst xmlns:a="http://schemas.openxmlformats.org/drawingml/2006/main">
              <a:ext uri="{FF2B5EF4-FFF2-40B4-BE49-F238E27FC236}">
                <a16:creationId xmlns:a16="http://schemas.microsoft.com/office/drawing/2014/main" id="{2866A68D-BF4F-4EDB-A543-55033A3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4" name="L₁ 在第 2 秒能接收，卻不能等到 10 秒">
            <a:extLst xmlns:a="http://schemas.openxmlformats.org/drawingml/2006/main">
              <a:ext uri="{FF2B5EF4-FFF2-40B4-BE49-F238E27FC236}">
                <a16:creationId xmlns:a16="http://schemas.microsoft.com/office/drawing/2014/main" id="{D1590780-FC76-4A68-95FA-87357C9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L₁ 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在第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2 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秒能接收，卻不能等到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10 秒</a:t>
            </a:r>
          </a:p>
        </p:txBody>
      </p:sp>
      <p:sp>
        <p:nvSpPr>
          <p:cNvPr id="65" name="Q 原本">
            <a:extLst xmlns:a="http://schemas.openxmlformats.org/drawingml/2006/main">
              <a:ext uri="{FF2B5EF4-FFF2-40B4-BE49-F238E27FC236}">
                <a16:creationId xmlns:a16="http://schemas.microsoft.com/office/drawing/2014/main" id="{43BF21CD-D1A9-4691-A604-52D15C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6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F9B4AF78-8E23-45DC-B99F-9061176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471350E1-F4CD-4752-A5D5-720FCB3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EB370F50-983A-431F-9775-A8C1918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9" name="Q 更新">
            <a:extLst xmlns:a="http://schemas.openxmlformats.org/drawingml/2006/main">
              <a:ext uri="{FF2B5EF4-FFF2-40B4-BE49-F238E27FC236}">
                <a16:creationId xmlns:a16="http://schemas.microsoft.com/office/drawing/2014/main" id="{90B4DA67-B071-46E3-917F-34EE62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70" name="不建立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5D01516D-EAB5-4730-9949-DA482FE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不建立新標籤；Q 仍為 [L₄(c6,3,1,L₀), L₂(c4,8,7,L₀)]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556AE24E-A29C-458F-97C9-D544FAF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706226A-2C70-443E-8492-3325616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102BE112-2D71-43DD-9064-3585E45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83E248CE-D4A7-4F44-B4D2-B373470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F6BB2D52-FB46-4EBE-9510-C50ACCB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74E5AE60-3FE9-4278-9C78-A7175F5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AF14B62B-0EBC-4ABD-9F30-2CF21AD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7564EDE1-E545-4FF3-A08A-6B70C12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0" name="c7">
            <a:extLst xmlns:a="http://schemas.openxmlformats.org/drawingml/2006/main">
              <a:ext uri="{FF2B5EF4-FFF2-40B4-BE49-F238E27FC236}">
                <a16:creationId xmlns:a16="http://schemas.microsoft.com/office/drawing/2014/main" id="{9C6ED473-1F21-4C23-9B24-E5B132E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pic>
        <p:nvPicPr>
          <p:cNvPr id="160" name="圖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4c764d42a49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1243" y="1613892"/>
            <a:ext cx="6086475" cy="2662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130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9379D2D-4A9B-4535-9232-35A157B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FE0468D-5BF5-42C8-85A0-35BBEA3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EE650B48-A53D-43D7-BBB3-093F62F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0972DB-F70D-4F0B-A68B-5058EA8A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A198EEA8-C91F-4FAF-B162-FE69AC1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ECACB923-C83C-498E-A61B-E216671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5835DA4F-40FE-41C1-9663-F74A208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80F12806-6345-4B7D-8C16-8148BB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5D4067A9-FDC4-49C1-9D48-CE0F441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ABDD174F-7243-4173-A717-FAFE101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055590-0181-4E32-970E-6A574B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手繪多邊形: 圖案 28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</a:t>
            </a: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秒的傳送超</a:t>
            </a: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過</a:t>
            </a:r>
            <a:endParaRPr sz="2100">
              <a:solidFill>
                <a:srgbClr val="B32C28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沒有新標籤；Q 仍為 [L₂(c4,8,7,L₀)]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3FA8DD8C-319F-4575-AE4C-4F97093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2230C4A4-4AA8-4705-8092-0513770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C9D7BE7F-2350-4F8C-B3E7-66D45C6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A33FCE2C-010E-478D-A35D-9F3C532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CABD307D-5BE4-4342-9BA6-CF4361C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D8D594CE-6E64-4619-95BC-CF7ECB7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BBA192A7-2B16-432A-801A-5C060B2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229F358-ED27-4F4A-B24D-2EC2298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DFAD2C03-81CD-4FA5-BB9B-63E886E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EEA4BEE-E5C4-442F-A975-C2A23F6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同一節點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B，以第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8 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Label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再展開</a:t>
            </a:r>
            <a:endParaRPr sz="2175">
              <a:solidFill>
                <a:srgbClr val="B32C28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L₂(c4,8,7,L₀)，Q=[]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24FE18E-F4A0-41E0-955F-7F55704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F354340D-D038-409F-A80E-8C41178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48B1DB1E-22F9-4C60-B519-010CBF3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CE75DD46-9A33-46E8-8627-8942F8C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822FAEC-17C1-46A3-BDCF-24BF84B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7C76318-133A-4846-9D62-7066A7D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046315CF-136E-4431-960E-9E6BEF2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025A540-BBDD-40B6-83F9-0D5934C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C012BAD4-9404-4B5F-BFAF-D4A0CD2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4　晚到 B：可以等到 c5 再發送">
            <a:extLst xmlns:a="http://schemas.openxmlformats.org/drawingml/2006/main">
              <a:ext uri="{FF2B5EF4-FFF2-40B4-BE49-F238E27FC236}">
                <a16:creationId xmlns:a16="http://schemas.microsoft.com/office/drawing/2014/main" id="{7F1C5F49-8F74-4164-A384-980DB70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14　晚到 B：可以等到 c5 再發送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DF3C40B-C0CC-4EA4-8839-5A12A9B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B 在 8～10 秒持有 4 MB，10～11 秒逐 byte ">
            <a:extLst xmlns:a="http://schemas.openxmlformats.org/drawingml/2006/main">
              <a:ext uri="{FF2B5EF4-FFF2-40B4-BE49-F238E27FC236}">
                <a16:creationId xmlns:a16="http://schemas.microsoft.com/office/drawing/2014/main" id="{D254CFF5-4143-49E7-8ED7-DB8EB0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c5[10,11) 無預約衝突。B 等待及逐 byte 發送均不超限。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E5930354-8CB7-484B-A6B4-FD2321B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37317D53-9D81-4EC5-9181-63CB819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A588BE4-B03B-40AF-A028-B5E54D8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1443EA4-530F-4AE5-8557-0A425E8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D641299F-88C3-41D7-8A95-57E3F30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92E4422-7B5F-4234-B101-F0BB55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1598D9-BF82-4B6A-B151-88E7D7B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372B29A9-BD31-4D9B-9F9A-0D4C2F0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F8C30795-D7FC-448D-8D51-520EF7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A72A460F-B18E-47FB-8B80-59A9057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4E7A2B1A-DCCB-4C6E-A8FC-9E6E532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05F4959E-9327-4263-8B6E-2C05439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9C531463-6CBC-4357-95C0-FE7C694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44501EB4-5E45-4B6B-960E-E8E4B68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5B635F-8915-4D2D-A7D0-7D9E7A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24212AC-8EB9-4BDE-9E79-EA42B9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1DF215B-AC74-4135-A751-5545F28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9DCCBA0B-26F4-4692-8A96-66681FD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A8C9DC7-5946-4DC5-9F28-F3C5ADE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9016385-D9DB-490E-91B4-D5AF99D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F566EA2-A4F2-4273-8490-4524109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A707325B-868B-41F6-9072-A8B1155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A5E97F7-0B31-4B99-9830-39ADE19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667458-7313-4232-8340-3EA3E5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6F5CA2F-CB18-42C7-9575-E46C17A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F81DCD38-120D-4DB4-BB42-2CDE93B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602AA44F-CFE5-48BB-BB4A-0BDC9A8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1613C32-7E47-4B4F-91CB-332526F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601B15C-D446-4F2F-9A2A-5656D85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C077A9A-CBF3-469E-A47D-855FFDD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5124892C-7586-44F5-8028-B88EEBF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2C7EB11D-FB65-498C-998D-8B3252F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C885DEE6-836A-4805-98D9-D7EE654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1FF8D090-9C3F-4A85-BBF3-404B9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選定安排">
            <a:extLst xmlns:a="http://schemas.openxmlformats.org/drawingml/2006/main">
              <a:ext uri="{FF2B5EF4-FFF2-40B4-BE49-F238E27FC236}">
                <a16:creationId xmlns:a16="http://schemas.microsoft.com/office/drawing/2014/main" id="{C4CFBDA4-207F-4BFD-AE3C-D87EC2F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綠：第二包選定安排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58DC5075-3A80-4271-9042-E957A29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E43FDDE6-D5C2-47E5-99C8-68C104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1DB61E84-2D80-4915-848C-67B2E33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910C1A23-81E7-4EA5-81C5-D9F16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2BC9A2D6-4D78-4D24-838E-D79C43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D754B777-36FE-4E06-BA9C-5BAE13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445D564-4D69-4FB7-8B1C-59F65B1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D8E1D643-D6EE-4389-9B7A-353C212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81C693E4-E07C-4A76-AF3A-DB40D28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15EEF7FD-24E0-441D-8717-1A83E9C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9A07024-BCE8-4D13-8B82-8E58543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D5CDEF02-7FAC-4D09-B6BF-50C2EA7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C1530DCA-00BD-4088-B591-7873B04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1B26677D-9B8A-4ADA-B8CB-EFCB885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7E7BC21-4967-4303-BC20-3C02976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C3F54565-2D08-45EA-B983-D24CC9F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DFE2711F-ED22-451B-A697-4C85C36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D07F2AFF-FDEE-4C2B-AB5F-28E774E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5EDB26D6-861B-4034-B699-42906CA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626EB52D-7F44-442E-9642-292B77A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777B8375-AADB-4F72-90AD-986604B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4DCF85FF-500C-4F7A-99A3-8E5D720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4D93CF7E-2EBA-485F-B303-1C83F8F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₅ = (D,12,{c4:4,c5:4})">
            <a:extLst xmlns:a="http://schemas.openxmlformats.org/drawingml/2006/main">
              <a:ext uri="{FF2B5EF4-FFF2-40B4-BE49-F238E27FC236}">
                <a16:creationId xmlns:a16="http://schemas.microsoft.com/office/drawing/2014/main" id="{B47EE204-4E3F-4C06-B617-B6C3F49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 = (c5, 12, 10, L₂)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38F610D6-525D-4FF9-944D-F7A396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]">
            <a:extLst xmlns:a="http://schemas.openxmlformats.org/drawingml/2006/main">
              <a:ext uri="{FF2B5EF4-FFF2-40B4-BE49-F238E27FC236}">
                <a16:creationId xmlns:a16="http://schemas.microsoft.com/office/drawing/2014/main" id="{47C63EA6-758D-4BC1-882E-2937BB9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6F641133-6101-4C03-BF3F-787A9EF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EF735A9-D305-4C89-865D-CB157FF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55C083FE-C877-4C7A-8080-EBCAA4C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₅(D,12)]">
            <a:extLst xmlns:a="http://schemas.openxmlformats.org/drawingml/2006/main">
              <a:ext uri="{FF2B5EF4-FFF2-40B4-BE49-F238E27FC236}">
                <a16:creationId xmlns:a16="http://schemas.microsoft.com/office/drawing/2014/main" id="{BD81A4F5-DCD3-4CAE-8499-5F0199C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[L₅(c5,12,10,L₂)]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2C43FB6C-3DA2-42AD-9FB5-1B8E54F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B684F58-8B1F-48C8-9355-7CAFAB4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38373E95-27DB-4BE0-A32C-A304408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7978EB46-7BEE-4AE8-A7CF-C23D3DF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E7C8913-6481-4BBB-AE92-250C930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A29D5894-455A-401B-82EC-2E7BB1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C6FCE90-2E24-4E6A-9A46-9386EC8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A9DD08CA-4088-4A32-83AE-5DF1665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F030AB34-5023-4039-8C52-A3959B4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50475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15　取出目的地：沿前驅回溯">
            <a:extLst xmlns:a="http://schemas.openxmlformats.org/drawingml/2006/main">
              <a:ext uri="{FF2B5EF4-FFF2-40B4-BE49-F238E27FC236}">
                <a16:creationId xmlns:a16="http://schemas.microsoft.com/office/drawing/2014/main" id="{6A8AFD44-4A1A-4E59-B4DC-FFF7AA8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15　取出目的地：沿前驅回溯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5633ACE-9B8C-4EC8-BE47-6B5841F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" name="選定 A→B→D，第 12 秒完整到達；驗證後才更新資源。">
            <a:extLst xmlns:a="http://schemas.openxmlformats.org/drawingml/2006/main">
              <a:ext uri="{FF2B5EF4-FFF2-40B4-BE49-F238E27FC236}">
                <a16:creationId xmlns:a16="http://schemas.microsoft.com/office/drawing/2014/main" id="{7F18A762-9680-4492-BA40-6C9A4FE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 秒完整抵達 D。驗證後更新容量、Buffer 與發送時段。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0544981-896A-471B-AC49-D822CC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L₀&#10;A,1">
            <a:extLst xmlns:a="http://schemas.openxmlformats.org/drawingml/2006/main">
              <a:ext uri="{FF2B5EF4-FFF2-40B4-BE49-F238E27FC236}">
                <a16:creationId xmlns:a16="http://schemas.microsoft.com/office/drawing/2014/main" id="{FB7B4FAD-7928-4A56-B6D7-7C90A32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</a:t>
            </a:r>
          </a:p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c₀, A=1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E9E3BB-9715-4F5E-B7F2-6BE258D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7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599B6C87-AAB6-4C58-8429-92B6ECE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c4, A=8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s=7, pred=L₀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43EF1A-D06F-4883-B237-009CED4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9" name="L₅&#10;D,12">
            <a:extLst xmlns:a="http://schemas.openxmlformats.org/drawingml/2006/main">
              <a:ext uri="{FF2B5EF4-FFF2-40B4-BE49-F238E27FC236}">
                <a16:creationId xmlns:a16="http://schemas.microsoft.com/office/drawing/2014/main" id="{91CFB45E-EA8E-4181-9FD2-EC5787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c5, A=12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s=10, pred=L₂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2C8800B-9382-4D1E-9AFF-734B0ED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1B6A26F5-417B-4563-B765-BB18000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85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6FEB4DF9-C355-4538-A329-1A85B2E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46EB71B-1466-4A1C-BFBD-1DA8C2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410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c4：7～8 秒">
            <a:extLst xmlns:a="http://schemas.openxmlformats.org/drawingml/2006/main">
              <a:ext uri="{FF2B5EF4-FFF2-40B4-BE49-F238E27FC236}">
                <a16:creationId xmlns:a16="http://schemas.microsoft.com/office/drawing/2014/main" id="{D447D58A-81ED-4CA0-A939-29128C4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c4：7～8 秒</a:t>
            </a:r>
          </a:p>
        </p:txBody>
      </p:sp>
      <p:sp>
        <p:nvSpPr>
          <p:cNvPr id="15" name="c5：10～11 秒">
            <a:extLst xmlns:a="http://schemas.openxmlformats.org/drawingml/2006/main">
              <a:ext uri="{FF2B5EF4-FFF2-40B4-BE49-F238E27FC236}">
                <a16:creationId xmlns:a16="http://schemas.microsoft.com/office/drawing/2014/main" id="{1BFB8760-E9A6-40D7-AED5-3D79EEB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c5：10～11 秒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EA2BE7CD-6710-4B0D-B712-993EA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57600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FC2E4FC-1B77-46EF-AD56-F27511C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3787CA97-DD37-4564-9DEE-F33D287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75BA614-DA49-4417-9210-8FB735D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pred 回溯方向">
            <a:extLst xmlns:a="http://schemas.openxmlformats.org/drawingml/2006/main">
              <a:ext uri="{FF2B5EF4-FFF2-40B4-BE49-F238E27FC236}">
                <a16:creationId xmlns:a16="http://schemas.microsoft.com/office/drawing/2014/main" id="{88B1B2DA-A238-491F-BDC5-8E30BC4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pred：L₅ 找到 L₂，再找到 L₀</a:t>
            </a:r>
          </a:p>
        </p:txBody>
      </p:sp>
      <p:sp>
        <p:nvSpPr>
          <p:cNvPr id="21" name="R[c4]：8→4 MB　　　R[c5]：4→0 MB">
            <a:extLst xmlns:a="http://schemas.openxmlformats.org/drawingml/2006/main">
              <a:ext uri="{FF2B5EF4-FFF2-40B4-BE49-F238E27FC236}">
                <a16:creationId xmlns:a16="http://schemas.microsoft.com/office/drawing/2014/main" id="{6AA5AFF9-5093-426C-892A-4A99DD3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R[c4]：8→4 MB　　　R[c5]：4→0 MB</a:t>
            </a:r>
          </a:p>
        </p:txBody>
      </p:sp>
    </p:spTree>
    <p:extLst>
      <p:ext uri="{BB962C8B-B14F-4D97-AF65-F5344CB8AC3E}">
        <p14:creationId xmlns:p14="http://schemas.microsoft.com/office/powerpoint/2010/main" val="5831257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35743C3-76B8-4BE9-82C3-C6B05F6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兩包的占用錯開，B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的合計峰值為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4 MB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rect l="0" t="0" r="0" b="0"/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11A2EF8B-55AE-4FB9-BFAE-38E482B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88E8B5B4-5C10-4BDC-9530-4C19965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849078A1-D7DB-4C66-813D-D0B2540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CCDAB3C6-414A-403B-9AD3-B9EE0D8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15E4B2E0-245B-46D9-B510-7CE65FE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09EDB7DA-050E-4E05-B5F3-5D7EC06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864D1A0F-A1A5-44EB-A825-2BA1B9F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820E1E74-ED93-4D2B-AF40-859BDA3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7">
            <a:extLst xmlns:a="http://schemas.openxmlformats.org/drawingml/2006/main">
              <a:ext uri="{FF2B5EF4-FFF2-40B4-BE49-F238E27FC236}">
                <a16:creationId xmlns:a16="http://schemas.microsoft.com/office/drawing/2014/main" id="{87C99745-FEBD-4E76-A09A-D507757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8E23-D08A-4C70-AFE6-241915E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補充：每個開始時間的檢查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1FCC2-57E2-4C1C-B247-DE77FB7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下一個 contact 的傳送端必須是目前節點。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62A36-66D2-4088-A70A-8C683882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完整收到後才起送，整包須在 contact 結束前送出。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21E2-CB12-4456-A1D3-3763562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容量足夠，且發送期間不與同 contact 已有預約重疊。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5649E-0A74-4896-A625-5D065E3B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檢查兩端 Buffer，並檢查已設定的抵達期限。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18C1E-BC6E-49A2-94E5-7F6E8877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某個開始時間失敗，就繼續檢查下一個開始時間。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468A9-58E7-4E1D-95CF-9E16DF02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658593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C8298-D2B0-4C03-AAAB-08DE6FF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新增：同 contact 發送時段檢查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0065B-4DF3-42BC-AE8D-4555DE48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模型假設：同一 contact 同時只傳送一個 bundle。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D2950-3EF5-4C8F-9652-3F5B049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本包發送區間 [s,f)，f = s + S/r(c)。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DC402-32D9-42D1-8942-2A114B9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與每個既有發送預約都不重疊，才繼續檢查 Buffer。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936E-B3CE-4C48-8716-C497967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容量足夠仍須檢查時段，失敗只淘汰這個 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3A52E-4DAB-416B-B8AA-9A0E7E6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E3C3-800F-4336-AF53-B888EA6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444444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444444"/>
                </a:solidFill>
                <a:latin typeface="DFKai-SB"/>
                <a:ea typeface="DFKai-SB"/>
                <a:cs typeface="DFKai-SB"/>
              </a:rPr>
              <a:t>示例：contact 7～10 秒，前包已預約 7～8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E479D-B7BD-44D0-9DB2-269B262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s=7：衝突     s=8：時段通過     s=9：時段通過</a:t>
            </a:r>
          </a:p>
        </p:txBody>
      </p:sp>
    </p:spTree>
    <p:extLst>
      <p:ext uri="{BB962C8B-B14F-4D97-AF65-F5344CB8AC3E}">
        <p14:creationId xmlns:p14="http://schemas.microsoft.com/office/powerpoint/2010/main" val="110565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1A973-7347-400D-9E0D-885B8B42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待定案：支配判斷的適用範圍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06E67-E314-4355-A00E-AFD4A06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新 Label 通過延伸檢查後，才與同節點候選比較。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1DBE-6C08-461C-AF75-E18633D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較早抵達本身，不足以刪除較晚抵達的 Label。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28BCF-4ED6-489A-A396-72F5347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L₂／L₃：檢查 B 能否持有整包從 8 秒等到 9 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57FA-3462-4791-B149-0C735E4C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候選做法：不同前綴先保留，一般刪除條件待證明。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8EA82-AB32-4630-A6D1-C89B531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刪除前要確認：被保留者能接續另一個候選的後續傳送。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CD091-9623-4060-B0A5-F519FB0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114271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CB9C0-D902-48CC-AB4F-D99462A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待完成：演算法正確性驗證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F1FEF-8DF4-4A41-B9C4-C09D1C8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前段已預約、後段可傳：確認仍找到後段的開始時間。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91227-6A53-419E-998B-5F317AA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接收可行、等待超限：確認下一跳延伸會拒絕。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BDDFE-83AB-4316-9703-1733F5CB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支配刪除：確認不會刪掉唯一可行或更早抵達的解。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A5889-D941-47ED-A85E-48CACD3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以小案例完整搜尋比對，再整理格點內的正確性論證。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B7975-F3C3-48CA-81D1-26EFD77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本簡報提出規則與示例，尚未宣稱一般正確性已證明。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27B43-4687-41B3-B6B6-040A686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044498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ECA0-3594-45E1-8C55-9322793A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接收端判斷：輸入符號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54847-44C0-4703-BF15-1FD8D234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7620000"/>
                <a:gridCol w="1428750"/>
              </a:tblGrid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本次考慮的 A→B contact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本包在 A 開始發送的時間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本包大小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r_c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 c 的傳送速率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 c 的傳播延遲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A(L)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本包完整抵達目前節點 A 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1AC04-7A02-4D8A-812E-1D1D5EE2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傳輸時間 S/r_c，傳播延遲 δ_c，兩者分開計算。</a:t>
            </a:r>
          </a:p>
        </p:txBody>
      </p:sp>
    </p:spTree>
    <p:extLst>
      <p:ext uri="{BB962C8B-B14F-4D97-AF65-F5344CB8AC3E}">
        <p14:creationId xmlns:p14="http://schemas.microsoft.com/office/powerpoint/2010/main" val="3632711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9C235-0DF6-468F-B2E1-E2FA5F51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接收端判斷：時間與占用符號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AFDC2-703D-4CB7-945F-96F76159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7620000"/>
                <a:gridCol w="1428750"/>
              </a:tblGrid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本包第一個 byte 抵達 B 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a′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本包最後一個 byte 抵達 B 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接收期間正在檢查的時刻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O_B(t)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前面已接受 bundles 在 B 的預約占用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M_B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B 的 Buffer 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候選起送時間的枚舉間隔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E7D47-7FCA-4D75-8AEA-97FB34FC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a′ 就是新 Label 的 A。Δ 控制起送時間，不取代全時段檢查。</a:t>
            </a:r>
          </a:p>
        </p:txBody>
      </p:sp>
    </p:spTree>
    <p:extLst>
      <p:ext uri="{BB962C8B-B14F-4D97-AF65-F5344CB8AC3E}">
        <p14:creationId xmlns:p14="http://schemas.microsoft.com/office/powerpoint/2010/main" val="17345971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FAD16-0A8D-4325-B175-0ABD0BA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接收端判斷：整段接收不超限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6059-587F-4F5E-A7BD-D0A583FB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9889F-5817-4ECA-B3B2-788C47E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第一個 byte 抵達：h = s + δ_c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47126-B4BE-45D1-B0BE-001F6260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整包完整抵達：a′ = s + S/r_c + δ_c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EBB41-D056-4954-9635-2C1426CB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本包已收到的資料量：r_c(t − h)，h ≤ t ≤ a′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2E4CD-59E5-4B0D-B790-28A0DCEB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O_B(t) + r_c(t − h) ≤ M_B，整段 [h,a′] 都成立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0AB88-763D-482E-BE59-75BA6A5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44444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444444"/>
                </a:solidFill>
                <a:latin typeface="DFKai-SB"/>
                <a:ea typeface="DFKai-SB"/>
                <a:cs typeface="DFKai-SB"/>
              </a:rPr>
              <a:t>例：s=7、S=4、r_c=4、δ_c=0，7.5秒已收到2MB。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86FCC-7A3E-4FDE-899F-B5C1F38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前包占用＋新包已收到的資料，任何時刻都不能超過上限。</a:t>
            </a:r>
          </a:p>
        </p:txBody>
      </p:sp>
    </p:spTree>
    <p:extLst>
      <p:ext uri="{BB962C8B-B14F-4D97-AF65-F5344CB8AC3E}">
        <p14:creationId xmlns:p14="http://schemas.microsoft.com/office/powerpoint/2010/main" val="21159721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05CD0-EC6E-42CE-9146-C0F2268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候選做法：先篩選接收可行時間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0009D-A961-40E4-8FFC-276CD439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A2EC2-939C-41F4-A951-6A9237A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輸入：目前 Label、contact、本包大小、接收端占用與上限、Δ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FD01-E59C-47EF-9468-B2E90D0C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輸出：符合時窗且接收期間不超限的起送時間。例：{7,8}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9F12A-2B7C-4328-8302-783582E2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1038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starts ← ReceiverFeasibleStarts(L, c)</a:t>
            </a:r>
          </a:p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for each s in starts:</a:t>
            </a:r>
          </a:p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   check remaining constraints</a:t>
            </a:r>
          </a:p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   create Label; compare dominance; update 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F022D-1350-4ABD-B8D8-E5F8C58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這是候選篩選方式，仍須檢查其他限制，也仍可保留枚舉。</a:t>
            </a:r>
          </a:p>
        </p:txBody>
      </p:sp>
    </p:spTree>
    <p:extLst>
      <p:ext uri="{BB962C8B-B14F-4D97-AF65-F5344CB8AC3E}">
        <p14:creationId xmlns:p14="http://schemas.microsoft.com/office/powerpoint/2010/main" val="196543013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2026-10-13T00:13:15.7280000Z</dcterms:created>
  <dcterms:modified xsi:type="dcterms:W3CDTF">2026-10-13T00:13:15.7290000Z</dcterms:modified>
</coreProperties>
</file>