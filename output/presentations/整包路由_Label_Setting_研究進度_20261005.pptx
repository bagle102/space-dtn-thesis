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40afe445449a2" /><Relationship Type="http://schemas.openxmlformats.org/officeDocument/2006/relationships/extended-properties" Target="/docProps/app.xml" Id="Ra24c12e2fabb4cba" /><Relationship Type="http://schemas.openxmlformats.org/officeDocument/2006/relationships/officeDocument" Target="/ppt/presentation.xml" Id="R287aac1d2a7d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62495eed24fd6"/>
  </p:sldMasterIdLst>
  <p:notesMasterIdLst>
    <p:notesMasterId xmlns:r="http://schemas.openxmlformats.org/officeDocument/2006/relationships" r:id="Rd5f361c9ccb94c8f"/>
  </p:notesMasterIdLst>
  <p:sldIdLst>
    <p:sldId xmlns:r="http://schemas.openxmlformats.org/officeDocument/2006/relationships" id="256" r:id="Rf66aba4894f34b8c"/>
    <p:sldId xmlns:r="http://schemas.openxmlformats.org/officeDocument/2006/relationships" id="257" r:id="Rc2404eb30c15494e"/>
    <p:sldId xmlns:r="http://schemas.openxmlformats.org/officeDocument/2006/relationships" id="258" r:id="R81c4b6a4fef14728"/>
    <p:sldId xmlns:r="http://schemas.openxmlformats.org/officeDocument/2006/relationships" id="259" r:id="R72bdb8f327b349e8"/>
    <p:sldId xmlns:r="http://schemas.openxmlformats.org/officeDocument/2006/relationships" id="260" r:id="R1b659cefb5e4459c"/>
    <p:sldId xmlns:r="http://schemas.openxmlformats.org/officeDocument/2006/relationships" id="261" r:id="R40c64b3f08bf4588"/>
    <p:sldId xmlns:r="http://schemas.openxmlformats.org/officeDocument/2006/relationships" id="262" r:id="R24ef63d194024273"/>
    <p:sldId xmlns:r="http://schemas.openxmlformats.org/officeDocument/2006/relationships" id="263" r:id="R715efb583c914710"/>
    <p:sldId xmlns:r="http://schemas.openxmlformats.org/officeDocument/2006/relationships" id="264" r:id="R12e6b8788b914d9c"/>
    <p:sldId xmlns:r="http://schemas.openxmlformats.org/officeDocument/2006/relationships" id="265" r:id="Ref5a60b09f004d42"/>
    <p:sldId xmlns:r="http://schemas.openxmlformats.org/officeDocument/2006/relationships" id="266" r:id="Recdc3a42e7044c67"/>
    <p:sldId xmlns:r="http://schemas.openxmlformats.org/officeDocument/2006/relationships" id="267" r:id="Red78830a668040d1"/>
    <p:sldId xmlns:r="http://schemas.openxmlformats.org/officeDocument/2006/relationships" id="268" r:id="R6fa735441d8f49ac"/>
    <p:sldId xmlns:r="http://schemas.openxmlformats.org/officeDocument/2006/relationships" id="269" r:id="Rfd7b7762d87744cc"/>
    <p:sldId xmlns:r="http://schemas.openxmlformats.org/officeDocument/2006/relationships" id="270" r:id="Rea5c425ec2b3480a"/>
    <p:sldId xmlns:r="http://schemas.openxmlformats.org/officeDocument/2006/relationships" id="271" r:id="R572aa436deda43e8"/>
    <p:sldId xmlns:r="http://schemas.openxmlformats.org/officeDocument/2006/relationships" id="272" r:id="R123f188f0e4e486e"/>
    <p:sldId xmlns:r="http://schemas.openxmlformats.org/officeDocument/2006/relationships" id="273" r:id="R73c74c2d5c454cec"/>
    <p:sldId xmlns:r="http://schemas.openxmlformats.org/officeDocument/2006/relationships" id="274" r:id="R8405fd391ea148cb"/>
    <p:sldId xmlns:r="http://schemas.openxmlformats.org/officeDocument/2006/relationships" id="275" r:id="R62a4da4f8bf74281"/>
    <p:sldId xmlns:r="http://schemas.openxmlformats.org/officeDocument/2006/relationships" id="276" r:id="Rd370167d8acf4616"/>
    <p:sldId xmlns:r="http://schemas.openxmlformats.org/officeDocument/2006/relationships" id="277" r:id="Re77d457cf8824471"/>
    <p:sldId xmlns:r="http://schemas.openxmlformats.org/officeDocument/2006/relationships" id="278" r:id="R6225f39cff904644"/>
    <p:sldId xmlns:r="http://schemas.openxmlformats.org/officeDocument/2006/relationships" id="279" r:id="Re2646c3e9743414d"/>
    <p:sldId xmlns:r="http://schemas.openxmlformats.org/officeDocument/2006/relationships" id="280" r:id="Rad33aa87f1b243c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1290cf2ec4142" /><Relationship Type="http://schemas.openxmlformats.org/officeDocument/2006/relationships/slideMaster" Target="/ppt/slideMasters/slideMaster1.xml" Id="R4b562495eed24fd6" /><Relationship Type="http://schemas.openxmlformats.org/officeDocument/2006/relationships/notesMaster" Target="/ppt/notesMasters/notesMaster1.xml" Id="Rd5f361c9ccb94c8f" /><Relationship Type="http://schemas.openxmlformats.org/officeDocument/2006/relationships/presProps" Target="/ppt/presProps.xml" Id="R081d70b8e31146a9" /><Relationship Type="http://schemas.openxmlformats.org/officeDocument/2006/relationships/viewProps" Target="/ppt/viewProps.xml" Id="Redf96c3840ad4f46" /><Relationship Type="http://schemas.openxmlformats.org/officeDocument/2006/relationships/tableStyles" Target="/ppt/tableStyles.xml" Id="Rcf85ee4063cb4396" /><Relationship Type="http://schemas.openxmlformats.org/officeDocument/2006/relationships/slide" Target="/ppt/slides/slide1.xml" Id="Rf66aba4894f34b8c" /><Relationship Type="http://schemas.openxmlformats.org/officeDocument/2006/relationships/slide" Target="/ppt/slides/slide2.xml" Id="Rc2404eb30c15494e" /><Relationship Type="http://schemas.openxmlformats.org/officeDocument/2006/relationships/slide" Target="/ppt/slides/slide3.xml" Id="R81c4b6a4fef14728" /><Relationship Type="http://schemas.openxmlformats.org/officeDocument/2006/relationships/slide" Target="/ppt/slides/slide4.xml" Id="R72bdb8f327b349e8" /><Relationship Type="http://schemas.openxmlformats.org/officeDocument/2006/relationships/slide" Target="/ppt/slides/slide5.xml" Id="R1b659cefb5e4459c" /><Relationship Type="http://schemas.openxmlformats.org/officeDocument/2006/relationships/slide" Target="/ppt/slides/slide6.xml" Id="R40c64b3f08bf4588" /><Relationship Type="http://schemas.openxmlformats.org/officeDocument/2006/relationships/slide" Target="/ppt/slides/slide7.xml" Id="R24ef63d194024273" /><Relationship Type="http://schemas.openxmlformats.org/officeDocument/2006/relationships/slide" Target="/ppt/slides/slide8.xml" Id="R715efb583c914710" /><Relationship Type="http://schemas.openxmlformats.org/officeDocument/2006/relationships/slide" Target="/ppt/slides/slide9.xml" Id="R12e6b8788b914d9c" /><Relationship Type="http://schemas.openxmlformats.org/officeDocument/2006/relationships/slide" Target="/ppt/slides/slide10.xml" Id="Ref5a60b09f004d42" /><Relationship Type="http://schemas.openxmlformats.org/officeDocument/2006/relationships/slide" Target="/ppt/slides/slide11.xml" Id="Recdc3a42e7044c67" /><Relationship Type="http://schemas.openxmlformats.org/officeDocument/2006/relationships/slide" Target="/ppt/slides/slide12.xml" Id="Red78830a668040d1" /><Relationship Type="http://schemas.openxmlformats.org/officeDocument/2006/relationships/slide" Target="/ppt/slides/slide13.xml" Id="R6fa735441d8f49ac" /><Relationship Type="http://schemas.openxmlformats.org/officeDocument/2006/relationships/slide" Target="/ppt/slides/slide14.xml" Id="Rfd7b7762d87744cc" /><Relationship Type="http://schemas.openxmlformats.org/officeDocument/2006/relationships/slide" Target="/ppt/slides/slide15.xml" Id="Rea5c425ec2b3480a" /><Relationship Type="http://schemas.openxmlformats.org/officeDocument/2006/relationships/slide" Target="/ppt/slides/slide16.xml" Id="R572aa436deda43e8" /><Relationship Type="http://schemas.openxmlformats.org/officeDocument/2006/relationships/slide" Target="/ppt/slides/slide17.xml" Id="R123f188f0e4e486e" /><Relationship Type="http://schemas.openxmlformats.org/officeDocument/2006/relationships/slide" Target="/ppt/slides/slide18.xml" Id="R73c74c2d5c454cec" /><Relationship Type="http://schemas.openxmlformats.org/officeDocument/2006/relationships/slide" Target="/ppt/slides/slide19.xml" Id="R8405fd391ea148cb" /><Relationship Type="http://schemas.openxmlformats.org/officeDocument/2006/relationships/slide" Target="/ppt/slides/slide20.xml" Id="R62a4da4f8bf74281" /><Relationship Type="http://schemas.openxmlformats.org/officeDocument/2006/relationships/slide" Target="/ppt/slides/slide21.xml" Id="Rd370167d8acf4616" /><Relationship Type="http://schemas.openxmlformats.org/officeDocument/2006/relationships/slide" Target="/ppt/slides/slide22.xml" Id="Re77d457cf8824471" /><Relationship Type="http://schemas.openxmlformats.org/officeDocument/2006/relationships/slide" Target="/ppt/slides/slide23.xml" Id="R6225f39cff904644" /><Relationship Type="http://schemas.openxmlformats.org/officeDocument/2006/relationships/slide" Target="/ppt/slides/slide24.xml" Id="Re2646c3e9743414d" /><Relationship Type="http://schemas.openxmlformats.org/officeDocument/2006/relationships/slide" Target="/ppt/slides/slide25.xml" Id="Rad33aa87f1b243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3a1e5e69a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02b4576cf4be2" /><Relationship Type="http://schemas.openxmlformats.org/officeDocument/2006/relationships/notesMaster" Target="/ppt/notesMasters/notesMaster1.xml" Id="R20809fb87c8149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45d4b6b3b4d7d" /><Relationship Type="http://schemas.openxmlformats.org/officeDocument/2006/relationships/notesMaster" Target="/ppt/notesMasters/notesMaster1.xml" Id="R0602abe5cdca4a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1e2170be884853" /><Relationship Type="http://schemas.openxmlformats.org/officeDocument/2006/relationships/notesMaster" Target="/ppt/notesMasters/notesMaster1.xml" Id="R29ab31e4516944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389385c88e4dd5" /><Relationship Type="http://schemas.openxmlformats.org/officeDocument/2006/relationships/notesMaster" Target="/ppt/notesMasters/notesMaster1.xml" Id="R4a16e5dc1aa1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9b204724649f3" /><Relationship Type="http://schemas.openxmlformats.org/officeDocument/2006/relationships/notesMaster" Target="/ppt/notesMasters/notesMaster1.xml" Id="Rbf780ba8b3f641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954c8077e04360" /><Relationship Type="http://schemas.openxmlformats.org/officeDocument/2006/relationships/notesMaster" Target="/ppt/notesMasters/notesMaster1.xml" Id="R262f481eb5f94f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b859993e6d4043" /><Relationship Type="http://schemas.openxmlformats.org/officeDocument/2006/relationships/notesMaster" Target="/ppt/notesMasters/notesMaster1.xml" Id="R6725be80a62747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7381742eb6451f" /><Relationship Type="http://schemas.openxmlformats.org/officeDocument/2006/relationships/notesMaster" Target="/ppt/notesMasters/notesMaster1.xml" Id="R3542bf2b494c42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1ad9e36b5447ab" /><Relationship Type="http://schemas.openxmlformats.org/officeDocument/2006/relationships/notesMaster" Target="/ppt/notesMasters/notesMaster1.xml" Id="Rbe38b2829b994c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335b88504744e5" /><Relationship Type="http://schemas.openxmlformats.org/officeDocument/2006/relationships/notesMaster" Target="/ppt/notesMasters/notesMaster1.xml" Id="R9db0453c05474a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f548d352f14b46" /><Relationship Type="http://schemas.openxmlformats.org/officeDocument/2006/relationships/notesMaster" Target="/ppt/notesMasters/notesMaster1.xml" Id="R1161d6f71fd7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a5cfbfeab04a21" /><Relationship Type="http://schemas.openxmlformats.org/officeDocument/2006/relationships/notesMaster" Target="/ppt/notesMasters/notesMaster1.xml" Id="Rc536d4b6bdc948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b2385d6b4845f5" /><Relationship Type="http://schemas.openxmlformats.org/officeDocument/2006/relationships/notesMaster" Target="/ppt/notesMasters/notesMaster1.xml" Id="R5cdfd10aa4ec4a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5cae36310344d7" /><Relationship Type="http://schemas.openxmlformats.org/officeDocument/2006/relationships/notesMaster" Target="/ppt/notesMasters/notesMaster1.xml" Id="Rc1e9b500c11e4d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6ba038ccf34bd7" /><Relationship Type="http://schemas.openxmlformats.org/officeDocument/2006/relationships/notesMaster" Target="/ppt/notesMasters/notesMaster1.xml" Id="R239da3d809924f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b331bc812644d0" /><Relationship Type="http://schemas.openxmlformats.org/officeDocument/2006/relationships/notesMaster" Target="/ppt/notesMasters/notesMaster1.xml" Id="Rbfc1a8b6b65546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8dc4d738b34722" /><Relationship Type="http://schemas.openxmlformats.org/officeDocument/2006/relationships/notesMaster" Target="/ppt/notesMasters/notesMaster1.xml" Id="R989650d0a80343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04ebd777404530" /><Relationship Type="http://schemas.openxmlformats.org/officeDocument/2006/relationships/notesMaster" Target="/ppt/notesMasters/notesMaster1.xml" Id="Re935672f0fb84e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a8557f9fc74516" /><Relationship Type="http://schemas.openxmlformats.org/officeDocument/2006/relationships/notesMaster" Target="/ppt/notesMasters/notesMaster1.xml" Id="R06a2e0057e8f42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44e4279c534c42" /><Relationship Type="http://schemas.openxmlformats.org/officeDocument/2006/relationships/notesMaster" Target="/ppt/notesMasters/notesMaster1.xml" Id="R07301f34e5f84f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6672d8d1114d6f" /><Relationship Type="http://schemas.openxmlformats.org/officeDocument/2006/relationships/notesMaster" Target="/ppt/notesMasters/notesMaster1.xml" Id="Rad163d2f0bef4f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4d19e529b04d5f" /><Relationship Type="http://schemas.openxmlformats.org/officeDocument/2006/relationships/notesMaster" Target="/ppt/notesMasters/notesMaster1.xml" Id="R5463e6e2f40541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b4022cec504bcb" /><Relationship Type="http://schemas.openxmlformats.org/officeDocument/2006/relationships/notesMaster" Target="/ppt/notesMasters/notesMaster1.xml" Id="Rb1ebdbf1fd1944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670de322ff412e" /><Relationship Type="http://schemas.openxmlformats.org/officeDocument/2006/relationships/notesMaster" Target="/ppt/notesMasters/notesMaster1.xml" Id="R692cec80eb144d0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2f3e287e0842fa" /><Relationship Type="http://schemas.openxmlformats.org/officeDocument/2006/relationships/notesMaster" Target="/ppt/notesMasters/notesMaster1.xml" Id="Re1312409bbc1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  <a:endParaRPr/>
          </a:p>
          <a:p xmlns:a="http://schemas.openxmlformats.org/drawingml/2006/main">
            <a:r>
              <a:t>• 依序處理不可分割的 bundle</a:t>
            </a:r>
            <a:endParaRPr/>
          </a:p>
          <a:p xmlns:a="http://schemas.openxmlformats.org/drawingml/2006/main">
            <a:r>
              <a:t>• 以 Label Setting 搜尋最早完整到達路徑</a:t>
            </a:r>
            <a:endParaRPr/>
          </a:p>
          <a:p xmlns:a="http://schemas.openxmlformats.org/drawingml/2006/main">
            <a:r>
              <a:t>• 研究進度與演算法正確性驗證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講者備註：</a:t>
            </a:r>
            <a:endParaRPr/>
          </a:p>
          <a:p xmlns:a="http://schemas.openxmlformats.org/drawingml/2006/main">
            <a:r>
              <a:t>本簡報說明目前版本，不主張已完成連續時間或實際傳輸排程的完整解法。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一句話重點：目前範圍：離散時間、剩餘可分配資料量與逐 byte 緩衝區占用。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bundle 不可分割，單次傳輸須完成整包</a:t>
            </a:r>
          </a:p>
          <a:p xmlns:a="http://schemas.openxmlformats.org/drawingml/2006/main">
            <a:r>
              <a:t>• 通訊機會有開始、結束與剩餘容量</a:t>
            </a:r>
          </a:p>
          <a:p xmlns:a="http://schemas.openxmlformats.org/drawingml/2006/main">
            <a:r>
              <a:t>• 前一包選定路徑後，會占用沿途緩衝區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bundle 在此指完整資料單位；本版本每次搜尋一包，依固定順序處理多包。最早到達指最後一個 byte 抵達目的地。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一句話重點：目標：找出滿足容量與緩衝區限制的最早完整到達路徑。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單包不可分割；完整接收後才能轉送</a:t>
            </a:r>
          </a:p>
          <a:p xmlns:a="http://schemas.openxmlformats.org/drawingml/2006/main">
            <a:r>
              <a:t>• 逐 byte 接收，逐 byte 釋放已送出的資料</a:t>
            </a:r>
          </a:p>
          <a:p xmlns:a="http://schemas.openxmlformats.org/drawingml/2006/main">
            <a:r>
              <a:t>• 先前接受的路徑形成既有占用 Oᵥ(t)</a:t>
            </a:r>
          </a:p>
          <a:p xmlns:a="http://schemas.openxmlformats.org/drawingml/2006/main">
            <a:r>
              <a:t>• 傳輸起始時間限定在間隔 Δ 的時間格點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每個節點具有固定上限 Mᵥ。S 為本包大小，速率固定且為正；不保留已送出資料副本，不考慮無線電競爭。接觸邊界、S/r、傳播延遲等與格點對齊；規劃範圍為有限 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一句話重點：緩衝區限制需要檢查整段接收、等待與發送期間。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讀取本次剩餘資料量 R 與既有占用 O(t)</a:t>
            </a:r>
          </a:p>
          <a:p xmlns:a="http://schemas.openxmlformats.org/drawingml/2006/main">
            <a:r>
              <a:t>• 本次搜尋中，所有候選路徑共用相同資源資料</a:t>
            </a:r>
          </a:p>
          <a:p xmlns:a="http://schemas.openxmlformats.org/drawingml/2006/main">
            <a:r>
              <a:t>• 選定完整路徑後，才更新 R 與 O(t)</a:t>
            </a:r>
          </a:p>
          <a:p xmlns:a="http://schemas.openxmlformats.org/drawingml/2006/main">
            <a:r>
              <a:t>• 下一包使用更新後的資料重新搜尋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本版本不會為了後續 bundle 回頭修改已接受的路徑，因此不主張多包整體最優。搜尋期間 R 與 O 固定不表示未來時間的占用不變，而是既有預約函數不被候選路徑改寫。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一句話重點：候選路徑不先占用資源；只有接受的完整路徑會預約資源。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v：目前所在節點</a:t>
            </a:r>
          </a:p>
          <a:p xmlns:a="http://schemas.openxmlformats.org/drawingml/2006/main">
            <a:r>
              <a:t>• a：本包完整抵達 v 的時間</a:t>
            </a:r>
          </a:p>
          <a:p xmlns:a="http://schemas.openxmlformats.org/drawingml/2006/main">
            <a:r>
              <a:t>• U[c]：此候選路徑已使用 contact c 的資料量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另保留前一個標籤、所用 contact 與發送起始時間供路徑回溯。U 用於檢查候選路徑重複經過同一 contact 時的容量；目前模型允許循環，並未強制簡單路徑。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一句話重點：標籤 L = (v, a, U)；不能只用節點與到達時間判斷。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s ≥ max(a, contact 開始時間)</a:t>
            </a:r>
          </a:p>
          <a:p xmlns:a="http://schemas.openxmlformats.org/drawingml/2006/main">
            <a:r>
              <a:t>• f = s + S/r ≤ contact 結束時間</a:t>
            </a:r>
          </a:p>
          <a:p xmlns:a="http://schemas.openxmlformats.org/drawingml/2006/main">
            <a:r>
              <a:t>• a′ = f + δ ≤ T</a:t>
            </a:r>
          </a:p>
          <a:p xmlns:a="http://schemas.openxmlformats.org/drawingml/2006/main">
            <a:r>
              <a:t>• U[c] + S ≤ R[c]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s 為發送開始，f 為發送完成，δ 為傳播延遲，接收開始 h=s+δ，完整到達 a′=f+δ。S 與 R 用相同資料單位；r 為每秒資料量。只滿足剩餘容量，仍不代表能在 contact 結束前完成整包傳輸。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一句話重點：每個可用 contact，都要檢查各個符合條件的格點起始時間 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發送端等待：bᵤ(t) = S，a ≤ t ≤ s</a:t>
            </a:r>
          </a:p>
          <a:p xmlns:a="http://schemas.openxmlformats.org/drawingml/2006/main">
            <a:r>
              <a:t>• 發送端傳送：bᵤ(t) = S − r(t−s)，s ≤ t ≤ f</a:t>
            </a:r>
          </a:p>
          <a:p xmlns:a="http://schemas.openxmlformats.org/drawingml/2006/main">
            <a:r>
              <a:t>• 接收端接收：bᵥ(t) = r(t−h)，h ≤ t ≤ a′</a:t>
            </a:r>
          </a:p>
          <a:p xmlns:a="http://schemas.openxmlformats.org/drawingml/2006/main">
            <a:r>
              <a:t>• 兩端皆須滿足 O(t) + b(t) ≤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h=s+δ。O 是先前接受之 bundle 的占用，b 是本候選 bundle 的占用。分段線性模型須檢查區段端點、斜率改變處與事件左右極限。目的地收到最後一個 byte 時，仍先檢查到達峰值，再交付並釋放。來源生成時亦須檢查 O_source(g)+S≤M_source。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一句話重點：檢查的是隨時間變化的占用量，不是只比較 S 與 buffer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兩個標籤位於同一節點：a₁ ≤ a₂</a:t>
            </a:r>
          </a:p>
          <a:p xmlns:a="http://schemas.openxmlformats.org/drawingml/2006/main">
            <a:r>
              <a:t>• 等待期間：Oᵥ(t) + S ≤ Mᵥ，∀t ∈ [a₁,a₂]</a:t>
            </a:r>
          </a:p>
          <a:p xmlns:a="http://schemas.openxmlformats.org/drawingml/2006/main">
            <a:r>
              <a:t>• 所有 contact：U₁[c] ≤ U₂[c]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此為充分條件，可能保留部分其實可刪除的標籤。理由：L₁ 可先等到 a₂，再照搬 L₂ 的後續發送時刻；等待可行且已用容量不更多，所以後續不會變差。「刪除後不影響最佳解」限本版本模型，並非任何更複雜設定都成立。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一句話重點：三項都成立，才可用 L₁ 取代 L₂ 繼續搜尋。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取出完整到達時間最早的有效標籤</a:t>
            </a:r>
          </a:p>
          <a:p xmlns:a="http://schemas.openxmlformats.org/drawingml/2006/main">
            <a:r>
              <a:t>• 延伸各 contact，列舉格點發送時刻</a:t>
            </a:r>
          </a:p>
          <a:p xmlns:a="http://schemas.openxmlformats.org/drawingml/2006/main">
            <a:r>
              <a:t>• 通過時間、容量與緩衝區檢查後，檢查支配</a:t>
            </a:r>
          </a:p>
          <a:p xmlns:a="http://schemas.openxmlformats.org/drawingml/2006/main">
            <a:r>
              <a:t>• 目的地標籤取出即結束；佇列空則無格點可行解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新標籤為 (v,a′,U+S e_c)。使用到達時間排序的優先佇列；已被支配失效的標籤取出後跳過。同時間以穩定識別碼排序。列舉發生在每次延伸時：逐一試 contact 和格點起始時間。正的整包傳输时间与有限格點使搜尋有限。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一句話重點：固定的是標籤的處理順序，不是每個節點只處理一次。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每包 S = 4 MB；所有 buffer = 4 MB</a:t>
            </a:r>
          </a:p>
          <a:p xmlns:a="http://schemas.openxmlformats.org/drawingml/2006/main">
            <a:r>
              <a:t>• 第一包：X → D，生成時間 0 秒</a:t>
            </a:r>
          </a:p>
          <a:p xmlns:a="http://schemas.openxmlformats.org/drawingml/2006/main">
            <a:r>
              <a:t>• 第二包：A → D，生成時間 1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所有 contact 速率為 4 MB/s，每跳發送需 1 秒；Δ=1 秒，T=12 秒。圖中 c1～c8 對應附錄 contact 表。綠線表示當頁強調的路徑，不表示其餘通訊機會消失。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一句話重點：固定先處理第一包，再處理第二包。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起始標籤：L₀ = (X, 0, 0)</a:t>
            </a:r>
          </a:p>
          <a:p xmlns:a="http://schemas.openxmlformats.org/drawingml/2006/main">
            <a:r>
              <a:t>• 來源 buffer：0 + 4 ≤ 4 MB</a:t>
            </a:r>
          </a:p>
          <a:p xmlns:a="http://schemas.openxmlformats.org/drawingml/2006/main">
            <a:r>
              <a:t>• 由 X 的 c1 尋找可用起始時間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起始標籤的所有 U[c] 為 0。第一包搜尋前沒有其他已接受路徑的占用。c1 的通訊時段為 [2,3]，所以本包必須在 X 等到第 2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一句話重點：來源生成時也要先確認 buffer 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c1：第 2～3 秒發送</a:t>
            </a:r>
          </a:p>
          <a:p xmlns:a="http://schemas.openxmlformats.org/drawingml/2006/main">
            <a:r>
              <a:t>• B 於第 3 秒完整接收</a:t>
            </a:r>
          </a:p>
          <a:p xmlns:a="http://schemas.openxmlformats.org/drawingml/2006/main">
            <a:r>
              <a:t>• 新標籤：B，a = 3；U[c1]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c1 的傳播延遲為 0 秒，剩餘資料量為 4 MB。X 在 0～2 秒持有整包，2～3 秒逐 byte 釋放；B 在 2～3 秒逐 byte 接收。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一句話重點：本包在 B 接收期間，占用量由 0 增至 4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經 c2：第 6～7 秒發送，8 秒到 D</a:t>
            </a:r>
          </a:p>
          <a:p xmlns:a="http://schemas.openxmlformats.org/drawingml/2006/main">
            <a:r>
              <a:t>• 經 c5：第 10～11 秒發送，12 秒到 D</a:t>
            </a:r>
          </a:p>
          <a:p xmlns:a="http://schemas.openxmlformats.org/drawingml/2006/main">
            <a:r>
              <a:t>• 兩條候選路徑皆通過限制檢查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c2 與 c5 的傳播延遲均為 1 秒。兩個目的地標籤的已用容量向量不同：前者使用 c2，後者使用 c5，故不能僅依到達時間套用三條件支配規則。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一句話重點：優先佇列會先取出第 8 秒到達目的地的標籤。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選定 X → B → D，使用 c1、c2</a:t>
            </a:r>
          </a:p>
          <a:p xmlns:a="http://schemas.openxmlformats.org/drawingml/2006/main">
            <a:r>
              <a:t>• 最早完整到達：第 8 秒</a:t>
            </a:r>
          </a:p>
          <a:p xmlns:a="http://schemas.openxmlformats.org/drawingml/2006/main">
            <a:r>
              <a:t>• 由目的地標籤回溯各跳發送時刻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目的地第 8 秒標籤被優先佇列取出，因此依此格點模型可停止。第 12 秒候選沒有被本支配規則刪除，也不影響終止判定；不要把最早取出與支配刪除混為一談。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一句話重點：搜尋得到完整路徑後，再進行資源更新。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2～3 秒：接收，0 → 4 MB</a:t>
            </a:r>
          </a:p>
          <a:p xmlns:a="http://schemas.openxmlformats.org/drawingml/2006/main">
            <a:r>
              <a:t>• 3～6 秒：等待，維持 4 MB</a:t>
            </a:r>
          </a:p>
          <a:p xmlns:a="http://schemas.openxmlformats.org/drawingml/2006/main">
            <a:r>
              <a:t>• 6～7 秒：發送，4 → 0 MB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這條折線是 B 隨時間的緩衝區占用量，不是網路連線或資料傳輸速率。第一包確定後才寫入 O。來源 X 與目的地 D 也有各自占用曲線。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一句話重點：更新後：R[c1] = R[c2] = 0；此占用曲線成為第二包的 Oᴮ(t)。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經 c3：B 於第 2 秒完整接收</a:t>
            </a:r>
          </a:p>
          <a:p xmlns:a="http://schemas.openxmlformats.org/drawingml/2006/main">
            <a:r>
              <a:t>• 經 c4：B 可於第 8 或 9 秒完整接收</a:t>
            </a:r>
          </a:p>
          <a:p xmlns:a="http://schemas.openxmlformats.org/drawingml/2006/main">
            <a:r>
              <a:t>• 經 c6：C 於第 3 秒完整接收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c3 於 1～2 秒發送；c4 可於 7～8 秒或 8～9 秒發送；c6 於 1～2 秒發送，傳播延遲 1 秒。各次接收本身可行，仍須在後續延伸時檢查等待期間的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一句話重點：較早抵達 B 的標籤，未必有可行的後續路徑。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B 的第 2 秒標籤：等待會超過 4 MB</a:t>
            </a:r>
          </a:p>
          <a:p xmlns:a="http://schemas.openxmlformats.org/drawingml/2006/main">
            <a:r>
              <a:t>• C 的分支：c7 容量不足；c8 來不及</a:t>
            </a:r>
          </a:p>
          <a:p xmlns:a="http://schemas.openxmlformats.org/drawingml/2006/main">
            <a:r>
              <a:t>• B 的第 8 秒標籤可支配第 9 秒標籤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B 第 2 秒標籤不能走 c2，因其剩餘容量已為 0；若等至 c5，第 2.5 秒占用為本包 4 加第一包 2，總計 6 MB 超限。C 的 c7 剩餘 2 MB，小於整包 4；c8 最晚需第 2 秒起送，但本包第 3 秒才到 C。B 第 8 與 9 秒標籤皆用 c4、容量向量相同，8～9 秒 O_B=0，故前者可支配後者。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一句話重點：早到分支因等待失敗；晚到兩標籤中僅保留必要者。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選定 A → B → D，使用 c4、c5</a:t>
            </a:r>
          </a:p>
          <a:p xmlns:a="http://schemas.openxmlformats.org/drawingml/2006/main">
            <a:r>
              <a:t>• c4：第 7～8 秒；c5：第 10～11 秒</a:t>
            </a:r>
          </a:p>
          <a:p xmlns:a="http://schemas.openxmlformats.org/drawingml/2006/main">
            <a:r>
              <a:t>• 完整到達 D：第 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第二包選定後，R[c4] 由 8 降為 4，R[c5] 由 4 降為 0。B 的第二包占用為 7～8 秒由 0 增至 4、8～10 秒保持 4、10～11 秒減至 0；兩包合計峰值為 4 MB。若沒有第一包預約，第二包可用 c3、c2 於第 8 秒到達。本例顯示順序影響，並不是多包整體最佳性的證明。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一句話重點：第一包的預約，使第二包改走較晚的通訊機會。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保留原演算法定義，固定測試輸入</a:t>
            </a:r>
          </a:p>
          <a:p xmlns:a="http://schemas.openxmlformats.org/drawingml/2006/main">
            <a:r>
              <a:t>• 獨立列舉路徑與格點發送時刻，作為比較答案</a:t>
            </a:r>
          </a:p>
          <a:p xmlns:a="http://schemas.openxmlformats.org/drawingml/2006/main">
            <a:r>
              <a:t>• 比較可行性與最早完整到達時間</a:t>
            </a:r>
          </a:p>
          <a:p xmlns:a="http://schemas.openxmlformats.org/drawingml/2006/main">
            <a:r>
              <a:t>• 另外關閉支配刪除，檢查答案是否改變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獨立列舉驗證程式不是直接重跑同一搜尋流程。它為小案例列舉路徑和時刻安排，檢查完整路徑，再比較答案。這些結果支持測試範圍內的一致性，不能取代一般性證明。原始輸出在 output/validation/oracle_comparison.csv 與 dominance_comparison.csv。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一句話重點：驗證程式必須採用相同模型，才能判斷演算法是否出錯。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14 個人工案例，共 15 次單包查詢</a:t>
            </a:r>
          </a:p>
          <a:p xmlns:a="http://schemas.openxmlformats.org/drawingml/2006/main">
            <a:r>
              <a:t>• 15 次查詢與獨立列舉答案全部一致</a:t>
            </a:r>
          </a:p>
          <a:p xmlns:a="http://schemas.openxmlformats.org/drawingml/2006/main">
            <a:r>
              <a:t>• 18 項單元測試通過</a:t>
            </a:r>
          </a:p>
          <a:p xmlns:a="http://schemas.openxmlformats.org/drawingml/2006/main">
            <a:r>
              <a:t>• 啟用／停用支配刪除，15 次答案相同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一個依序處理案例包含兩包，所以 14 個案例對應 15 次查詢。覆蓋無路徑、較晚標籤、接收與發送超限、來源容量、循環、contact 重複使用與目的地事件峰值等。結果來自既有驗證輸出；此簡報製作沒有新增效能測試或修改演算法。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一句話重點：目前未找到同一離散時間模型內的失敗案例；尚非所有輸入的正確性證明。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比較指標：加入優先佇列的標籤數</a:t>
            </a:r>
          </a:p>
          <a:p xmlns:a="http://schemas.openxmlformats.org/drawingml/2006/main">
            <a:r>
              <a:t>• 刪除部分標籤後，最早到達時間相同</a:t>
            </a:r>
          </a:p>
          <a:p xmlns:a="http://schemas.openxmlformats.org/drawingml/2006/main">
            <a:r>
              <a:t>• 這些數字是小案例觀察，尚非效能結論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數字取自 output/validation/dominance_comparison.csv；加入佇列、建立標籤、展開標籤是不同指標，本頁只使用加入佇列數，不混用。未做執行時間或記憶體基準測試。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一句話重點：下一階段才適合評估更大規模的時間與記憶體成本。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Δ = 1 秒時，最佳完整到達為 4 秒</a:t>
            </a:r>
          </a:p>
          <a:p xmlns:a="http://schemas.openxmlformats.org/drawingml/2006/main">
            <a:r>
              <a:t>• 允許非整數起始時刻，可於 3.5 秒到達</a:t>
            </a:r>
          </a:p>
          <a:p xmlns:a="http://schemas.openxmlformats.org/drawingml/2006/main">
            <a:r>
              <a:t>• 緩衝區門檻可能產生新的非整數時刻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反例：S=4，A→B 時段 [0,3]、B→D 時段 [2,4]，速率皆 4，延遲皆 0；M_B=5。既有 O_B 在 0～1 秒為 4，1～3 秒為 6−2t，3 秒後為 0。A 於 1.5～2.5 秒送出，B 於 2.5～3.5 秒轉送即可達 3.5；整數格點最早於 4 到達。此為模型範圍差異，不是同格點演算法的失敗。來源 counterexample_grid_continuous.json。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一句話重點：現有結果只支持離散時間版本，不能直接宣稱連續時間最佳。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contact 長 6 秒；剩餘總容量 3 MB</a:t>
            </a:r>
          </a:p>
          <a:p xmlns:a="http://schemas.openxmlformats.org/drawingml/2006/main">
            <a:r>
              <a:t>• 速率 1 MB/s，新 bundle 需連續傳送 2 秒</a:t>
            </a:r>
          </a:p>
          <a:p xmlns:a="http://schemas.openxmlformats.org/drawingml/2006/main">
            <a:r>
              <a:t>• 空檔各只有 1 秒，無法排入整包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反例的忙碌時段為 [1,2]、[3,4]、[5,6]；空檔 [0,1]、[2,3]、[4,5]。雖總剩餘 3 MB≥2 MB，卻無連續 2 秒可用。現版本只檢查剩餘可分配資料量，不檢查忙碌時段。這是模型限制；未擅自加入傳輸時段表或修改演算法。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一句話重點：加入已排定傳輸時段表之前，不能保證實際鏈路排程可行。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已建立：時間、整包容量與逐 byte buffer 檢查</a:t>
            </a:r>
          </a:p>
          <a:p xmlns:a="http://schemas.openxmlformats.org/drawingml/2006/main">
            <a:r>
              <a:t>• 已驗證：小型格點案例與支配刪除的一致性</a:t>
            </a:r>
          </a:p>
          <a:p xmlns:a="http://schemas.openxmlformats.org/drawingml/2006/main">
            <a:r>
              <a:t>• 待補：一般性證明與連續時間候選時刻</a:t>
            </a:r>
          </a:p>
          <a:p xmlns:a="http://schemas.openxmlformats.org/drawingml/2006/main">
            <a:r>
              <a:t>• 後續擴充：已排定傳輸時段表；需另行確認修正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延伸檢查與支配充分條件已有論證方向；整體正確性需要清楚列出有限格點、事件處理、狀態資訊、無副本及固定資源等前提。若後續找到同模型反例，應保留案例、定位定義或判別式錯誤，停止後續效能比較，只提出候選修正供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一句話重點：先界定並證明目前模型，再決定擴充範圍與效能比較。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速率皆為 4 MB/s；時間單位為秒</a:t>
            </a:r>
          </a:p>
          <a:p xmlns:a="http://schemas.openxmlformats.org/drawingml/2006/main">
            <a:r>
              <a:t>• δ 為傳播延遲；R 為搜尋前剩餘資料量</a:t>
            </a:r>
          </a:p>
          <a:p xmlns:a="http://schemas.openxmlformats.org/drawingml/2006/main">
            <a:r>
              <a:t>• 固定順序：第一包 X→D，再處理第二包 A→D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本表為第一包搜尋前的原始資料。所有 buffer 上限 4 MB，每包大小 4 MB，Δ=1 秒。資料來源 output/validation/walkthrough_input.json。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一句話重點：同一拓樸可以有多個不同時段的 contact。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538c16e4f4c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944f4f8e347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09694af7044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e61acb07046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08e11e294a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7a81c0ea641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8cdc7a59c41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aedcc1d844f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b67141b4a42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6e34a6b1941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5e146ef02416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61f0180224ba1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17:39:08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17:39:08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17:39:08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17:39:08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f66d3a532ff4cee" /><Relationship Type="http://schemas.openxmlformats.org/officeDocument/2006/relationships/image" Target="/ppt/media/image2.png" Id="R725ab0ac67c44f4f" /><Relationship Type="http://schemas.openxmlformats.org/officeDocument/2006/relationships/theme" Target="/ppt/slideMasters/theme/theme2.xml" Id="Rbc2ea8b981c04246" /><Relationship Type="http://schemas.openxmlformats.org/officeDocument/2006/relationships/slideLayout" Target="/ppt/slideLayouts/slideLayout1.xml" Id="Re677e5b0eb1046fe" /><Relationship Type="http://schemas.openxmlformats.org/officeDocument/2006/relationships/slideLayout" Target="/ppt/slideLayouts/slideLayout2.xml" Id="R48888e10fc6e4bb0" /><Relationship Type="http://schemas.openxmlformats.org/officeDocument/2006/relationships/slideLayout" Target="/ppt/slideLayouts/slideLayout3.xml" Id="R6bb6a6e5e45f4728" /><Relationship Type="http://schemas.openxmlformats.org/officeDocument/2006/relationships/slideLayout" Target="/ppt/slideLayouts/slideLayout4.xml" Id="R6d363cd8c0bb44ee" /><Relationship Type="http://schemas.openxmlformats.org/officeDocument/2006/relationships/slideLayout" Target="/ppt/slideLayouts/slideLayout5.xml" Id="R3ab1ac61818f44c5" /><Relationship Type="http://schemas.openxmlformats.org/officeDocument/2006/relationships/slideLayout" Target="/ppt/slideLayouts/slideLayout6.xml" Id="R6fd94c3b1ea84779" /><Relationship Type="http://schemas.openxmlformats.org/officeDocument/2006/relationships/slideLayout" Target="/ppt/slideLayouts/slideLayout7.xml" Id="Rc814c900fdf44c6a" /><Relationship Type="http://schemas.openxmlformats.org/officeDocument/2006/relationships/slideLayout" Target="/ppt/slideLayouts/slideLayout8.xml" Id="Re4e0989da2fa4bd6" /><Relationship Type="http://schemas.openxmlformats.org/officeDocument/2006/relationships/slideLayout" Target="/ppt/slideLayouts/slideLayout9.xml" Id="Rbda9ed5d65654c36" /><Relationship Type="http://schemas.openxmlformats.org/officeDocument/2006/relationships/slideLayout" Target="/ppt/slideLayouts/slideLayout10.xml" Id="R58d4ba436d184a7a" /><Relationship Type="http://schemas.openxmlformats.org/officeDocument/2006/relationships/slideLayout" Target="/ppt/slideLayouts/slideLayout11.xml" Id="R40b8a6309ac34bb8" /><Relationship Type="http://schemas.openxmlformats.org/officeDocument/2006/relationships/slideLayout" Target="/ppt/slideLayouts/slideLayout12.xml" Id="R22c697e3ede54f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17:39:08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DFKai-SB"/>
                <a:ea typeface="DFKai-SB"/>
                <a:cs typeface="DFKai-SB"/>
              </a:defRPr>
            </a:lvl1pPr>
          </a:lstStyle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6d3a532ff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ab0ac67c4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7e5b0eb1046fe"/>
    <p:sldLayoutId xmlns:r="http://schemas.openxmlformats.org/officeDocument/2006/relationships" id="2147483650" r:id="R48888e10fc6e4bb0"/>
    <p:sldLayoutId xmlns:r="http://schemas.openxmlformats.org/officeDocument/2006/relationships" id="2147483651" r:id="R6bb6a6e5e45f4728"/>
    <p:sldLayoutId xmlns:r="http://schemas.openxmlformats.org/officeDocument/2006/relationships" id="2147483652" r:id="R6d363cd8c0bb44ee"/>
    <p:sldLayoutId xmlns:r="http://schemas.openxmlformats.org/officeDocument/2006/relationships" id="2147483653" r:id="R3ab1ac61818f44c5"/>
    <p:sldLayoutId xmlns:r="http://schemas.openxmlformats.org/officeDocument/2006/relationships" id="2147483654" r:id="R6fd94c3b1ea84779"/>
    <p:sldLayoutId xmlns:r="http://schemas.openxmlformats.org/officeDocument/2006/relationships" id="2147483655" r:id="Rc814c900fdf44c6a"/>
    <p:sldLayoutId xmlns:r="http://schemas.openxmlformats.org/officeDocument/2006/relationships" id="2147483656" r:id="Re4e0989da2fa4bd6"/>
    <p:sldLayoutId xmlns:r="http://schemas.openxmlformats.org/officeDocument/2006/relationships" id="2147483657" r:id="Rbda9ed5d65654c36"/>
    <p:sldLayoutId xmlns:r="http://schemas.openxmlformats.org/officeDocument/2006/relationships" id="2147483658" r:id="R58d4ba436d184a7a"/>
    <p:sldLayoutId xmlns:r="http://schemas.openxmlformats.org/officeDocument/2006/relationships" id="2147483659" r:id="R40b8a6309ac34bb8"/>
    <p:sldLayoutId xmlns:r="http://schemas.openxmlformats.org/officeDocument/2006/relationships" id="2147483660" r:id="R22c697e3ede54fa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FKai-SB"/>
          <a:ea typeface="DFKai-SB"/>
          <a:cs typeface="DFKai-S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DFKai-SB"/>
        <a:buChar char="•"/>
        <a:defRPr sz="2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4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0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4f009d4d0f4a8f" /><Relationship Type="http://schemas.openxmlformats.org/officeDocument/2006/relationships/notesSlide" Target="/ppt/notesSlides/notesSlide1.xml" Id="Re771e608bf3348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0e4ad697b943cb" /><Relationship Type="http://schemas.openxmlformats.org/officeDocument/2006/relationships/notesSlide" Target="/ppt/notesSlides/notesSlide2.xml" Id="Rf670a2e0e5ef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aca55def6d4663" /><Relationship Type="http://schemas.openxmlformats.org/officeDocument/2006/relationships/notesSlide" Target="/ppt/notesSlides/notesSlide3.xml" Id="Rfe37e0a99ace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c74a26b3474ee3" /><Relationship Type="http://schemas.openxmlformats.org/officeDocument/2006/relationships/notesSlide" Target="/ppt/notesSlides/notesSlide4.xml" Id="R292cef4977934c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3d9d0109c64e40" /><Relationship Type="http://schemas.openxmlformats.org/officeDocument/2006/relationships/notesSlide" Target="/ppt/notesSlides/notesSlide5.xml" Id="R703dc5b4f6814b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26602331914603" /><Relationship Type="http://schemas.openxmlformats.org/officeDocument/2006/relationships/notesSlide" Target="/ppt/notesSlides/notesSlide6.xml" Id="R9bda9f6106e9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b02e848edd4c73" /><Relationship Type="http://schemas.openxmlformats.org/officeDocument/2006/relationships/notesSlide" Target="/ppt/notesSlides/notesSlide7.xml" Id="R7a0efca9f69a4e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0e7392b5114d5f" /><Relationship Type="http://schemas.openxmlformats.org/officeDocument/2006/relationships/notesSlide" Target="/ppt/notesSlides/notesSlide8.xml" Id="R51f5f7f8523a42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c5ee018d6d4d27" /><Relationship Type="http://schemas.openxmlformats.org/officeDocument/2006/relationships/notesSlide" Target="/ppt/notesSlides/notesSlide9.xml" Id="R5f17c391b7b74c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e354180814043" /><Relationship Type="http://schemas.openxmlformats.org/officeDocument/2006/relationships/notesSlide" Target="/ppt/notesSlides/notesSlide10.xml" Id="R2670ca0a887e44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e2cb31a9674707" /><Relationship Type="http://schemas.openxmlformats.org/officeDocument/2006/relationships/notesSlide" Target="/ppt/notesSlides/notesSlide11.xml" Id="R05716294ca934d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e29619981346cc" /><Relationship Type="http://schemas.openxmlformats.org/officeDocument/2006/relationships/notesSlide" Target="/ppt/notesSlides/notesSlide12.xml" Id="Rf6254aa96c904a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36a87520bd4a1f" /><Relationship Type="http://schemas.openxmlformats.org/officeDocument/2006/relationships/notesSlide" Target="/ppt/notesSlides/notesSlide13.xml" Id="Ra645c900776344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5f15f88ca04b77" /><Relationship Type="http://schemas.openxmlformats.org/officeDocument/2006/relationships/notesSlide" Target="/ppt/notesSlides/notesSlide14.xml" Id="R7158bac38b0f4a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fd40f434464008" /><Relationship Type="http://schemas.openxmlformats.org/officeDocument/2006/relationships/notesSlide" Target="/ppt/notesSlides/notesSlide15.xml" Id="R18743a1196ac4c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e61316bd1145e1" /><Relationship Type="http://schemas.openxmlformats.org/officeDocument/2006/relationships/notesSlide" Target="/ppt/notesSlides/notesSlide16.xml" Id="Re856e878aaa04e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653a168a2e4a87" /><Relationship Type="http://schemas.openxmlformats.org/officeDocument/2006/relationships/notesSlide" Target="/ppt/notesSlides/notesSlide17.xml" Id="R54820fc2ef524a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bbe2870a1a4db6" /><Relationship Type="http://schemas.openxmlformats.org/officeDocument/2006/relationships/notesSlide" Target="/ppt/notesSlides/notesSlide18.xml" Id="Ra4c6d06faf8a49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ec7d3571ed4a4c" /><Relationship Type="http://schemas.openxmlformats.org/officeDocument/2006/relationships/notesSlide" Target="/ppt/notesSlides/notesSlide19.xml" Id="R70b69fffbf3d46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84dd6082b84d96" /><Relationship Type="http://schemas.openxmlformats.org/officeDocument/2006/relationships/notesSlide" Target="/ppt/notesSlides/notesSlide20.xml" Id="Rb0416c12607a43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229dac45b04e1d" /><Relationship Type="http://schemas.openxmlformats.org/officeDocument/2006/relationships/notesSlide" Target="/ppt/notesSlides/notesSlide21.xml" Id="Rc188155790874f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6ab4efe85451f" /><Relationship Type="http://schemas.openxmlformats.org/officeDocument/2006/relationships/notesSlide" Target="/ppt/notesSlides/notesSlide22.xml" Id="Rda563d49094744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653db101e04f1d" /><Relationship Type="http://schemas.openxmlformats.org/officeDocument/2006/relationships/notesSlide" Target="/ppt/notesSlides/notesSlide23.xml" Id="R215b8537beed49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1bb59abc4244b9" /><Relationship Type="http://schemas.openxmlformats.org/officeDocument/2006/relationships/notesSlide" Target="/ppt/notesSlides/notesSlide24.xml" Id="Ra132d2fa26c549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0cedc0dd214556" /><Relationship Type="http://schemas.openxmlformats.org/officeDocument/2006/relationships/notesSlide" Target="/ppt/notesSlides/notesSlide25.xml" Id="R98d787f80c9c4a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6" name="標題 5">
            <a:extLst xmlns:a="http://schemas.openxmlformats.org/drawingml/2006/main">
              <a:ext uri="{FF2B5EF4-FFF2-40B4-BE49-F238E27FC236}">
                <a16:creationId xmlns:a16="http://schemas.microsoft.com/office/drawing/2014/main" id="{9045F329-665A-450F-9B6D-F31CD1D638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8" name="副標題 7">
            <a:extLst xmlns:a="http://schemas.openxmlformats.org/drawingml/2006/main">
              <a:ext uri="{FF2B5EF4-FFF2-40B4-BE49-F238E27FC236}">
                <a16:creationId xmlns:a16="http://schemas.microsoft.com/office/drawing/2014/main" id="{D44C478F-2D0E-49DC-BA0B-D5F20A08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考慮緩衝區占用的整包路由">
            <a:extLst xmlns:a="http://schemas.openxmlformats.org/drawingml/2006/main">
              <a:ext uri="{FF2B5EF4-FFF2-40B4-BE49-F238E27FC236}">
                <a16:creationId xmlns:a16="http://schemas.microsoft.com/office/drawing/2014/main" id="{239DF69A-3540-4063-AF23-23E487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考慮緩衝區占用的整包路由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43BDD641-32C9-4617-876D-639AA98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目前範圍：離散時間、剩餘可分配資料量與逐 byte 緩衝區占用。">
            <a:extLst xmlns:a="http://schemas.openxmlformats.org/drawingml/2006/main">
              <a:ext uri="{FF2B5EF4-FFF2-40B4-BE49-F238E27FC236}">
                <a16:creationId xmlns:a16="http://schemas.microsoft.com/office/drawing/2014/main" id="{1E07F750-5688-40FE-95D8-1E62D1D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目前範圍：離散時間、剩餘可分配資料量與逐 byte 緩衝區占用。</a:t>
            </a:r>
          </a:p>
        </p:txBody>
      </p:sp>
      <p:sp>
        <p:nvSpPr>
          <p:cNvPr id="12" name="Label Setting 演算法與正確性驗證">
            <a:extLst xmlns:a="http://schemas.openxmlformats.org/drawingml/2006/main">
              <a:ext uri="{FF2B5EF4-FFF2-40B4-BE49-F238E27FC236}">
                <a16:creationId xmlns:a16="http://schemas.microsoft.com/office/drawing/2014/main" id="{83AAE907-9715-4C30-BFDC-F2367354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2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Setting 演算法與正確性驗證</a:t>
            </a:r>
          </a:p>
        </p:txBody>
      </p:sp>
      <p:sp>
        <p:nvSpPr>
          <p:cNvPr id="13" name="• 整包傳輸與傳輸時間">
            <a:extLst xmlns:a="http://schemas.openxmlformats.org/drawingml/2006/main">
              <a:ext uri="{FF2B5EF4-FFF2-40B4-BE49-F238E27FC236}">
                <a16:creationId xmlns:a16="http://schemas.microsoft.com/office/drawing/2014/main" id="{9A9BA6A8-3ED4-4341-8C59-1DE49E0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整包傳輸與傳輸時間</a:t>
            </a:r>
          </a:p>
        </p:txBody>
      </p:sp>
      <p:sp>
        <p:nvSpPr>
          <p:cNvPr id="14" name="• 前一包預約後續節點的緩衝區">
            <a:extLst xmlns:a="http://schemas.openxmlformats.org/drawingml/2006/main">
              <a:ext uri="{FF2B5EF4-FFF2-40B4-BE49-F238E27FC236}">
                <a16:creationId xmlns:a16="http://schemas.microsoft.com/office/drawing/2014/main" id="{CD443495-D190-4138-BE99-6AD834D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前一包預約後續節點的緩衝區</a:t>
            </a:r>
          </a:p>
        </p:txBody>
      </p:sp>
      <p:sp>
        <p:nvSpPr>
          <p:cNvPr id="15" name="• 兩包逐步範例與驗證結果">
            <a:extLst xmlns:a="http://schemas.openxmlformats.org/drawingml/2006/main">
              <a:ext uri="{FF2B5EF4-FFF2-40B4-BE49-F238E27FC236}">
                <a16:creationId xmlns:a16="http://schemas.microsoft.com/office/drawing/2014/main" id="{BB6A88F6-ECA5-4489-BD05-C5079311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兩包逐步範例與驗證結果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研究問題">
            <a:extLst xmlns:a="http://schemas.openxmlformats.org/drawingml/2006/main">
              <a:ext uri="{FF2B5EF4-FFF2-40B4-BE49-F238E27FC236}">
                <a16:creationId xmlns:a16="http://schemas.microsoft.com/office/drawing/2014/main" id="{AEA3B91B-E4B5-4EEF-A54F-541A2F30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研究問題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70A85F1-47B0-4C39-9CDC-EDD0594E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" name="目標：找出滿足容量與緩衝區限制的最早完整到達路徑。">
            <a:extLst xmlns:a="http://schemas.openxmlformats.org/drawingml/2006/main">
              <a:ext uri="{FF2B5EF4-FFF2-40B4-BE49-F238E27FC236}">
                <a16:creationId xmlns:a16="http://schemas.microsoft.com/office/drawing/2014/main" id="{70AA1E5A-BBC8-438A-B7C0-3E8D6C2B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目標：找出滿足容量與緩衝區限制的最早完整到達路徑。</a:t>
            </a:r>
          </a:p>
        </p:txBody>
      </p:sp>
      <p:sp>
        <p:nvSpPr>
          <p:cNvPr id="4" name="• bundle 不可分割，單次傳輸須完成整包">
            <a:extLst xmlns:a="http://schemas.openxmlformats.org/drawingml/2006/main">
              <a:ext uri="{FF2B5EF4-FFF2-40B4-BE49-F238E27FC236}">
                <a16:creationId xmlns:a16="http://schemas.microsoft.com/office/drawing/2014/main" id="{5A08A082-5CEC-4DF8-8B74-0D2DD22E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bundle 不可分割，單次傳輸須完成整包</a:t>
            </a:r>
          </a:p>
        </p:txBody>
      </p:sp>
      <p:sp>
        <p:nvSpPr>
          <p:cNvPr id="5" name="• 通訊機會有開始、結束與剩餘容量">
            <a:extLst xmlns:a="http://schemas.openxmlformats.org/drawingml/2006/main">
              <a:ext uri="{FF2B5EF4-FFF2-40B4-BE49-F238E27FC236}">
                <a16:creationId xmlns:a16="http://schemas.microsoft.com/office/drawing/2014/main" id="{6D6217BA-F4AE-4F37-9BD1-181AA91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通訊機會有開始、結束與剩餘容量</a:t>
            </a:r>
          </a:p>
        </p:txBody>
      </p:sp>
      <p:sp>
        <p:nvSpPr>
          <p:cNvPr id="6" name="• 前一包選定路徑後，會占用沿途緩衝區">
            <a:extLst xmlns:a="http://schemas.openxmlformats.org/drawingml/2006/main">
              <a:ext uri="{FF2B5EF4-FFF2-40B4-BE49-F238E27FC236}">
                <a16:creationId xmlns:a16="http://schemas.microsoft.com/office/drawing/2014/main" id="{6450DA80-3165-4C51-AD72-59D2119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前一包選定路徑後，會占用沿途緩衝區</a:t>
            </a:r>
          </a:p>
        </p:txBody>
      </p:sp>
    </p:spTree>
    <p:extLst>
      <p:ext uri="{BB962C8B-B14F-4D97-AF65-F5344CB8AC3E}">
        <p14:creationId xmlns:p14="http://schemas.microsoft.com/office/powerpoint/2010/main" val="13664503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前採用的研究設定">
            <a:extLst xmlns:a="http://schemas.openxmlformats.org/drawingml/2006/main">
              <a:ext uri="{FF2B5EF4-FFF2-40B4-BE49-F238E27FC236}">
                <a16:creationId xmlns:a16="http://schemas.microsoft.com/office/drawing/2014/main" id="{79E22016-3867-4E54-BD69-5EF78A6A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目前採用的研究設定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27685ADF-ED44-43E5-860A-37BDE155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3" name="緩衝區限制需要檢查整段接收、等待與發送期間。">
            <a:extLst xmlns:a="http://schemas.openxmlformats.org/drawingml/2006/main">
              <a:ext uri="{FF2B5EF4-FFF2-40B4-BE49-F238E27FC236}">
                <a16:creationId xmlns:a16="http://schemas.microsoft.com/office/drawing/2014/main" id="{4F0B1934-B106-4C39-8583-08FB7938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緩衝區限制需要檢查整段接收、等待與發送期間。</a:t>
            </a:r>
          </a:p>
        </p:txBody>
      </p:sp>
      <p:sp>
        <p:nvSpPr>
          <p:cNvPr id="4" name="• 單包不可分割；完整接收後才能轉送">
            <a:extLst xmlns:a="http://schemas.openxmlformats.org/drawingml/2006/main">
              <a:ext uri="{FF2B5EF4-FFF2-40B4-BE49-F238E27FC236}">
                <a16:creationId xmlns:a16="http://schemas.microsoft.com/office/drawing/2014/main" id="{82CF899E-5A72-460F-BE2F-E1440AE9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單包不可分割；完整接收後才能轉送</a:t>
            </a:r>
          </a:p>
        </p:txBody>
      </p:sp>
      <p:sp>
        <p:nvSpPr>
          <p:cNvPr id="5" name="• 逐 byte 接收，逐 byte 釋放已送出的資料">
            <a:extLst xmlns:a="http://schemas.openxmlformats.org/drawingml/2006/main">
              <a:ext uri="{FF2B5EF4-FFF2-40B4-BE49-F238E27FC236}">
                <a16:creationId xmlns:a16="http://schemas.microsoft.com/office/drawing/2014/main" id="{369A793E-2AF3-45F7-A7AA-8FA6BA77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逐 byte 接收，逐 byte 釋放已送出的資料</a:t>
            </a:r>
          </a:p>
        </p:txBody>
      </p:sp>
      <p:sp>
        <p:nvSpPr>
          <p:cNvPr id="6" name="• 先前接受的路徑形成既有占用 Oᵥ(t)">
            <a:extLst xmlns:a="http://schemas.openxmlformats.org/drawingml/2006/main">
              <a:ext uri="{FF2B5EF4-FFF2-40B4-BE49-F238E27FC236}">
                <a16:creationId xmlns:a16="http://schemas.microsoft.com/office/drawing/2014/main" id="{C96949D9-B090-4590-8327-D0E75B9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先前接受的路徑形成既有占用 Oᵥ(t)</a:t>
            </a:r>
          </a:p>
        </p:txBody>
      </p:sp>
      <p:sp>
        <p:nvSpPr>
          <p:cNvPr id="7" name="• 傳輸起始時間限定在間隔 Δ 的時間格點">
            <a:extLst xmlns:a="http://schemas.openxmlformats.org/drawingml/2006/main">
              <a:ext uri="{FF2B5EF4-FFF2-40B4-BE49-F238E27FC236}">
                <a16:creationId xmlns:a16="http://schemas.microsoft.com/office/drawing/2014/main" id="{DEBAAC1D-E14A-44CE-AEB0-F2D862EC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傳輸起始時間限定在間隔 Δ 的時間格點</a:t>
            </a:r>
          </a:p>
        </p:txBody>
      </p:sp>
    </p:spTree>
    <p:extLst>
      <p:ext uri="{BB962C8B-B14F-4D97-AF65-F5344CB8AC3E}">
        <p14:creationId xmlns:p14="http://schemas.microsoft.com/office/powerpoint/2010/main" val="526088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依序處理與單包搜尋">
            <a:extLst xmlns:a="http://schemas.openxmlformats.org/drawingml/2006/main">
              <a:ext uri="{FF2B5EF4-FFF2-40B4-BE49-F238E27FC236}">
                <a16:creationId xmlns:a16="http://schemas.microsoft.com/office/drawing/2014/main" id="{F9893549-1F0C-4E40-8F3F-619E35B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依序處理與單包搜尋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1838F007-8848-40E1-926E-B43A34F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候選路徑不先占用資源；只有接受的完整路徑會預約資源。">
            <a:extLst xmlns:a="http://schemas.openxmlformats.org/drawingml/2006/main">
              <a:ext uri="{FF2B5EF4-FFF2-40B4-BE49-F238E27FC236}">
                <a16:creationId xmlns:a16="http://schemas.microsoft.com/office/drawing/2014/main" id="{4415E8E3-1F68-4C96-A5E2-9EBFB75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候選路徑不先占用資源；只有接受的完整路徑會預約資源。</a:t>
            </a:r>
          </a:p>
        </p:txBody>
      </p:sp>
      <p:sp>
        <p:nvSpPr>
          <p:cNvPr id="4" name="• 讀取本次剩餘資料量 R 與既有占用 O(t)">
            <a:extLst xmlns:a="http://schemas.openxmlformats.org/drawingml/2006/main">
              <a:ext uri="{FF2B5EF4-FFF2-40B4-BE49-F238E27FC236}">
                <a16:creationId xmlns:a16="http://schemas.microsoft.com/office/drawing/2014/main" id="{AEEA0771-9DD0-4766-B5BE-6EF633C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讀取本次剩餘資料量 R 與既有占用 O(t)</a:t>
            </a:r>
          </a:p>
        </p:txBody>
      </p:sp>
      <p:sp>
        <p:nvSpPr>
          <p:cNvPr id="5" name="• 本次搜尋中，所有候選路徑共用相同資源資料">
            <a:extLst xmlns:a="http://schemas.openxmlformats.org/drawingml/2006/main">
              <a:ext uri="{FF2B5EF4-FFF2-40B4-BE49-F238E27FC236}">
                <a16:creationId xmlns:a16="http://schemas.microsoft.com/office/drawing/2014/main" id="{D82D8262-FD0E-4CF5-B971-9C476F5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本次搜尋中，所有候選路徑共用相同資源資料</a:t>
            </a:r>
          </a:p>
        </p:txBody>
      </p:sp>
      <p:sp>
        <p:nvSpPr>
          <p:cNvPr id="6" name="• 選定完整路徑後，才更新 R 與 O(t)">
            <a:extLst xmlns:a="http://schemas.openxmlformats.org/drawingml/2006/main">
              <a:ext uri="{FF2B5EF4-FFF2-40B4-BE49-F238E27FC236}">
                <a16:creationId xmlns:a16="http://schemas.microsoft.com/office/drawing/2014/main" id="{45336C7C-CDFF-4A35-BF7F-0B3D465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選定完整路徑後，才更新 R 與 O(t)</a:t>
            </a:r>
          </a:p>
        </p:txBody>
      </p:sp>
      <p:sp>
        <p:nvSpPr>
          <p:cNvPr id="7" name="• 下一包使用更新後的資料重新搜尋">
            <a:extLst xmlns:a="http://schemas.openxmlformats.org/drawingml/2006/main">
              <a:ext uri="{FF2B5EF4-FFF2-40B4-BE49-F238E27FC236}">
                <a16:creationId xmlns:a16="http://schemas.microsoft.com/office/drawing/2014/main" id="{F7F8DFAD-C3FE-422B-BFBD-CC069DE9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下一包使用更新後的資料重新搜尋</a:t>
            </a:r>
          </a:p>
        </p:txBody>
      </p:sp>
    </p:spTree>
    <p:extLst>
      <p:ext uri="{BB962C8B-B14F-4D97-AF65-F5344CB8AC3E}">
        <p14:creationId xmlns:p14="http://schemas.microsoft.com/office/powerpoint/2010/main" val="18644260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籤記錄哪些資訊？">
            <a:extLst xmlns:a="http://schemas.openxmlformats.org/drawingml/2006/main">
              <a:ext uri="{FF2B5EF4-FFF2-40B4-BE49-F238E27FC236}">
                <a16:creationId xmlns:a16="http://schemas.microsoft.com/office/drawing/2014/main" id="{2FDD8DA0-9382-48DE-A9EF-81D2156C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標籤記錄哪些資訊？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34EFC9E3-479E-4A0D-BAE8-26E81130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3" name="標籤 L = (v, a, U)；不能只用節點與到達時間判斷。">
            <a:extLst xmlns:a="http://schemas.openxmlformats.org/drawingml/2006/main">
              <a:ext uri="{FF2B5EF4-FFF2-40B4-BE49-F238E27FC236}">
                <a16:creationId xmlns:a16="http://schemas.microsoft.com/office/drawing/2014/main" id="{F583EA6C-0B59-4FF9-9ABF-68F8D6E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 L = (v, a, U)；不能只用節點與到達時間判斷。</a:t>
            </a:r>
          </a:p>
        </p:txBody>
      </p:sp>
      <p:sp>
        <p:nvSpPr>
          <p:cNvPr id="4" name="L = (v, a, U)">
            <a:extLst xmlns:a="http://schemas.openxmlformats.org/drawingml/2006/main">
              <a:ext uri="{FF2B5EF4-FFF2-40B4-BE49-F238E27FC236}">
                <a16:creationId xmlns:a16="http://schemas.microsoft.com/office/drawing/2014/main" id="{E9341744-AE3A-4028-A1CF-BC49168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(v, a, U)</a:t>
            </a:r>
          </a:p>
        </p:txBody>
      </p:sp>
      <p:sp>
        <p:nvSpPr>
          <p:cNvPr id="5" name="• v：目前所在節點">
            <a:extLst xmlns:a="http://schemas.openxmlformats.org/drawingml/2006/main">
              <a:ext uri="{FF2B5EF4-FFF2-40B4-BE49-F238E27FC236}">
                <a16:creationId xmlns:a16="http://schemas.microsoft.com/office/drawing/2014/main" id="{66D4AEEA-3DD5-40C9-A2E3-FA832BD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v：目前所在節點</a:t>
            </a:r>
          </a:p>
        </p:txBody>
      </p:sp>
      <p:sp>
        <p:nvSpPr>
          <p:cNvPr id="6" name="• a：本包完整抵達 v 的時間">
            <a:extLst xmlns:a="http://schemas.openxmlformats.org/drawingml/2006/main">
              <a:ext uri="{FF2B5EF4-FFF2-40B4-BE49-F238E27FC236}">
                <a16:creationId xmlns:a16="http://schemas.microsoft.com/office/drawing/2014/main" id="{DCCA4EEC-B4D0-4414-A2AB-7F07871E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a：本包完整抵達 v 的時間</a:t>
            </a:r>
          </a:p>
        </p:txBody>
      </p:sp>
      <p:sp>
        <p:nvSpPr>
          <p:cNvPr id="7" name="• U[c]：此候選路徑已使用 contact c 的資料量">
            <a:extLst xmlns:a="http://schemas.openxmlformats.org/drawingml/2006/main">
              <a:ext uri="{FF2B5EF4-FFF2-40B4-BE49-F238E27FC236}">
                <a16:creationId xmlns:a16="http://schemas.microsoft.com/office/drawing/2014/main" id="{7DB4B1DF-0233-4B83-9B0F-F5B2838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U[c]：此候選路徑已使用 contact c 的資料量</a:t>
            </a:r>
          </a:p>
        </p:txBody>
      </p:sp>
    </p:spTree>
    <p:extLst>
      <p:ext uri="{BB962C8B-B14F-4D97-AF65-F5344CB8AC3E}">
        <p14:creationId xmlns:p14="http://schemas.microsoft.com/office/powerpoint/2010/main" val="4042070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標籤延伸：時間與容量">
            <a:extLst xmlns:a="http://schemas.openxmlformats.org/drawingml/2006/main">
              <a:ext uri="{FF2B5EF4-FFF2-40B4-BE49-F238E27FC236}">
                <a16:creationId xmlns:a16="http://schemas.microsoft.com/office/drawing/2014/main" id="{6FA6AF53-4645-4168-B4BB-9FDA91D9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標籤延伸：時間與容量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BB3DAB15-988F-4BE8-92C9-9ECDB09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每個可用 contact，都要檢查各個符合條件的格點起始時間 s">
            <a:extLst xmlns:a="http://schemas.openxmlformats.org/drawingml/2006/main">
              <a:ext uri="{FF2B5EF4-FFF2-40B4-BE49-F238E27FC236}">
                <a16:creationId xmlns:a16="http://schemas.microsoft.com/office/drawing/2014/main" id="{8FF44A3C-F2F9-48DF-9B7F-CD408CD4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每個可用 contact，都要檢查各個符合條件的格點起始時間 s。</a:t>
            </a:r>
          </a:p>
        </p:txBody>
      </p:sp>
      <p:sp>
        <p:nvSpPr>
          <p:cNvPr id="4" name="• s ≥ max(a, contact 開始時間)">
            <a:extLst xmlns:a="http://schemas.openxmlformats.org/drawingml/2006/main">
              <a:ext uri="{FF2B5EF4-FFF2-40B4-BE49-F238E27FC236}">
                <a16:creationId xmlns:a16="http://schemas.microsoft.com/office/drawing/2014/main" id="{8C04337A-325D-49A7-B4B6-3B092CC5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s ≥ max(a, contact 開始時間)</a:t>
            </a:r>
          </a:p>
        </p:txBody>
      </p:sp>
      <p:sp>
        <p:nvSpPr>
          <p:cNvPr id="5" name="• f = s + S/r ≤ contact 結束時間">
            <a:extLst xmlns:a="http://schemas.openxmlformats.org/drawingml/2006/main">
              <a:ext uri="{FF2B5EF4-FFF2-40B4-BE49-F238E27FC236}">
                <a16:creationId xmlns:a16="http://schemas.microsoft.com/office/drawing/2014/main" id="{42AC0E5F-0263-476C-9089-FFFB3479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f = s + S/r ≤ contact 結束時間</a:t>
            </a:r>
          </a:p>
        </p:txBody>
      </p:sp>
      <p:sp>
        <p:nvSpPr>
          <p:cNvPr id="6" name="• a′ = f + δ ≤ T">
            <a:extLst xmlns:a="http://schemas.openxmlformats.org/drawingml/2006/main">
              <a:ext uri="{FF2B5EF4-FFF2-40B4-BE49-F238E27FC236}">
                <a16:creationId xmlns:a16="http://schemas.microsoft.com/office/drawing/2014/main" id="{C345AD11-1136-4083-A9B3-0847A006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a′ = f + δ ≤ T</a:t>
            </a:r>
          </a:p>
        </p:txBody>
      </p:sp>
      <p:sp>
        <p:nvSpPr>
          <p:cNvPr id="7" name="• U[c] + S ≤ R[c]">
            <a:extLst xmlns:a="http://schemas.openxmlformats.org/drawingml/2006/main">
              <a:ext uri="{FF2B5EF4-FFF2-40B4-BE49-F238E27FC236}">
                <a16:creationId xmlns:a16="http://schemas.microsoft.com/office/drawing/2014/main" id="{EABFFBE6-D1F3-4A43-AAD8-58BC3C7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U[c] + S ≤ R[c]</a:t>
            </a:r>
          </a:p>
        </p:txBody>
      </p:sp>
      <p:sp>
        <p:nvSpPr>
          <p:cNvPr id="8" name="S：資料量　r：速率　δ：傳播延遲　T：規劃截止時間">
            <a:extLst xmlns:a="http://schemas.openxmlformats.org/drawingml/2006/main">
              <a:ext uri="{FF2B5EF4-FFF2-40B4-BE49-F238E27FC236}">
                <a16:creationId xmlns:a16="http://schemas.microsoft.com/office/drawing/2014/main" id="{424303CF-28A3-45AB-B5DC-3A5465B1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S：資料量　r：速率　δ：傳播延遲　T：規劃截止時間</a:t>
            </a:r>
          </a:p>
        </p:txBody>
      </p:sp>
    </p:spTree>
    <p:extLst>
      <p:ext uri="{BB962C8B-B14F-4D97-AF65-F5344CB8AC3E}">
        <p14:creationId xmlns:p14="http://schemas.microsoft.com/office/powerpoint/2010/main" val="17290821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標籤延伸：緩衝區檢查">
            <a:extLst xmlns:a="http://schemas.openxmlformats.org/drawingml/2006/main">
              <a:ext uri="{FF2B5EF4-FFF2-40B4-BE49-F238E27FC236}">
                <a16:creationId xmlns:a16="http://schemas.microsoft.com/office/drawing/2014/main" id="{C06EF82F-16F7-455D-8511-5F92FDC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標籤延伸：緩衝區檢查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6C36A69D-9E38-4690-92FC-F889E56A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檢查的是隨時間變化的占用量，不是只比較 S 與 buffer 上">
            <a:extLst xmlns:a="http://schemas.openxmlformats.org/drawingml/2006/main">
              <a:ext uri="{FF2B5EF4-FFF2-40B4-BE49-F238E27FC236}">
                <a16:creationId xmlns:a16="http://schemas.microsoft.com/office/drawing/2014/main" id="{D3B066B1-065C-4721-BE16-D0687E8B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檢查的是隨時間變化的占用量，不是只比較 S 與 buffer 上限。</a:t>
            </a:r>
          </a:p>
        </p:txBody>
      </p:sp>
      <p:sp>
        <p:nvSpPr>
          <p:cNvPr id="4" name="• 發送端等待：bᵤ(t) = S，a ≤ t ≤ s">
            <a:extLst xmlns:a="http://schemas.openxmlformats.org/drawingml/2006/main">
              <a:ext uri="{FF2B5EF4-FFF2-40B4-BE49-F238E27FC236}">
                <a16:creationId xmlns:a16="http://schemas.microsoft.com/office/drawing/2014/main" id="{0CE161B4-7B5D-404E-90FD-6FBF82B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發送端等待：bᵤ(t) = S，a ≤ t ≤ s</a:t>
            </a:r>
          </a:p>
        </p:txBody>
      </p:sp>
      <p:sp>
        <p:nvSpPr>
          <p:cNvPr id="5" name="• 發送端傳送：bᵤ(t) = S − r(t−s)，s ≤ t">
            <a:extLst xmlns:a="http://schemas.openxmlformats.org/drawingml/2006/main">
              <a:ext uri="{FF2B5EF4-FFF2-40B4-BE49-F238E27FC236}">
                <a16:creationId xmlns:a16="http://schemas.microsoft.com/office/drawing/2014/main" id="{A1E6D29F-52ED-474D-9EDA-3ABAB29E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發送端傳送：bᵤ(t) = S − r(t−s)，s ≤ t ≤ f</a:t>
            </a:r>
          </a:p>
        </p:txBody>
      </p:sp>
      <p:sp>
        <p:nvSpPr>
          <p:cNvPr id="6" name="• 接收端接收：bᵥ(t) = r(t−h)，h ≤ t ≤ a">
            <a:extLst xmlns:a="http://schemas.openxmlformats.org/drawingml/2006/main">
              <a:ext uri="{FF2B5EF4-FFF2-40B4-BE49-F238E27FC236}">
                <a16:creationId xmlns:a16="http://schemas.microsoft.com/office/drawing/2014/main" id="{D6E710BA-CC0C-4C9E-8DDC-DB659A6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接收端接收：bᵥ(t) = r(t−h)，h ≤ t ≤ a′</a:t>
            </a:r>
          </a:p>
        </p:txBody>
      </p:sp>
      <p:sp>
        <p:nvSpPr>
          <p:cNvPr id="7" name="• 兩端皆須滿足 O(t) + b(t) ≤ M">
            <a:extLst xmlns:a="http://schemas.openxmlformats.org/drawingml/2006/main">
              <a:ext uri="{FF2B5EF4-FFF2-40B4-BE49-F238E27FC236}">
                <a16:creationId xmlns:a16="http://schemas.microsoft.com/office/drawing/2014/main" id="{3B6DB5FF-C122-4224-A750-9440B8B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兩端皆須滿足 O(t) + b(t) ≤ M</a:t>
            </a:r>
          </a:p>
        </p:txBody>
      </p:sp>
      <p:sp>
        <p:nvSpPr>
          <p:cNvPr id="8" name="h = s + δ：接收開始時間；M：節點 buffer 容量上">
            <a:extLst xmlns:a="http://schemas.openxmlformats.org/drawingml/2006/main">
              <a:ext uri="{FF2B5EF4-FFF2-40B4-BE49-F238E27FC236}">
                <a16:creationId xmlns:a16="http://schemas.microsoft.com/office/drawing/2014/main" id="{5399B472-E7D6-47F9-8424-994791B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h = s + δ：接收開始時間；M：節點 buffer 容量上限</a:t>
            </a:r>
          </a:p>
        </p:txBody>
      </p:sp>
    </p:spTree>
    <p:extLst>
      <p:ext uri="{BB962C8B-B14F-4D97-AF65-F5344CB8AC3E}">
        <p14:creationId xmlns:p14="http://schemas.microsoft.com/office/powerpoint/2010/main" val="6699171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支配規則：何時可以刪除？">
            <a:extLst xmlns:a="http://schemas.openxmlformats.org/drawingml/2006/main">
              <a:ext uri="{FF2B5EF4-FFF2-40B4-BE49-F238E27FC236}">
                <a16:creationId xmlns:a16="http://schemas.microsoft.com/office/drawing/2014/main" id="{746EDEF9-54FC-4500-AC45-3C09C7D4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支配規則：何時可以刪除？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3C1C76B-9422-4E4D-BD87-5472330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三項都成立，才可用 L₁ 取代 L₂ 繼續搜尋。">
            <a:extLst xmlns:a="http://schemas.openxmlformats.org/drawingml/2006/main">
              <a:ext uri="{FF2B5EF4-FFF2-40B4-BE49-F238E27FC236}">
                <a16:creationId xmlns:a16="http://schemas.microsoft.com/office/drawing/2014/main" id="{B61C4396-6973-4FD1-AF98-45F5C84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三項都成立，才可用 L₁ 取代 L₂ 繼續搜尋。</a:t>
            </a:r>
          </a:p>
        </p:txBody>
      </p:sp>
      <p:sp>
        <p:nvSpPr>
          <p:cNvPr id="4" name="• 兩個標籤位於同一節點：a₁ ≤ a₂">
            <a:extLst xmlns:a="http://schemas.openxmlformats.org/drawingml/2006/main">
              <a:ext uri="{FF2B5EF4-FFF2-40B4-BE49-F238E27FC236}">
                <a16:creationId xmlns:a16="http://schemas.microsoft.com/office/drawing/2014/main" id="{741B3241-9808-4006-B2A2-12996CE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兩個標籤位於同一節點：a₁ ≤ a₂</a:t>
            </a:r>
          </a:p>
        </p:txBody>
      </p:sp>
      <p:sp>
        <p:nvSpPr>
          <p:cNvPr id="5" name="• 等待期間：Oᵥ(t) + S ≤ Mᵥ，∀t ∈ [a₁,a">
            <a:extLst xmlns:a="http://schemas.openxmlformats.org/drawingml/2006/main">
              <a:ext uri="{FF2B5EF4-FFF2-40B4-BE49-F238E27FC236}">
                <a16:creationId xmlns:a16="http://schemas.microsoft.com/office/drawing/2014/main" id="{C562FD14-1C36-4E00-8F3D-F4C61E09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等待期間：Oᵥ(t) + S ≤ Mᵥ，∀t ∈ [a₁,a₂]</a:t>
            </a:r>
          </a:p>
        </p:txBody>
      </p:sp>
      <p:sp>
        <p:nvSpPr>
          <p:cNvPr id="6" name="• 所有 contact：U₁[c] ≤ U₂[c]">
            <a:extLst xmlns:a="http://schemas.openxmlformats.org/drawingml/2006/main">
              <a:ext uri="{FF2B5EF4-FFF2-40B4-BE49-F238E27FC236}">
                <a16:creationId xmlns:a16="http://schemas.microsoft.com/office/drawing/2014/main" id="{D9F5BA03-ED0C-4A8A-AF9F-4AA7EC2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所有 contact：U₁[c] ≤ U₂[c]</a:t>
            </a:r>
          </a:p>
        </p:txBody>
      </p:sp>
      <p:sp>
        <p:nvSpPr>
          <p:cNvPr id="7" name="僅「較早到達」不足以構成支配。">
            <a:extLst xmlns:a="http://schemas.openxmlformats.org/drawingml/2006/main">
              <a:ext uri="{FF2B5EF4-FFF2-40B4-BE49-F238E27FC236}">
                <a16:creationId xmlns:a16="http://schemas.microsoft.com/office/drawing/2014/main" id="{555B920D-B4BA-4907-AAD1-0108CB76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僅「較早到達」不足以構成支配。</a:t>
            </a:r>
          </a:p>
        </p:txBody>
      </p:sp>
    </p:spTree>
    <p:extLst>
      <p:ext uri="{BB962C8B-B14F-4D97-AF65-F5344CB8AC3E}">
        <p14:creationId xmlns:p14="http://schemas.microsoft.com/office/powerpoint/2010/main" val="6442795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 Setting 搜尋流程">
            <a:extLst xmlns:a="http://schemas.openxmlformats.org/drawingml/2006/main">
              <a:ext uri="{FF2B5EF4-FFF2-40B4-BE49-F238E27FC236}">
                <a16:creationId xmlns:a16="http://schemas.microsoft.com/office/drawing/2014/main" id="{F4FE860C-F730-4F32-BA62-ADD42A3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Setting 搜尋流程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386F3876-650A-403A-B681-B68E7FCE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固定的是標籤的處理順序，不是每個節點只處理一次。">
            <a:extLst xmlns:a="http://schemas.openxmlformats.org/drawingml/2006/main">
              <a:ext uri="{FF2B5EF4-FFF2-40B4-BE49-F238E27FC236}">
                <a16:creationId xmlns:a16="http://schemas.microsoft.com/office/drawing/2014/main" id="{240CB712-E578-420E-8988-BEC2BAF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固定的是標籤的處理順序，不是每個節點只處理一次。</a:t>
            </a:r>
          </a:p>
        </p:txBody>
      </p:sp>
      <p:sp>
        <p:nvSpPr>
          <p:cNvPr id="4" name="• 取出完整到達時間最早的有效標籤">
            <a:extLst xmlns:a="http://schemas.openxmlformats.org/drawingml/2006/main">
              <a:ext uri="{FF2B5EF4-FFF2-40B4-BE49-F238E27FC236}">
                <a16:creationId xmlns:a16="http://schemas.microsoft.com/office/drawing/2014/main" id="{C8F1264A-61F2-4B1F-BE69-3CCA6D9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取出完整到達時間最早的有效標籤</a:t>
            </a:r>
          </a:p>
        </p:txBody>
      </p:sp>
      <p:sp>
        <p:nvSpPr>
          <p:cNvPr id="5" name="• 延伸各 contact，列舉格點發送時刻">
            <a:extLst xmlns:a="http://schemas.openxmlformats.org/drawingml/2006/main">
              <a:ext uri="{FF2B5EF4-FFF2-40B4-BE49-F238E27FC236}">
                <a16:creationId xmlns:a16="http://schemas.microsoft.com/office/drawing/2014/main" id="{9623E702-2CAC-4398-B9B6-166F39EF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延伸各 contact，列舉格點發送時刻</a:t>
            </a:r>
          </a:p>
        </p:txBody>
      </p:sp>
      <p:sp>
        <p:nvSpPr>
          <p:cNvPr id="6" name="• 通過時間、容量與緩衝區檢查後，檢查支配">
            <a:extLst xmlns:a="http://schemas.openxmlformats.org/drawingml/2006/main">
              <a:ext uri="{FF2B5EF4-FFF2-40B4-BE49-F238E27FC236}">
                <a16:creationId xmlns:a16="http://schemas.microsoft.com/office/drawing/2014/main" id="{8C44D4C6-6592-4582-9C35-762BB480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通過時間、容量與緩衝區檢查後，檢查支配</a:t>
            </a:r>
          </a:p>
        </p:txBody>
      </p:sp>
      <p:sp>
        <p:nvSpPr>
          <p:cNvPr id="7" name="• 目的地標籤取出即結束；佇列空則無格點可行解">
            <a:extLst xmlns:a="http://schemas.openxmlformats.org/drawingml/2006/main">
              <a:ext uri="{FF2B5EF4-FFF2-40B4-BE49-F238E27FC236}">
                <a16:creationId xmlns:a16="http://schemas.microsoft.com/office/drawing/2014/main" id="{74167098-0B89-435B-A470-19D6FAE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目的地標籤取出即結束；佇列空則無格點可行解</a:t>
            </a:r>
          </a:p>
        </p:txBody>
      </p:sp>
    </p:spTree>
    <p:extLst>
      <p:ext uri="{BB962C8B-B14F-4D97-AF65-F5344CB8AC3E}">
        <p14:creationId xmlns:p14="http://schemas.microsoft.com/office/powerpoint/2010/main" val="12938456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0：範例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59F90745-AF3A-4100-AB43-14FA1C9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0：範例拓樸與兩包需求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1C024B6-2C61-4926-9C0D-3E1D6F17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" name="固定先處理第一包，再處理第二包。">
            <a:extLst xmlns:a="http://schemas.openxmlformats.org/drawingml/2006/main">
              <a:ext uri="{FF2B5EF4-FFF2-40B4-BE49-F238E27FC236}">
                <a16:creationId xmlns:a16="http://schemas.microsoft.com/office/drawing/2014/main" id="{43F231AF-120C-44D8-BCE6-07E5478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固定先處理第一包，再處理第二包。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04D30-3365-43B2-8777-39C07E30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C0B18-2DF4-45F3-A6BA-FEE256B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73781CB-90E5-4F43-BD7E-8E2265D1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64E53-4219-4E01-9805-89F3A41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0A95-D445-436A-9DB2-876015B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E51E607-DB80-4FCF-AD7C-E63B24B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D3B52-4B79-4762-A2EC-334CAF13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50874-042A-4F44-8B96-73BBD739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80A8BD7E-5C55-4AF3-A062-E1AE2A9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F711E-FEE6-4D20-9864-96F2370C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FEFCA-AE6A-4D45-9F5E-2E93B8EB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8A2EAC-B29D-4AA2-B306-2FB588A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AB009-BA58-483E-8893-66DCFED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8EC51-40E7-4AD8-AA7A-04C9A44F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AE4789C-CACB-4B9E-BF5A-A574A2E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3AC48-E91C-44B5-B7B9-0E40B81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1522A-EF74-4520-821F-68AA6A3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B9A9391-CA3A-44F4-B975-39406F9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6A591-1C61-4EAF-AF20-1EA4FC7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7C603-862A-4963-863F-92D813D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2174B30-3154-4F97-B187-534F8155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11D23-667D-4CCE-84DF-EFD6026F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02653-3424-4852-A879-411036D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286DF9F-66F5-4ED6-8888-0E3758A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94644-5D1B-4917-BB58-00791C22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53526477-FD93-4E34-9DA1-BFC25C9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0E52E-C363-4BFA-976C-564E168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D87F70D-09DB-4AFA-8963-58E946D5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FD193-D987-46F4-8E59-6188A93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13A79D46-8ABC-478C-8E65-32395FE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6CE976-C25E-4100-83EB-CFC0DC0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93304664-96B5-489A-B64A-7E73EE5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08B94-9924-44DB-A181-F569E776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95E0F66-93B1-4E87-8B50-7D807760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F95D0791-20E2-47EB-B64A-1D65A51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每包 S = 4 MB；所有 buffer = 4 MB">
            <a:extLst xmlns:a="http://schemas.openxmlformats.org/drawingml/2006/main">
              <a:ext uri="{FF2B5EF4-FFF2-40B4-BE49-F238E27FC236}">
                <a16:creationId xmlns:a16="http://schemas.microsoft.com/office/drawing/2014/main" id="{14D4D815-5668-420F-8A77-6D376D7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S = 4 MB；buffer = 4 MB</a:t>
            </a:r>
          </a:p>
        </p:txBody>
      </p:sp>
      <p:sp>
        <p:nvSpPr>
          <p:cNvPr id="40" name="• 第一包：X → D，生成時間 0 秒">
            <a:extLst xmlns:a="http://schemas.openxmlformats.org/drawingml/2006/main">
              <a:ext uri="{FF2B5EF4-FFF2-40B4-BE49-F238E27FC236}">
                <a16:creationId xmlns:a16="http://schemas.microsoft.com/office/drawing/2014/main" id="{3782F4A7-4F76-4DF4-BF01-F7698155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第一包 X → D：第 0 秒生成</a:t>
            </a:r>
          </a:p>
        </p:txBody>
      </p:sp>
      <p:sp>
        <p:nvSpPr>
          <p:cNvPr id="41" name="• 第二包：A → D，生成時間 1 秒">
            <a:extLst xmlns:a="http://schemas.openxmlformats.org/drawingml/2006/main">
              <a:ext uri="{FF2B5EF4-FFF2-40B4-BE49-F238E27FC236}">
                <a16:creationId xmlns:a16="http://schemas.microsoft.com/office/drawing/2014/main" id="{FEBA57BB-F707-47CF-9C9E-67C7A62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第二包 A → D：第 1 秒生成</a:t>
            </a:r>
          </a:p>
        </p:txBody>
      </p:sp>
    </p:spTree>
    <p:extLst>
      <p:ext uri="{BB962C8B-B14F-4D97-AF65-F5344CB8AC3E}">
        <p14:creationId xmlns:p14="http://schemas.microsoft.com/office/powerpoint/2010/main" val="8200531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1：建立第一包起始標籤">
            <a:extLst xmlns:a="http://schemas.openxmlformats.org/drawingml/2006/main">
              <a:ext uri="{FF2B5EF4-FFF2-40B4-BE49-F238E27FC236}">
                <a16:creationId xmlns:a16="http://schemas.microsoft.com/office/drawing/2014/main" id="{58BF85C3-C9C1-4B29-9074-2424A8F8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1：建立第一包起始標籤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F0508352-FC88-4F72-B14A-BA99A06A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來源生成時也要先確認 buffer 容量。">
            <a:extLst xmlns:a="http://schemas.openxmlformats.org/drawingml/2006/main">
              <a:ext uri="{FF2B5EF4-FFF2-40B4-BE49-F238E27FC236}">
                <a16:creationId xmlns:a16="http://schemas.microsoft.com/office/drawing/2014/main" id="{4FD8F552-D891-46A0-BBA8-A41D7A3D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來源生成時也要先確認 buffer 容量。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41C02-BBF9-4139-B9A9-F6F35847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8A90D-BC7D-4174-90C9-80DEB8D8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68CEE048-DA10-4E1E-A6F7-308EC7D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6E1FB-31BC-4B60-9FFC-060BE13D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A17F3-10B7-4AD9-AA81-281D7A8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6912E8A-8D27-48E5-9E0F-72CBA7B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AE46E-FF04-4951-9F1F-62953BE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E44EC-FF69-4B46-8424-E4779CF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45655F8-094E-4DDB-BA47-B02D7BF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5D69E-EA25-4C92-B02D-16860CF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B6815-CDDC-4A99-A15C-136B92ED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69849F7-5468-4881-8A06-5D9F66D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F0E5D-C316-481C-9043-9B1345B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4268D-C4C4-4CAC-BD2E-688716E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CA6FDDB8-E97E-4088-B801-B718E697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732E8-F52C-4997-9768-FBC2306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F304E-0035-4350-887D-41BAE9C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FBCADF2F-1402-4782-BC64-645CE23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8CEE1-811C-45A2-A208-FA1A2D3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1A714-0AFD-4286-AEEE-B666CF53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9CF917BC-9E3E-4169-9D73-9D46471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ED423-D4EC-4693-9E8B-DB5A644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62EE7-46A2-40A4-BE84-2BD7721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2F84BCC1-A78C-4052-9C74-6C02F54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79CA8-85BF-4B53-B7E2-947B5B98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A15DCA94-6077-432E-985A-521FAFFD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2DCFD-C151-46AA-A3E4-E6F1260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6C4673-3140-41FC-89E8-E110298C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68454-F922-47FC-B09F-A034F9A2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8732AA68-E352-4F25-87ED-843E7530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EE068-04EC-4842-A1E9-D759A08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68142F8-8EE7-4827-93B3-24BDBB8D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F4836-A3CD-47B7-B597-7AB3048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CF396FA9-8190-4C0B-9FB0-764795F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BCD9CEEE-6907-4E51-A4B8-5FEF101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起始標籤：L₀ = (X, 0, 0)">
            <a:extLst xmlns:a="http://schemas.openxmlformats.org/drawingml/2006/main">
              <a:ext uri="{FF2B5EF4-FFF2-40B4-BE49-F238E27FC236}">
                <a16:creationId xmlns:a16="http://schemas.microsoft.com/office/drawing/2014/main" id="{B502B29C-BC35-4360-8F24-4E9A17F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起始標籤：L₀ = (X, 0, 0)</a:t>
            </a:r>
          </a:p>
        </p:txBody>
      </p:sp>
      <p:sp>
        <p:nvSpPr>
          <p:cNvPr id="40" name="• 來源 buffer：0 + 4 ≤ 4 MB">
            <a:extLst xmlns:a="http://schemas.openxmlformats.org/drawingml/2006/main">
              <a:ext uri="{FF2B5EF4-FFF2-40B4-BE49-F238E27FC236}">
                <a16:creationId xmlns:a16="http://schemas.microsoft.com/office/drawing/2014/main" id="{44A1AF1C-F787-4CC4-9E0E-9EE9DD5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來源 buffer：0 + 4 ≤ 4 MB</a:t>
            </a:r>
          </a:p>
        </p:txBody>
      </p:sp>
      <p:sp>
        <p:nvSpPr>
          <p:cNvPr id="41" name="• 由 X 的 c1 尋找可用起始時間">
            <a:extLst xmlns:a="http://schemas.openxmlformats.org/drawingml/2006/main">
              <a:ext uri="{FF2B5EF4-FFF2-40B4-BE49-F238E27FC236}">
                <a16:creationId xmlns:a16="http://schemas.microsoft.com/office/drawing/2014/main" id="{A778C962-BB17-47D4-9D9F-43822BC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由 X 的 c1 尋找可用起始時間</a:t>
            </a:r>
          </a:p>
        </p:txBody>
      </p:sp>
    </p:spTree>
    <p:extLst>
      <p:ext uri="{BB962C8B-B14F-4D97-AF65-F5344CB8AC3E}">
        <p14:creationId xmlns:p14="http://schemas.microsoft.com/office/powerpoint/2010/main" val="14337739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2：第一包延伸至 B">
            <a:extLst xmlns:a="http://schemas.openxmlformats.org/drawingml/2006/main">
              <a:ext uri="{FF2B5EF4-FFF2-40B4-BE49-F238E27FC236}">
                <a16:creationId xmlns:a16="http://schemas.microsoft.com/office/drawing/2014/main" id="{249A4624-2735-40D0-93AA-CEE2B9A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2：第一包延伸至 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6E174373-5833-47C4-AAA9-45892C7E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本包在 B 接收期間，占用量由 0 增至 4 MB。">
            <a:extLst xmlns:a="http://schemas.openxmlformats.org/drawingml/2006/main">
              <a:ext uri="{FF2B5EF4-FFF2-40B4-BE49-F238E27FC236}">
                <a16:creationId xmlns:a16="http://schemas.microsoft.com/office/drawing/2014/main" id="{856D6E8D-956B-4E4B-A8CC-C75138B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本包在 B 接收期間，占用量由 0 增至 4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3C60C-85A5-4DE1-912D-9763B63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64F22-B644-4B0C-B335-D3F2FD9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6FE7028-3BE4-4C25-BF3E-34AB292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2A249-4191-46FF-928E-BFAEEA48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D0AA3-9602-4926-BAD4-3CE5800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4E8029EF-2BEC-4D77-A2B9-A406BF0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452C5-1FEC-4AA3-94D7-F26D942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E03C0-010C-4803-AAF2-8E7154E1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82BBF102-8DF1-49F6-AE5C-2AA93869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7190F-83D9-4520-B9BA-AFC71B3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9671E-D32C-4641-A8C9-17BD5554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10F38E1-6A91-4DCD-AAE9-2ADDC41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138C0-B070-45C7-8C34-59E72D69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CCF13-FC6D-4F26-9C99-ADA1B02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224E3E6-0847-48B3-930B-6C9B6B8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5C8A8-7190-4B0C-AD24-B00A0F7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546D0-C9B6-40FB-9826-05333AF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7D0EC69-9A51-42A2-AFAF-76180083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34F92-23F7-4A0D-B94F-4DCB750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BF319-15C4-485D-AE7B-B366FD0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D3B6D7AA-DB6B-458D-9969-E5576335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E200B-22E9-482C-9C1A-F5E22F3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D8FA4-0471-46B4-97B1-A60FA84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F728EB1-6EDF-4E28-A00D-DE05759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64AA0-1C12-40EB-BA18-AB23A17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9EBA848-238D-419B-8BA9-1AB1041D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137F7-6D46-4100-9930-693CB87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073FEE7B-2E89-4BC9-AA04-9D1A825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58D7E1-825B-4007-B660-A84E5FF7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2AFA05C4-C4E8-43BE-8958-D43B086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267395-C7A5-4DF0-AF27-1768C5D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04A69F6-023D-4B2A-8835-790C441F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FC701-0F6D-4F4A-8CC3-6858B5FE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DE062678-0AB6-44AF-9C38-343A885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28E017B7-654F-410D-9A28-8BD11F00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c1：第 2～3 秒發送">
            <a:extLst xmlns:a="http://schemas.openxmlformats.org/drawingml/2006/main">
              <a:ext uri="{FF2B5EF4-FFF2-40B4-BE49-F238E27FC236}">
                <a16:creationId xmlns:a16="http://schemas.microsoft.com/office/drawing/2014/main" id="{49ED9CBE-1213-4722-BFD9-BB643693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c1：第 2～3 秒發送</a:t>
            </a:r>
          </a:p>
        </p:txBody>
      </p:sp>
      <p:sp>
        <p:nvSpPr>
          <p:cNvPr id="40" name="• B 於第 3 秒完整接收">
            <a:extLst xmlns:a="http://schemas.openxmlformats.org/drawingml/2006/main">
              <a:ext uri="{FF2B5EF4-FFF2-40B4-BE49-F238E27FC236}">
                <a16:creationId xmlns:a16="http://schemas.microsoft.com/office/drawing/2014/main" id="{1AF9EF46-453B-44C1-9620-7DBB3CBC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B 於第 3 秒完整接收</a:t>
            </a:r>
          </a:p>
        </p:txBody>
      </p:sp>
      <p:sp>
        <p:nvSpPr>
          <p:cNvPr id="41" name="• 新標籤：B，a = 3；U[c1] = 4">
            <a:extLst xmlns:a="http://schemas.openxmlformats.org/drawingml/2006/main">
              <a:ext uri="{FF2B5EF4-FFF2-40B4-BE49-F238E27FC236}">
                <a16:creationId xmlns:a16="http://schemas.microsoft.com/office/drawing/2014/main" id="{6130DE42-1EB9-44A3-9492-EEC90E2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新標籤：B，a = 3；U[c1] = 4</a:t>
            </a:r>
          </a:p>
        </p:txBody>
      </p:sp>
    </p:spTree>
    <p:extLst>
      <p:ext uri="{BB962C8B-B14F-4D97-AF65-F5344CB8AC3E}">
        <p14:creationId xmlns:p14="http://schemas.microsoft.com/office/powerpoint/2010/main" val="12452278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3：第一包的兩條後續路徑">
            <a:extLst xmlns:a="http://schemas.openxmlformats.org/drawingml/2006/main">
              <a:ext uri="{FF2B5EF4-FFF2-40B4-BE49-F238E27FC236}">
                <a16:creationId xmlns:a16="http://schemas.microsoft.com/office/drawing/2014/main" id="{74AFD14E-FFFF-4D86-9E90-9044B3C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3：第一包的兩條後續路徑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73E349E0-4856-4ABD-B5D6-DCFAAC9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優先佇列會先取出第 8 秒到達目的地的標籤。">
            <a:extLst xmlns:a="http://schemas.openxmlformats.org/drawingml/2006/main">
              <a:ext uri="{FF2B5EF4-FFF2-40B4-BE49-F238E27FC236}">
                <a16:creationId xmlns:a16="http://schemas.microsoft.com/office/drawing/2014/main" id="{B2090235-FBD0-4B80-BD03-5E6DF39D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優先佇列會先取出第 8 秒到達目的地的標籤。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23A56-69DF-4CB4-9F90-6030F436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19684-79F7-443E-8780-3261D48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9FD6575A-4CEB-4608-A831-263CD6E9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B10CB-475F-499B-AE35-01E8A3A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2A7AD-4598-42FD-9140-4D4780B8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519A131-86F5-4CA6-B9BC-A992A79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1FFB3-B8F2-4886-AFBC-A75EA343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D323A-6208-47ED-8034-F3FDBC1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698C51C-A651-44EC-B2E8-5685F49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2E25C-B0B2-4F50-B985-970E96E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7995B-20B9-4FCF-8823-B6AFE87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8CE9708C-5113-4A35-AE22-33C05A8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C0165-1839-4720-B2FA-BB33B273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1E276-D18F-4DA2-BE9B-11AC9E6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C1A09CD6-2DA7-4267-B210-5F407568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23856-3FB9-41A7-84B5-650E1C6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54B39-508E-4C48-B22F-F26AD3D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75E2A-D474-461F-A82D-2DBC56E3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855ED-0C70-4533-AFE3-D4EE7A5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94F6B-AFA9-4619-BC1F-C907BE39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3584AE4-0FDD-4A49-922F-ABB45B2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63A94-6143-4962-ADF8-DCFC5ED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805F0-FE83-4026-986A-1D7BD2E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74B2456E-DCB8-480F-96EE-8D89AE92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D025C-331B-4EB7-ADA0-C9E5E732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9FFEB03-BB97-4639-9B7D-1D0A00AB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D2620F-E14D-473B-8E74-3E0C55C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4A8976BF-58F4-434F-837A-98094BB4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7443A-F596-47BA-9601-B81652F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DBF1425-CE3B-4C3C-B967-BAE1CED7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F5B1C-8F9C-47F8-BA96-73E87DDD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32A6C9D-72DE-4582-A150-155E68B1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B334E3-179E-4ABE-B226-EDD9C5F9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35341A34-9E6D-43B7-8D63-C9F6A46F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CF6F43AF-D451-43BA-B307-8017D35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經 c2：第 6～7 秒發送，8 秒到 D">
            <a:extLst xmlns:a="http://schemas.openxmlformats.org/drawingml/2006/main">
              <a:ext uri="{FF2B5EF4-FFF2-40B4-BE49-F238E27FC236}">
                <a16:creationId xmlns:a16="http://schemas.microsoft.com/office/drawing/2014/main" id="{F85C7839-6837-43A3-A914-364FF928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c2：6～7 秒發送；8 秒到達</a:t>
            </a:r>
          </a:p>
        </p:txBody>
      </p:sp>
      <p:sp>
        <p:nvSpPr>
          <p:cNvPr id="40" name="• 經 c5：第 10～11 秒發送，12 秒到 D">
            <a:extLst xmlns:a="http://schemas.openxmlformats.org/drawingml/2006/main">
              <a:ext uri="{FF2B5EF4-FFF2-40B4-BE49-F238E27FC236}">
                <a16:creationId xmlns:a16="http://schemas.microsoft.com/office/drawing/2014/main" id="{64C314EB-A1B7-42D9-88BD-594EC36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c5：10～11 秒發送；12 秒到達</a:t>
            </a:r>
          </a:p>
        </p:txBody>
      </p:sp>
      <p:sp>
        <p:nvSpPr>
          <p:cNvPr id="41" name="• 兩條候選路徑皆通過限制檢查">
            <a:extLst xmlns:a="http://schemas.openxmlformats.org/drawingml/2006/main">
              <a:ext uri="{FF2B5EF4-FFF2-40B4-BE49-F238E27FC236}">
                <a16:creationId xmlns:a16="http://schemas.microsoft.com/office/drawing/2014/main" id="{AC29C313-52D0-4730-AC65-49789319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兩條候選路徑都通過檢查</a:t>
            </a:r>
          </a:p>
        </p:txBody>
      </p:sp>
    </p:spTree>
    <p:extLst>
      <p:ext uri="{BB962C8B-B14F-4D97-AF65-F5344CB8AC3E}">
        <p14:creationId xmlns:p14="http://schemas.microsoft.com/office/powerpoint/2010/main" val="12528178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4：選定第一包路徑">
            <a:extLst xmlns:a="http://schemas.openxmlformats.org/drawingml/2006/main">
              <a:ext uri="{FF2B5EF4-FFF2-40B4-BE49-F238E27FC236}">
                <a16:creationId xmlns:a16="http://schemas.microsoft.com/office/drawing/2014/main" id="{F9CD58F0-E3F8-42DF-A576-0A2232B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4：選定第一包路徑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53EDE47A-DD2F-49FB-B1FE-4BD0E46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搜尋得到完整路徑後，再進行資源更新。">
            <a:extLst xmlns:a="http://schemas.openxmlformats.org/drawingml/2006/main">
              <a:ext uri="{FF2B5EF4-FFF2-40B4-BE49-F238E27FC236}">
                <a16:creationId xmlns:a16="http://schemas.microsoft.com/office/drawing/2014/main" id="{98BE467E-428F-4461-9309-2685B00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搜尋得到完整路徑後，再進行資源更新。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92DB0-C786-4B43-B30A-81947EAB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16919-F5E0-46C7-B7BE-1B196229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4584A4C-9496-41AC-A608-C31F2352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D4DA4-005B-4C9B-929E-AFF3801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00D0D-9522-4A20-9DE7-C6E924A9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9B011A7C-7BF6-4197-BCDB-0BBBD69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E65E-6313-443A-A804-B42DDABB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BA4B2-EA38-42BE-9FD9-3B300B4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305EDC3-9C9F-4622-BD0D-855F24BF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2682A-1440-4947-8F4E-B82BFC9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1A836-AC87-4B75-AA9A-E418B71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7D33D0F-7F21-41D1-A46E-2F4471C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ED974-72D0-4827-8C2F-4F6F117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61EDD-C11A-4FF4-8A53-CA667BE3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76366B4-CBE5-4CC3-ACEC-4442025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A19DA-C6E8-4889-A306-47886D6E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18006-7AA6-431D-A914-C2A5BA7D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61015C0-AD8D-469D-8ECF-8EC113FE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A15E8-F923-4B8D-8C98-581AF3BD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89493-C899-4D9F-A4A4-C3BF029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D91D16E-0800-42A6-ACEC-2EFD96F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C3918-FE2E-4A8E-ACEE-82FEEFC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B9359-A581-4050-900E-598E823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293371CA-583F-4C51-924D-ECC3A578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6B1DEC-283E-4251-8613-399D741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DEB7FF55-07E8-43FA-BB67-B97A41B2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8D388D-6215-4BF6-B62F-D81BA7B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56E3BD60-A008-41BC-93F7-DD00CBF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7C8BB-F64D-4CB6-927F-921CE5E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61EF7CA4-CBAC-417D-A4E0-9A81021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F1374A-ABBB-497A-9714-FD4BD83F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9CB8CD14-9305-4B48-B27A-D1377E57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580D5B-4551-4D49-9774-8C57CAE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41E95B76-7D3B-48FC-8CA5-B386AD71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5D5C5D9C-227C-4ABC-8E6E-A3D82B6C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選定 X → B → D，使用 c1、c2">
            <a:extLst xmlns:a="http://schemas.openxmlformats.org/drawingml/2006/main">
              <a:ext uri="{FF2B5EF4-FFF2-40B4-BE49-F238E27FC236}">
                <a16:creationId xmlns:a16="http://schemas.microsoft.com/office/drawing/2014/main" id="{0C5EC22B-A649-4D51-8543-C37512C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路徑 X → B → D（c1、c2）</a:t>
            </a:r>
          </a:p>
        </p:txBody>
      </p:sp>
      <p:sp>
        <p:nvSpPr>
          <p:cNvPr id="40" name="• 最早完整到達：第 8 秒">
            <a:extLst xmlns:a="http://schemas.openxmlformats.org/drawingml/2006/main">
              <a:ext uri="{FF2B5EF4-FFF2-40B4-BE49-F238E27FC236}">
                <a16:creationId xmlns:a16="http://schemas.microsoft.com/office/drawing/2014/main" id="{7C3F0624-CB51-4DD7-B856-7EAE4BA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最早完整到達：第 8 秒</a:t>
            </a:r>
          </a:p>
        </p:txBody>
      </p:sp>
      <p:sp>
        <p:nvSpPr>
          <p:cNvPr id="41" name="• 由目的地標籤回溯各跳發送時刻">
            <a:extLst xmlns:a="http://schemas.openxmlformats.org/drawingml/2006/main">
              <a:ext uri="{FF2B5EF4-FFF2-40B4-BE49-F238E27FC236}">
                <a16:creationId xmlns:a16="http://schemas.microsoft.com/office/drawing/2014/main" id="{5F2ECEFE-FB60-4DFF-AF9E-5D21F6B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回溯各跳的發送時刻</a:t>
            </a:r>
          </a:p>
        </p:txBody>
      </p:sp>
    </p:spTree>
    <p:extLst>
      <p:ext uri="{BB962C8B-B14F-4D97-AF65-F5344CB8AC3E}">
        <p14:creationId xmlns:p14="http://schemas.microsoft.com/office/powerpoint/2010/main" val="15566578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步驟 5：第一包預約 B 的 buffer">
            <a:extLst xmlns:a="http://schemas.openxmlformats.org/drawingml/2006/main">
              <a:ext uri="{FF2B5EF4-FFF2-40B4-BE49-F238E27FC236}">
                <a16:creationId xmlns:a16="http://schemas.microsoft.com/office/drawing/2014/main" id="{B1B73D82-86E5-4ABA-B028-05892DA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5：第一包預約 B 的 buffer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E0364DC2-C621-41E9-8005-6586A559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更新後：R[c1] = R[c2] = 0；此占用曲線成為第二包">
            <a:extLst xmlns:a="http://schemas.openxmlformats.org/drawingml/2006/main">
              <a:ext uri="{FF2B5EF4-FFF2-40B4-BE49-F238E27FC236}">
                <a16:creationId xmlns:a16="http://schemas.microsoft.com/office/drawing/2014/main" id="{33B0E519-1496-46B0-8A04-183F966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更新後：R[c1] = R[c2] = 0；此占用曲線成為第二包的 Oᴮ(t)。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F15EE-A89D-41DD-8D6C-5BBBB894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9048750" cy="2143125"/>
          </a:xfrm>
          <a:custGeom xmlns:a="http://schemas.openxmlformats.org/drawingml/2006/main">
            <a:pathLst>
              <a:path w="9048750" h="2143125">
                <a:moveTo>
                  <a:pt x="0" y="0"/>
                </a:moveTo>
                <a:lnTo>
                  <a:pt x="0" y="2143125"/>
                </a:lnTo>
                <a:lnTo>
                  <a:pt x="904875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1FE8A-1A0E-43C6-A86A-72BE7F0F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" name="0">
            <a:extLst xmlns:a="http://schemas.openxmlformats.org/drawingml/2006/main">
              <a:ext uri="{FF2B5EF4-FFF2-40B4-BE49-F238E27FC236}">
                <a16:creationId xmlns:a16="http://schemas.microsoft.com/office/drawing/2014/main" id="{E8396BA9-641C-443B-A03D-3891DC5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1B504-AE44-4965-9F60-0563F877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CD0B7A6E-B4D1-471E-A2C8-2912FAC6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A7764-4881-4A72-AA5E-6A9290C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DE75D29B-22FB-4B59-91CA-25C8F9A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3F0E9-BC71-4F28-BB99-35F5C0DD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2" name="6">
            <a:extLst xmlns:a="http://schemas.openxmlformats.org/drawingml/2006/main">
              <a:ext uri="{FF2B5EF4-FFF2-40B4-BE49-F238E27FC236}">
                <a16:creationId xmlns:a16="http://schemas.microsoft.com/office/drawing/2014/main" id="{30AAB943-71AC-4D06-A76A-DB8D34B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ECDE4-8D1F-449C-9844-E671D4EB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4" name="8">
            <a:extLst xmlns:a="http://schemas.openxmlformats.org/drawingml/2006/main">
              <a:ext uri="{FF2B5EF4-FFF2-40B4-BE49-F238E27FC236}">
                <a16:creationId xmlns:a16="http://schemas.microsoft.com/office/drawing/2014/main" id="{4B3AEC15-5096-4CEE-88E6-8BC61F5D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4C83B-60BA-4250-A93A-B4B7B627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7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6" name="10">
            <a:extLst xmlns:a="http://schemas.openxmlformats.org/drawingml/2006/main">
              <a:ext uri="{FF2B5EF4-FFF2-40B4-BE49-F238E27FC236}">
                <a16:creationId xmlns:a16="http://schemas.microsoft.com/office/drawing/2014/main" id="{5BD51648-263D-4BAF-AFA7-E1B8EF98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8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28089-655D-4D4C-91F5-3DD3468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12">
            <a:extLst xmlns:a="http://schemas.openxmlformats.org/drawingml/2006/main">
              <a:ext uri="{FF2B5EF4-FFF2-40B4-BE49-F238E27FC236}">
                <a16:creationId xmlns:a16="http://schemas.microsoft.com/office/drawing/2014/main" id="{E4FA549B-F640-4365-9C7A-AF5F500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0">
            <a:extLst xmlns:a="http://schemas.openxmlformats.org/drawingml/2006/main">
              <a:ext uri="{FF2B5EF4-FFF2-40B4-BE49-F238E27FC236}">
                <a16:creationId xmlns:a16="http://schemas.microsoft.com/office/drawing/2014/main" id="{A3DFC349-1165-4D72-80DF-46C828EC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86A3A48F-8B22-49CC-9176-A70915E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0DC11635-C759-40E6-96A3-E26036E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1EED3-0A49-4379-8BC2-984F6C08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BB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B5ABE-707F-4A7A-AD58-3F1D228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1714500"/>
          </a:xfrm>
          <a:custGeom xmlns:a="http://schemas.openxmlformats.org/drawingml/2006/main">
            <a:pathLst>
              <a:path w="9048750" h="1714500">
                <a:moveTo>
                  <a:pt x="0" y="1714500"/>
                </a:moveTo>
                <a:lnTo>
                  <a:pt x="1508125" y="1714500"/>
                </a:lnTo>
                <a:lnTo>
                  <a:pt x="2262188" y="0"/>
                </a:lnTo>
                <a:lnTo>
                  <a:pt x="4524375" y="0"/>
                </a:lnTo>
                <a:lnTo>
                  <a:pt x="5278438" y="1714500"/>
                </a:lnTo>
                <a:lnTo>
                  <a:pt x="904875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24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7C1097BD-2E66-41CD-8977-A29B6CA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25" name="時間（秒）">
            <a:extLst xmlns:a="http://schemas.openxmlformats.org/drawingml/2006/main">
              <a:ext uri="{FF2B5EF4-FFF2-40B4-BE49-F238E27FC236}">
                <a16:creationId xmlns:a16="http://schemas.microsoft.com/office/drawing/2014/main" id="{AC5A1996-C5D3-41B0-91B6-C2AD0CC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67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時間（秒）</a:t>
            </a:r>
          </a:p>
        </p:txBody>
      </p:sp>
      <p:sp>
        <p:nvSpPr>
          <p:cNvPr id="26" name="容量上限 4 MB">
            <a:extLst xmlns:a="http://schemas.openxmlformats.org/drawingml/2006/main">
              <a:ext uri="{FF2B5EF4-FFF2-40B4-BE49-F238E27FC236}">
                <a16:creationId xmlns:a16="http://schemas.microsoft.com/office/drawing/2014/main" id="{6C500D69-5605-4D4F-A790-CB9CF5E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容量上限 4 MB</a:t>
            </a:r>
          </a:p>
        </p:txBody>
      </p:sp>
      <p:sp>
        <p:nvSpPr>
          <p:cNvPr id="27" name="B：第一包占用量">
            <a:extLst xmlns:a="http://schemas.openxmlformats.org/drawingml/2006/main">
              <a:ext uri="{FF2B5EF4-FFF2-40B4-BE49-F238E27FC236}">
                <a16:creationId xmlns:a16="http://schemas.microsoft.com/office/drawing/2014/main" id="{F960C074-C4A5-4504-A8A1-2172CD5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B：第一包占用量</a:t>
            </a:r>
          </a:p>
        </p:txBody>
      </p:sp>
    </p:spTree>
    <p:extLst>
      <p:ext uri="{BB962C8B-B14F-4D97-AF65-F5344CB8AC3E}">
        <p14:creationId xmlns:p14="http://schemas.microsoft.com/office/powerpoint/2010/main" val="556508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6：第二包保留不同到達時間">
            <a:extLst xmlns:a="http://schemas.openxmlformats.org/drawingml/2006/main">
              <a:ext uri="{FF2B5EF4-FFF2-40B4-BE49-F238E27FC236}">
                <a16:creationId xmlns:a16="http://schemas.microsoft.com/office/drawing/2014/main" id="{A1279B54-9014-4B68-BC59-879F81C1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6：第二包保留不同到達時間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FE373ACE-6911-41E7-A37A-A198E46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較早抵達 B 的標籤，未必有可行的後續路徑。">
            <a:extLst xmlns:a="http://schemas.openxmlformats.org/drawingml/2006/main">
              <a:ext uri="{FF2B5EF4-FFF2-40B4-BE49-F238E27FC236}">
                <a16:creationId xmlns:a16="http://schemas.microsoft.com/office/drawing/2014/main" id="{1597E049-B4B1-40D3-B340-7E62466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較早抵達 B 的標籤，未必有可行的後續路徑。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0FA76-3B8F-49E6-8F74-DE7F8A3B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D7C89-296E-4B08-B013-6CD34A1D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45D438DA-FB32-4836-8EA7-778646C6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F071D-D769-4217-BC2C-3078D1C7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BF342-6BA2-4309-BCFA-8335360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CCF6618-402E-480E-BB38-FC1BF121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544C4-73F1-4197-8743-731E71E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C5DFA-16D5-4911-B0BC-84AB675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A7C0DA80-1257-4BF7-8B4F-487AACC2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3ECFB-1264-4C7D-9476-3840F9E2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EBEF9-7037-4155-AF48-BDA485C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A23D440-6702-40B9-A795-EC44DC5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B0AE7-427D-4E6E-8E78-C15A2FB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DFAA0-4E95-41CD-809E-4B2F36E6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CB992EAC-2C6E-4755-BEE8-79CA338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A67D8-0FE9-45AA-A899-AD50D2D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F8412-3740-4B9D-9A67-70743C6A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BC03DD-2FDB-4838-ACD5-739132A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91A6F-DEEF-447C-8D64-10681503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8A3AE-18A7-4749-9D20-18E48D7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548A381-3318-49C4-A37D-CF61D75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E7074-26A0-4F8F-923C-2A7D5FE0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C4A8E-05CE-4767-834F-B64E4D6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667EEB2-6C7E-4EA2-A3A0-EC13D4F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870F7-5BF8-44A5-BDF1-7A6B0CD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52FA861-5039-452A-A2A6-DA583897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6C51DA-580D-4FC2-B117-834D612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23E5E8B2-9639-4FBE-82F0-86B2A6F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75715-9989-433B-A847-E6D5023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1DABB663-37A6-44F1-A47C-DA3BFB6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4CB6D-75A3-4B3A-8E49-6A1E2B88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A217E785-235C-441E-8BBE-5736AAB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70042B-00FA-4815-934E-EB91425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46B41493-0460-4D14-9462-CD54D07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123EC2E4-9D6D-4880-B776-A55CAE4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經 c3：B 於第 2 秒完整接收">
            <a:extLst xmlns:a="http://schemas.openxmlformats.org/drawingml/2006/main">
              <a:ext uri="{FF2B5EF4-FFF2-40B4-BE49-F238E27FC236}">
                <a16:creationId xmlns:a16="http://schemas.microsoft.com/office/drawing/2014/main" id="{AB3D120C-4178-4456-A96E-2155CE8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c3：第 2 秒到 B</a:t>
            </a:r>
          </a:p>
        </p:txBody>
      </p:sp>
      <p:sp>
        <p:nvSpPr>
          <p:cNvPr id="40" name="• 經 c4：B 可於第 8 或 9 秒完整接收">
            <a:extLst xmlns:a="http://schemas.openxmlformats.org/drawingml/2006/main">
              <a:ext uri="{FF2B5EF4-FFF2-40B4-BE49-F238E27FC236}">
                <a16:creationId xmlns:a16="http://schemas.microsoft.com/office/drawing/2014/main" id="{A9D4A12F-393F-4720-BE6B-0B078DA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c4：第 8 或 9 秒到 B</a:t>
            </a:r>
          </a:p>
        </p:txBody>
      </p:sp>
      <p:sp>
        <p:nvSpPr>
          <p:cNvPr id="41" name="• 經 c6：C 於第 3 秒完整接收">
            <a:extLst xmlns:a="http://schemas.openxmlformats.org/drawingml/2006/main">
              <a:ext uri="{FF2B5EF4-FFF2-40B4-BE49-F238E27FC236}">
                <a16:creationId xmlns:a16="http://schemas.microsoft.com/office/drawing/2014/main" id="{132FA6AE-6EF2-4EEA-8358-13B83DA9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c6：第 3 秒到 C</a:t>
            </a:r>
          </a:p>
        </p:txBody>
      </p:sp>
    </p:spTree>
    <p:extLst>
      <p:ext uri="{BB962C8B-B14F-4D97-AF65-F5344CB8AC3E}">
        <p14:creationId xmlns:p14="http://schemas.microsoft.com/office/powerpoint/2010/main" val="998256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7：不可行分支與支配刪除">
            <a:extLst xmlns:a="http://schemas.openxmlformats.org/drawingml/2006/main">
              <a:ext uri="{FF2B5EF4-FFF2-40B4-BE49-F238E27FC236}">
                <a16:creationId xmlns:a16="http://schemas.microsoft.com/office/drawing/2014/main" id="{523BB56C-7F8E-4BC0-8134-9F957A0A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7：不可行分支與支配刪除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7FDA0D13-7844-4124-AE10-FFF38DA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早到分支因等待失敗；晚到兩標籤中僅保留必要者。">
            <a:extLst xmlns:a="http://schemas.openxmlformats.org/drawingml/2006/main">
              <a:ext uri="{FF2B5EF4-FFF2-40B4-BE49-F238E27FC236}">
                <a16:creationId xmlns:a16="http://schemas.microsoft.com/office/drawing/2014/main" id="{220E1128-FDF4-4092-89EC-BB15BB0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早到分支因等待失敗；晚到兩標籤中僅保留必要者。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F087E-B180-4E23-A76B-538C14E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41DF-051D-415F-B619-48C1E10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BC36D24-2189-48AA-A885-4A29A1BB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D946D-60D0-4BAA-B30C-F8CE532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D55CF-0C78-4E0E-9A4C-2F5C7A6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41C63D6A-2A61-434C-B8A1-9743C06A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692A3-23DE-47BF-A402-3D732162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7E185-5CCF-4C17-90A0-3F56794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13834D6C-8408-4449-81A2-609CF66B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E747D-4E9B-4DAD-9B98-FE944D1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CBC99-4849-475A-B048-1D00844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80810066-E0BE-4EB3-A1DE-8EE3038F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A6837-2910-43A0-BD3D-CF33340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6D7FD-39E7-4561-9F0C-179EF1D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895A3B7-8D62-4713-A2B0-C94BBB75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AE6B9-D1E8-47FA-A656-9A5C9154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B7C91-9D73-4394-940F-8BFA28E6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3CCA91E-2B83-404D-B0A8-99FDA65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ED3C1-D471-4411-B2C0-CB6A8FB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3339A-94D8-41FA-9E68-DE84488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3656083-1806-4DCB-90D1-C697FA3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26BC4-5514-4751-AF40-59F73DA7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0B5B4-ED8D-42A4-BFE9-8E84A08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74112BEC-3703-43F0-A9C6-3DD0FA8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2D3B4-8E4C-4209-9D3E-96C99B9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09DA795A-B14D-492D-B6B0-B6DE25F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B8F28-1BC7-4C5A-82B5-EB94BEB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E6798C26-7E57-4D48-8463-2C2F3789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13D75-DBF1-4AE0-9695-17526B9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68F9D80-3F97-450D-B377-A526BC4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85A2B-AB4D-4324-938E-6219BD1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54A0493D-12B7-49BB-9E44-592CC36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9DB97A-BB4D-437E-9F06-C548BEE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CDA4F513-70D7-4CC2-83D6-205B2AF9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E51536AC-BBD1-4136-B8E6-F2DA63C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B 的第 2 秒標籤：等待會超過 4 MB">
            <a:extLst xmlns:a="http://schemas.openxmlformats.org/drawingml/2006/main">
              <a:ext uri="{FF2B5EF4-FFF2-40B4-BE49-F238E27FC236}">
                <a16:creationId xmlns:a16="http://schemas.microsoft.com/office/drawing/2014/main" id="{4D5BFF96-3A66-4514-A9E6-4697921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早到 B：等待會超過 4 MB</a:t>
            </a:r>
          </a:p>
        </p:txBody>
      </p:sp>
      <p:sp>
        <p:nvSpPr>
          <p:cNvPr id="40" name="• C 的分支：c7 容量不足；c8 來不及">
            <a:extLst xmlns:a="http://schemas.openxmlformats.org/drawingml/2006/main">
              <a:ext uri="{FF2B5EF4-FFF2-40B4-BE49-F238E27FC236}">
                <a16:creationId xmlns:a16="http://schemas.microsoft.com/office/drawing/2014/main" id="{E496684D-5FEE-48CA-9DF3-405358AD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經 C：c7 容量不足，c8 已逾時</a:t>
            </a:r>
          </a:p>
        </p:txBody>
      </p:sp>
      <p:sp>
        <p:nvSpPr>
          <p:cNvPr id="41" name="• B 的第 8 秒標籤可支配第 9 秒標籤">
            <a:extLst xmlns:a="http://schemas.openxmlformats.org/drawingml/2006/main">
              <a:ext uri="{FF2B5EF4-FFF2-40B4-BE49-F238E27FC236}">
                <a16:creationId xmlns:a16="http://schemas.microsoft.com/office/drawing/2014/main" id="{31F5E00E-E6BE-4F12-BA86-F102C479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B：第 8 秒標籤支配第 9 秒</a:t>
            </a:r>
          </a:p>
        </p:txBody>
      </p:sp>
    </p:spTree>
    <p:extLst>
      <p:ext uri="{BB962C8B-B14F-4D97-AF65-F5344CB8AC3E}">
        <p14:creationId xmlns:p14="http://schemas.microsoft.com/office/powerpoint/2010/main" val="41045985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步驟 8：第二包選定替代路徑">
            <a:extLst xmlns:a="http://schemas.openxmlformats.org/drawingml/2006/main">
              <a:ext uri="{FF2B5EF4-FFF2-40B4-BE49-F238E27FC236}">
                <a16:creationId xmlns:a16="http://schemas.microsoft.com/office/drawing/2014/main" id="{4BBE2E26-BAB4-446A-92BF-271A0D7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步驟 8：第二包選定替代路徑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111CC0F2-8584-43ED-960C-5C246A4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第一包的預約，使第二包改走較晚的通訊機會。">
            <a:extLst xmlns:a="http://schemas.openxmlformats.org/drawingml/2006/main">
              <a:ext uri="{FF2B5EF4-FFF2-40B4-BE49-F238E27FC236}">
                <a16:creationId xmlns:a16="http://schemas.microsoft.com/office/drawing/2014/main" id="{2DCEEFF4-03CC-43FC-8593-8D09FFF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第一包的預約，使第二包改走較晚的通訊機會。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14B27-7588-4133-BF33-2D9D83C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4FDE7-920B-40DF-89C0-BB2D2A3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C568B0F-91FD-4D56-B51E-D23E892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DA76C-87A4-4B0E-9F5C-2D8F8DDC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09C7E-E32F-4D8B-87A5-173A9AF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48DB0BB9-1259-4766-BCE8-06A29FD9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3EBFF-EDE4-4D7A-8D49-A8BE7A3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23772-13F1-40AF-B7C0-90D9559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3168093-B8D2-4501-9B6C-5A2AB55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56DCD-9803-4C73-B356-C019EFCE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7FC62-A73A-49F2-905C-55AADA6B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A4CA486-F7B8-458F-8AFD-0DAF15F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2C698-C2D6-482B-939A-D731037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7D4E0-34EF-4C4D-BA99-916A4A84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17A6B5B-DECD-4FD5-96EE-C3AA75E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C0815-1293-4D5D-A770-D45BD624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D061F-691A-4A7A-B9F2-0531306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5A4F082-B9B3-4605-A429-E31B4960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BAF5C-5E87-4218-950A-A842DC8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BE183-0686-434A-A578-BC5D8C83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0F9A6D2-8FB6-48CA-B6F4-32ABF3A9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117B4-95E1-4A2D-88BF-57BF852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94992-033D-4669-82D8-A677BF0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0BD2A6-EBF9-4FE5-8245-D4B2C6C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A3E8A-D812-4059-AF54-975B8FF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6E2AB04-E956-46E3-A5B7-F0EA220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02141-C220-4A88-BFF9-413365C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437DC357-DCAC-414B-B616-431CF829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FBDB17-1B24-4B71-A1FC-4AF1536C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1621E3D9-ABBF-49B2-BC12-03554F0C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C30D2D-5941-42CF-AED9-1B6D15B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D110C96-1C2B-43D8-BFBC-C4AFE89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C9610-112F-4960-91F1-A86C110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0D95CACD-B4F2-413E-A502-FE002846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F7800AAC-9DA5-4E6A-8D38-1F109B0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選定 A → B → D，使用 c4、c5">
            <a:extLst xmlns:a="http://schemas.openxmlformats.org/drawingml/2006/main">
              <a:ext uri="{FF2B5EF4-FFF2-40B4-BE49-F238E27FC236}">
                <a16:creationId xmlns:a16="http://schemas.microsoft.com/office/drawing/2014/main" id="{2B9E3891-D4E0-4325-B24F-B3C106A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路徑 A → B → D（c4、c5）</a:t>
            </a:r>
          </a:p>
        </p:txBody>
      </p:sp>
      <p:sp>
        <p:nvSpPr>
          <p:cNvPr id="40" name="• c4：第 7～8 秒；c5：第 10～11 秒">
            <a:extLst xmlns:a="http://schemas.openxmlformats.org/drawingml/2006/main">
              <a:ext uri="{FF2B5EF4-FFF2-40B4-BE49-F238E27FC236}">
                <a16:creationId xmlns:a16="http://schemas.microsoft.com/office/drawing/2014/main" id="{5F012644-735E-4187-87BB-26C9307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發送：c4 於 7～8 秒；</a:t>
            </a:r>
          </a:p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c5 於 10～11 秒</a:t>
            </a:r>
          </a:p>
        </p:txBody>
      </p:sp>
      <p:sp>
        <p:nvSpPr>
          <p:cNvPr id="41" name="• 完整到達 D：第 12 秒">
            <a:extLst xmlns:a="http://schemas.openxmlformats.org/drawingml/2006/main">
              <a:ext uri="{FF2B5EF4-FFF2-40B4-BE49-F238E27FC236}">
                <a16:creationId xmlns:a16="http://schemas.microsoft.com/office/drawing/2014/main" id="{40B8BBA6-981A-49A5-9DBB-D6889E48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完整到達 D：第 12 秒</a:t>
            </a:r>
          </a:p>
        </p:txBody>
      </p:sp>
    </p:spTree>
    <p:extLst>
      <p:ext uri="{BB962C8B-B14F-4D97-AF65-F5344CB8AC3E}">
        <p14:creationId xmlns:p14="http://schemas.microsoft.com/office/powerpoint/2010/main" val="3262552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如何驗證目前版本？">
            <a:extLst xmlns:a="http://schemas.openxmlformats.org/drawingml/2006/main">
              <a:ext uri="{FF2B5EF4-FFF2-40B4-BE49-F238E27FC236}">
                <a16:creationId xmlns:a16="http://schemas.microsoft.com/office/drawing/2014/main" id="{36D8F825-9FF0-4B1F-A464-06FBB554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如何驗證目前版本？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38501365-DCDF-4D76-8DDF-8B0C11A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驗證程式必須採用相同模型，才能判斷演算法是否出錯。">
            <a:extLst xmlns:a="http://schemas.openxmlformats.org/drawingml/2006/main">
              <a:ext uri="{FF2B5EF4-FFF2-40B4-BE49-F238E27FC236}">
                <a16:creationId xmlns:a16="http://schemas.microsoft.com/office/drawing/2014/main" id="{402EE2D5-9AAB-4ED1-BC5B-3537ACB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驗證程式必須採用相同模型，才能判斷演算法是否出錯。</a:t>
            </a:r>
          </a:p>
        </p:txBody>
      </p:sp>
      <p:sp>
        <p:nvSpPr>
          <p:cNvPr id="4" name="• 保留原演算法定義，固定測試輸入">
            <a:extLst xmlns:a="http://schemas.openxmlformats.org/drawingml/2006/main">
              <a:ext uri="{FF2B5EF4-FFF2-40B4-BE49-F238E27FC236}">
                <a16:creationId xmlns:a16="http://schemas.microsoft.com/office/drawing/2014/main" id="{9938C23C-8B3A-4C58-A40A-FCFDD68A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保留原演算法定義，固定測試輸入</a:t>
            </a:r>
          </a:p>
        </p:txBody>
      </p:sp>
      <p:sp>
        <p:nvSpPr>
          <p:cNvPr id="5" name="• 獨立列舉路徑與格點發送時刻，作為比較答案">
            <a:extLst xmlns:a="http://schemas.openxmlformats.org/drawingml/2006/main">
              <a:ext uri="{FF2B5EF4-FFF2-40B4-BE49-F238E27FC236}">
                <a16:creationId xmlns:a16="http://schemas.microsoft.com/office/drawing/2014/main" id="{1C92E590-654D-4DEB-A2F6-4E0BF15D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獨立列舉路徑與格點發送時刻，作為比較答案</a:t>
            </a:r>
          </a:p>
        </p:txBody>
      </p:sp>
      <p:sp>
        <p:nvSpPr>
          <p:cNvPr id="6" name="• 比較可行性與最早完整到達時間">
            <a:extLst xmlns:a="http://schemas.openxmlformats.org/drawingml/2006/main">
              <a:ext uri="{FF2B5EF4-FFF2-40B4-BE49-F238E27FC236}">
                <a16:creationId xmlns:a16="http://schemas.microsoft.com/office/drawing/2014/main" id="{7C07CA9B-B650-48CB-BFA4-8BE994C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比較可行性與最早完整到達時間</a:t>
            </a:r>
          </a:p>
        </p:txBody>
      </p:sp>
      <p:sp>
        <p:nvSpPr>
          <p:cNvPr id="7" name="• 另外關閉支配刪除，檢查答案是否改變">
            <a:extLst xmlns:a="http://schemas.openxmlformats.org/drawingml/2006/main">
              <a:ext uri="{FF2B5EF4-FFF2-40B4-BE49-F238E27FC236}">
                <a16:creationId xmlns:a16="http://schemas.microsoft.com/office/drawing/2014/main" id="{7CE76DB3-65E3-4A1C-9649-4C8912C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另外關閉支配刪除，檢查答案是否改變</a:t>
            </a:r>
          </a:p>
        </p:txBody>
      </p:sp>
    </p:spTree>
    <p:extLst>
      <p:ext uri="{BB962C8B-B14F-4D97-AF65-F5344CB8AC3E}">
        <p14:creationId xmlns:p14="http://schemas.microsoft.com/office/powerpoint/2010/main" val="212891594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驗證結果與適用範圍">
            <a:extLst xmlns:a="http://schemas.openxmlformats.org/drawingml/2006/main">
              <a:ext uri="{FF2B5EF4-FFF2-40B4-BE49-F238E27FC236}">
                <a16:creationId xmlns:a16="http://schemas.microsoft.com/office/drawing/2014/main" id="{820C11A1-49C7-455B-904D-448A724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驗證結果與適用範圍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60F389DA-92DC-43D9-A706-46CAC05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目前未找到同一離散時間模型內的失敗案例；尚非所有輸入的正確性證明">
            <a:extLst xmlns:a="http://schemas.openxmlformats.org/drawingml/2006/main">
              <a:ext uri="{FF2B5EF4-FFF2-40B4-BE49-F238E27FC236}">
                <a16:creationId xmlns:a16="http://schemas.microsoft.com/office/drawing/2014/main" id="{A7F77278-753A-449F-8CFC-58B9DFAD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目前未找到同一離散時間模型內的失敗案例；尚非所有輸入的正確性證明。</a:t>
            </a:r>
          </a:p>
        </p:txBody>
      </p:sp>
      <p:sp>
        <p:nvSpPr>
          <p:cNvPr id="4" name="• 14 個人工案例，共 15 次單包查詢">
            <a:extLst xmlns:a="http://schemas.openxmlformats.org/drawingml/2006/main">
              <a:ext uri="{FF2B5EF4-FFF2-40B4-BE49-F238E27FC236}">
                <a16:creationId xmlns:a16="http://schemas.microsoft.com/office/drawing/2014/main" id="{DBDAC00A-C9FC-4F8C-BA55-5AE43D8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14 個人工案例，共 15 次單包查詢</a:t>
            </a:r>
          </a:p>
        </p:txBody>
      </p:sp>
      <p:sp>
        <p:nvSpPr>
          <p:cNvPr id="5" name="• 15 次查詢與獨立列舉答案全部一致">
            <a:extLst xmlns:a="http://schemas.openxmlformats.org/drawingml/2006/main">
              <a:ext uri="{FF2B5EF4-FFF2-40B4-BE49-F238E27FC236}">
                <a16:creationId xmlns:a16="http://schemas.microsoft.com/office/drawing/2014/main" id="{703274FC-4FBD-4D79-9300-0355A44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15 次查詢與獨立列舉答案全部一致</a:t>
            </a:r>
          </a:p>
        </p:txBody>
      </p:sp>
      <p:sp>
        <p:nvSpPr>
          <p:cNvPr id="6" name="• 18 項單元測試通過">
            <a:extLst xmlns:a="http://schemas.openxmlformats.org/drawingml/2006/main">
              <a:ext uri="{FF2B5EF4-FFF2-40B4-BE49-F238E27FC236}">
                <a16:creationId xmlns:a16="http://schemas.microsoft.com/office/drawing/2014/main" id="{8369AB98-128E-4C56-9442-45457D5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18 項單元測試通過</a:t>
            </a:r>
          </a:p>
        </p:txBody>
      </p:sp>
      <p:sp>
        <p:nvSpPr>
          <p:cNvPr id="7" name="• 啟用／停用支配刪除，15 次答案相同">
            <a:extLst xmlns:a="http://schemas.openxmlformats.org/drawingml/2006/main">
              <a:ext uri="{FF2B5EF4-FFF2-40B4-BE49-F238E27FC236}">
                <a16:creationId xmlns:a16="http://schemas.microsoft.com/office/drawing/2014/main" id="{7A8A0B56-6888-4820-BF2B-7357CF4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啟用／停用支配刪除，15 次答案相同</a:t>
            </a:r>
          </a:p>
        </p:txBody>
      </p:sp>
    </p:spTree>
    <p:extLst>
      <p:ext uri="{BB962C8B-B14F-4D97-AF65-F5344CB8AC3E}">
        <p14:creationId xmlns:p14="http://schemas.microsoft.com/office/powerpoint/2010/main" val="70657883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支配刪除的觀察結果">
            <a:extLst xmlns:a="http://schemas.openxmlformats.org/drawingml/2006/main">
              <a:ext uri="{FF2B5EF4-FFF2-40B4-BE49-F238E27FC236}">
                <a16:creationId xmlns:a16="http://schemas.microsoft.com/office/drawing/2014/main" id="{05BB482D-A683-4C9D-805A-E6244DC3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支配刪除的觀察結果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D27CD593-E0AD-411E-93F9-0BA3553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下一階段才適合評估更大規模的時間與記憶體成本。">
            <a:extLst xmlns:a="http://schemas.openxmlformats.org/drawingml/2006/main">
              <a:ext uri="{FF2B5EF4-FFF2-40B4-BE49-F238E27FC236}">
                <a16:creationId xmlns:a16="http://schemas.microsoft.com/office/drawing/2014/main" id="{EB0E23A4-9E80-4B50-B7B2-A0F9B01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下一階段才適合評估更大規模的時間與記憶體成本。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95500"/>
                <a:gridCol w="2095500"/>
                <a:gridCol w="21336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停用支配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啟用支配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最佳到達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可刪除標籤案例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兩包範例：第二包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12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指標：加入優先佇列的標籤數">
            <a:extLst xmlns:a="http://schemas.openxmlformats.org/drawingml/2006/main">
              <a:ext uri="{FF2B5EF4-FFF2-40B4-BE49-F238E27FC236}">
                <a16:creationId xmlns:a16="http://schemas.microsoft.com/office/drawing/2014/main" id="{0654CECD-A220-4F7F-99FE-5A867FA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指標：加入優先佇列的標籤數</a:t>
            </a:r>
          </a:p>
        </p:txBody>
      </p:sp>
    </p:spTree>
    <p:extLst>
      <p:ext uri="{BB962C8B-B14F-4D97-AF65-F5344CB8AC3E}">
        <p14:creationId xmlns:p14="http://schemas.microsoft.com/office/powerpoint/2010/main" val="40731432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限制一：格點最早 ≠ 連續時間最早">
            <a:extLst xmlns:a="http://schemas.openxmlformats.org/drawingml/2006/main">
              <a:ext uri="{FF2B5EF4-FFF2-40B4-BE49-F238E27FC236}">
                <a16:creationId xmlns:a16="http://schemas.microsoft.com/office/drawing/2014/main" id="{9326DBB1-9267-4E5E-A69A-2BB52689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限制一：格點最早 ≠ 連續時間最早</a:t>
            </a:r>
          </a:p>
        </p:txBody>
      </p:sp>
      <p:sp>
        <p:nvSpPr>
          <p:cNvPr id="2" name="22">
            <a:extLst xmlns:a="http://schemas.openxmlformats.org/drawingml/2006/main">
              <a:ext uri="{FF2B5EF4-FFF2-40B4-BE49-F238E27FC236}">
                <a16:creationId xmlns:a16="http://schemas.microsoft.com/office/drawing/2014/main" id="{7E85F57C-2F5D-4F55-BBC7-5DC63FA7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  <p:sp>
        <p:nvSpPr>
          <p:cNvPr id="3" name="現有結果只支持離散時間版本，不能直接宣稱連續時間最佳。">
            <a:extLst xmlns:a="http://schemas.openxmlformats.org/drawingml/2006/main">
              <a:ext uri="{FF2B5EF4-FFF2-40B4-BE49-F238E27FC236}">
                <a16:creationId xmlns:a16="http://schemas.microsoft.com/office/drawing/2014/main" id="{5A7A9723-C71F-4629-9679-CEC1416B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現有結果只支持離散時間版本，不能直接宣稱連續時間最佳。</a:t>
            </a:r>
          </a:p>
        </p:txBody>
      </p:sp>
      <p:sp>
        <p:nvSpPr>
          <p:cNvPr id="4" name="• Δ = 1 秒時，最佳完整到達為 4 秒">
            <a:extLst xmlns:a="http://schemas.openxmlformats.org/drawingml/2006/main">
              <a:ext uri="{FF2B5EF4-FFF2-40B4-BE49-F238E27FC236}">
                <a16:creationId xmlns:a16="http://schemas.microsoft.com/office/drawing/2014/main" id="{864169B6-8CA5-4290-9CE7-6953BDC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Δ = 1 秒時，最佳完整到達為 4 秒</a:t>
            </a:r>
          </a:p>
        </p:txBody>
      </p:sp>
      <p:sp>
        <p:nvSpPr>
          <p:cNvPr id="5" name="• 允許非整數起始時刻，可於 3.5 秒到達">
            <a:extLst xmlns:a="http://schemas.openxmlformats.org/drawingml/2006/main">
              <a:ext uri="{FF2B5EF4-FFF2-40B4-BE49-F238E27FC236}">
                <a16:creationId xmlns:a16="http://schemas.microsoft.com/office/drawing/2014/main" id="{8CF4C793-CF1A-45BD-8C02-719A845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允許非整數起始時刻，可於 3.5 秒到達</a:t>
            </a:r>
          </a:p>
        </p:txBody>
      </p:sp>
      <p:sp>
        <p:nvSpPr>
          <p:cNvPr id="6" name="• 緩衝區門檻可能產生新的非整數時刻">
            <a:extLst xmlns:a="http://schemas.openxmlformats.org/drawingml/2006/main">
              <a:ext uri="{FF2B5EF4-FFF2-40B4-BE49-F238E27FC236}">
                <a16:creationId xmlns:a16="http://schemas.microsoft.com/office/drawing/2014/main" id="{FF386733-BF3A-497B-93BA-60F19902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緩衝區門檻可能產生新的非整數時刻</a:t>
            </a:r>
          </a:p>
        </p:txBody>
      </p:sp>
      <p:sp>
        <p:nvSpPr>
          <p:cNvPr id="7" name="連續時間 3.5 秒     ／     整數格點 4 秒">
            <a:extLst xmlns:a="http://schemas.openxmlformats.org/drawingml/2006/main">
              <a:ext uri="{FF2B5EF4-FFF2-40B4-BE49-F238E27FC236}">
                <a16:creationId xmlns:a16="http://schemas.microsoft.com/office/drawing/2014/main" id="{5C6A8B76-E700-439E-9A10-6B554588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連續時間 3.5 秒     ／     整數格點 4 秒</a:t>
            </a:r>
          </a:p>
        </p:txBody>
      </p:sp>
    </p:spTree>
    <p:extLst>
      <p:ext uri="{BB962C8B-B14F-4D97-AF65-F5344CB8AC3E}">
        <p14:creationId xmlns:p14="http://schemas.microsoft.com/office/powerpoint/2010/main" val="7390746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限制二：總容量不等於可排入整包">
            <a:extLst xmlns:a="http://schemas.openxmlformats.org/drawingml/2006/main">
              <a:ext uri="{FF2B5EF4-FFF2-40B4-BE49-F238E27FC236}">
                <a16:creationId xmlns:a16="http://schemas.microsoft.com/office/drawing/2014/main" id="{996F67BA-5232-4686-AB93-995CE6ED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限制二：總容量不等於可排入整包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7FDCA745-8CB7-4307-A262-0FFD199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  <p:sp>
        <p:nvSpPr>
          <p:cNvPr id="3" name="加入已排定傳輸時段表之前，不能保證實際鏈路排程可行。">
            <a:extLst xmlns:a="http://schemas.openxmlformats.org/drawingml/2006/main">
              <a:ext uri="{FF2B5EF4-FFF2-40B4-BE49-F238E27FC236}">
                <a16:creationId xmlns:a16="http://schemas.microsoft.com/office/drawing/2014/main" id="{15F22063-2CA7-43B8-95DE-C5FDC37C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加入已排定傳輸時段表之前，不能保證實際鏈路排程可行。</a:t>
            </a:r>
          </a:p>
        </p:txBody>
      </p:sp>
      <p:sp>
        <p:nvSpPr>
          <p:cNvPr id="4" name="• contact 長 6 秒；剩餘總容量 3 MB">
            <a:extLst xmlns:a="http://schemas.openxmlformats.org/drawingml/2006/main">
              <a:ext uri="{FF2B5EF4-FFF2-40B4-BE49-F238E27FC236}">
                <a16:creationId xmlns:a16="http://schemas.microsoft.com/office/drawing/2014/main" id="{A77C584B-05A5-4854-BF84-45D34DAA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contact 長 6 秒；剩餘總容量 3 MB</a:t>
            </a:r>
          </a:p>
        </p:txBody>
      </p:sp>
      <p:sp>
        <p:nvSpPr>
          <p:cNvPr id="5" name="• 速率 1 MB/s，新 bundle 需連續傳送 2 秒">
            <a:extLst xmlns:a="http://schemas.openxmlformats.org/drawingml/2006/main">
              <a:ext uri="{FF2B5EF4-FFF2-40B4-BE49-F238E27FC236}">
                <a16:creationId xmlns:a16="http://schemas.microsoft.com/office/drawing/2014/main" id="{AB7988BC-ED96-49BE-932C-0061C0A5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速率 1 MB/s，新 bundle 需連續傳送 2 秒</a:t>
            </a:r>
          </a:p>
        </p:txBody>
      </p:sp>
      <p:sp>
        <p:nvSpPr>
          <p:cNvPr id="6" name="• 空檔各只有 1 秒，無法排入整包">
            <a:extLst xmlns:a="http://schemas.openxmlformats.org/drawingml/2006/main">
              <a:ext uri="{FF2B5EF4-FFF2-40B4-BE49-F238E27FC236}">
                <a16:creationId xmlns:a16="http://schemas.microsoft.com/office/drawing/2014/main" id="{7BA16830-CFAC-4AA3-8516-A0C0F752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空檔各只有 1 秒，無法排入整包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3F4B1-1042-48A2-BFF2-40C54531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空檔">
            <a:extLst xmlns:a="http://schemas.openxmlformats.org/drawingml/2006/main">
              <a:ext uri="{FF2B5EF4-FFF2-40B4-BE49-F238E27FC236}">
                <a16:creationId xmlns:a16="http://schemas.microsoft.com/office/drawing/2014/main" id="{39FF3123-591C-40C5-BA4F-C015BE4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9" name="0">
            <a:extLst xmlns:a="http://schemas.openxmlformats.org/drawingml/2006/main">
              <a:ext uri="{FF2B5EF4-FFF2-40B4-BE49-F238E27FC236}">
                <a16:creationId xmlns:a16="http://schemas.microsoft.com/office/drawing/2014/main" id="{63226C17-EA9B-4567-A4D5-C343AC9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15B52-7A4D-4B4C-A597-268C99F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已占用">
            <a:extLst xmlns:a="http://schemas.openxmlformats.org/drawingml/2006/main">
              <a:ext uri="{FF2B5EF4-FFF2-40B4-BE49-F238E27FC236}">
                <a16:creationId xmlns:a16="http://schemas.microsoft.com/office/drawing/2014/main" id="{C5416394-3EAF-4F92-A09E-78700EB5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68E510A-7E09-4E5B-B95B-9BB9400C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054A4-C91A-4944-A2C1-3D17A19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空檔">
            <a:extLst xmlns:a="http://schemas.openxmlformats.org/drawingml/2006/main">
              <a:ext uri="{FF2B5EF4-FFF2-40B4-BE49-F238E27FC236}">
                <a16:creationId xmlns:a16="http://schemas.microsoft.com/office/drawing/2014/main" id="{D8CB9DFE-8B67-4F57-BCAB-E6E6D32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4A18288E-3B4A-47C6-A811-6C9C60E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52A0F-D420-4A33-B121-5560A72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已占用">
            <a:extLst xmlns:a="http://schemas.openxmlformats.org/drawingml/2006/main">
              <a:ext uri="{FF2B5EF4-FFF2-40B4-BE49-F238E27FC236}">
                <a16:creationId xmlns:a16="http://schemas.microsoft.com/office/drawing/2014/main" id="{31631820-147F-46EE-8598-B1ECCD9C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568BA211-3EA7-48EF-ABF5-F88B010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61E50-0EB3-4CDA-95C6-D49BC9E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空檔">
            <a:extLst xmlns:a="http://schemas.openxmlformats.org/drawingml/2006/main">
              <a:ext uri="{FF2B5EF4-FFF2-40B4-BE49-F238E27FC236}">
                <a16:creationId xmlns:a16="http://schemas.microsoft.com/office/drawing/2014/main" id="{956BA69A-F3E8-4650-9433-73E6B274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C9C5B52A-519B-4352-94A0-D801697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064BC-668C-4EB9-B5D5-980F664D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已占用">
            <a:extLst xmlns:a="http://schemas.openxmlformats.org/drawingml/2006/main">
              <a:ext uri="{FF2B5EF4-FFF2-40B4-BE49-F238E27FC236}">
                <a16:creationId xmlns:a16="http://schemas.microsoft.com/office/drawing/2014/main" id="{C0AC7E06-7918-4D17-9E02-85D4E58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24" name="5">
            <a:extLst xmlns:a="http://schemas.openxmlformats.org/drawingml/2006/main">
              <a:ext uri="{FF2B5EF4-FFF2-40B4-BE49-F238E27FC236}">
                <a16:creationId xmlns:a16="http://schemas.microsoft.com/office/drawing/2014/main" id="{9EBCEB7C-F70C-4135-843B-3218456E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25" name="6 秒">
            <a:extLst xmlns:a="http://schemas.openxmlformats.org/drawingml/2006/main">
              <a:ext uri="{FF2B5EF4-FFF2-40B4-BE49-F238E27FC236}">
                <a16:creationId xmlns:a16="http://schemas.microsoft.com/office/drawing/2014/main" id="{F8BF13E9-6490-4A66-9161-A98291E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29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6 秒</a:t>
            </a:r>
          </a:p>
        </p:txBody>
      </p:sp>
    </p:spTree>
    <p:extLst>
      <p:ext uri="{BB962C8B-B14F-4D97-AF65-F5344CB8AC3E}">
        <p14:creationId xmlns:p14="http://schemas.microsoft.com/office/powerpoint/2010/main" val="179520863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前結論與下一步">
            <a:extLst xmlns:a="http://schemas.openxmlformats.org/drawingml/2006/main">
              <a:ext uri="{FF2B5EF4-FFF2-40B4-BE49-F238E27FC236}">
                <a16:creationId xmlns:a16="http://schemas.microsoft.com/office/drawing/2014/main" id="{4171596A-0820-45CC-A2FB-6CCE081A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目前結論與下一步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480D44B3-1338-42D9-AC08-411E5D22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  <p:sp>
        <p:nvSpPr>
          <p:cNvPr id="3" name="先界定並證明目前模型，再決定擴充範圍與效能比較。">
            <a:extLst xmlns:a="http://schemas.openxmlformats.org/drawingml/2006/main">
              <a:ext uri="{FF2B5EF4-FFF2-40B4-BE49-F238E27FC236}">
                <a16:creationId xmlns:a16="http://schemas.microsoft.com/office/drawing/2014/main" id="{B744F415-7A58-4EB6-81F4-1FFC422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先界定並證明目前模型，再決定擴充範圍與效能比較。</a:t>
            </a:r>
          </a:p>
        </p:txBody>
      </p:sp>
      <p:sp>
        <p:nvSpPr>
          <p:cNvPr id="4" name="• 已建立：時間、整包容量與逐 byte buffer 檢查">
            <a:extLst xmlns:a="http://schemas.openxmlformats.org/drawingml/2006/main">
              <a:ext uri="{FF2B5EF4-FFF2-40B4-BE49-F238E27FC236}">
                <a16:creationId xmlns:a16="http://schemas.microsoft.com/office/drawing/2014/main" id="{FC2E591D-8DA4-4BE7-9248-08B4C90A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已建立：時間、整包容量與逐 byte buffer 檢查</a:t>
            </a:r>
          </a:p>
        </p:txBody>
      </p:sp>
      <p:sp>
        <p:nvSpPr>
          <p:cNvPr id="5" name="• 已驗證：小型格點案例與支配刪除的一致性">
            <a:extLst xmlns:a="http://schemas.openxmlformats.org/drawingml/2006/main">
              <a:ext uri="{FF2B5EF4-FFF2-40B4-BE49-F238E27FC236}">
                <a16:creationId xmlns:a16="http://schemas.microsoft.com/office/drawing/2014/main" id="{FC90F203-D667-4AD0-873A-BA86D09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已驗證：小型格點案例與支配刪除的一致性</a:t>
            </a:r>
          </a:p>
        </p:txBody>
      </p:sp>
      <p:sp>
        <p:nvSpPr>
          <p:cNvPr id="6" name="• 待補：一般性證明與連續時間候選時刻">
            <a:extLst xmlns:a="http://schemas.openxmlformats.org/drawingml/2006/main">
              <a:ext uri="{FF2B5EF4-FFF2-40B4-BE49-F238E27FC236}">
                <a16:creationId xmlns:a16="http://schemas.microsoft.com/office/drawing/2014/main" id="{9C64D2E3-F841-4371-9A63-C83D335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待補：一般性證明與連續時間候選時刻</a:t>
            </a:r>
          </a:p>
        </p:txBody>
      </p:sp>
      <p:sp>
        <p:nvSpPr>
          <p:cNvPr id="7" name="• 後續擴充：已排定傳輸時段表；需另行確認修正">
            <a:extLst xmlns:a="http://schemas.openxmlformats.org/drawingml/2006/main">
              <a:ext uri="{FF2B5EF4-FFF2-40B4-BE49-F238E27FC236}">
                <a16:creationId xmlns:a16="http://schemas.microsoft.com/office/drawing/2014/main" id="{1C250936-E233-4EB3-AFB0-DCD1B43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後續擴充：已排定傳輸時段表；需另行確認修正</a:t>
            </a:r>
          </a:p>
        </p:txBody>
      </p:sp>
    </p:spTree>
    <p:extLst>
      <p:ext uri="{BB962C8B-B14F-4D97-AF65-F5344CB8AC3E}">
        <p14:creationId xmlns:p14="http://schemas.microsoft.com/office/powerpoint/2010/main" val="12350899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：範例 Contact Plan">
            <a:extLst xmlns:a="http://schemas.openxmlformats.org/drawingml/2006/main">
              <a:ext uri="{FF2B5EF4-FFF2-40B4-BE49-F238E27FC236}">
                <a16:creationId xmlns:a16="http://schemas.microsoft.com/office/drawing/2014/main" id="{E2E691B8-2CC0-4629-9748-B5776580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附錄：範例 Contact Plan</a:t>
            </a:r>
          </a:p>
        </p:txBody>
      </p:sp>
      <p:sp>
        <p:nvSpPr>
          <p:cNvPr id="2" name="25">
            <a:extLst xmlns:a="http://schemas.openxmlformats.org/drawingml/2006/main">
              <a:ext uri="{FF2B5EF4-FFF2-40B4-BE49-F238E27FC236}">
                <a16:creationId xmlns:a16="http://schemas.microsoft.com/office/drawing/2014/main" id="{B0FFAAED-664D-4678-AA9C-9536393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  <p:sp>
        <p:nvSpPr>
          <p:cNvPr id="3" name="同一拓樸可以有多個不同時段的 contact。">
            <a:extLst xmlns:a="http://schemas.openxmlformats.org/drawingml/2006/main">
              <a:ext uri="{FF2B5EF4-FFF2-40B4-BE49-F238E27FC236}">
                <a16:creationId xmlns:a16="http://schemas.microsoft.com/office/drawing/2014/main" id="{4C761F4E-AF8E-441D-9F17-2D0F31F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同一拓樸可以有多個不同時段的 contact。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00200"/>
          <a:ext xmlns:a="http://schemas.openxmlformats.org/drawingml/2006/main" cx="105156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667000"/>
                <a:gridCol w="2476500"/>
                <a:gridCol w="2019300"/>
                <a:gridCol w="2019300"/>
              </a:tblGrid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時段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δ（秒）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R（MB）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6～7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7～9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10～11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4～5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19093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2026-10-05T06:16:11.1060000Z</dcterms:created>
  <dcterms:modified xsi:type="dcterms:W3CDTF">2026-10-05T06:16:11.1060000Z</dcterms:modified>
</coreProperties>
</file>