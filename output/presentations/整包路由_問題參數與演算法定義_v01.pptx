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b9101eded54375" /><Relationship Type="http://schemas.openxmlformats.org/officeDocument/2006/relationships/extended-properties" Target="/docProps/app.xml" Id="R96656c90507445c7" /><Relationship Type="http://schemas.openxmlformats.org/officeDocument/2006/relationships/officeDocument" Target="/ppt/presentation.xml" Id="Rba567ecd43b54b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01ae4c2114438"/>
  </p:sldMasterIdLst>
  <p:notesMasterIdLst>
    <p:notesMasterId xmlns:r="http://schemas.openxmlformats.org/officeDocument/2006/relationships" r:id="R002c24d825664d11"/>
  </p:notesMasterIdLst>
  <p:sldIdLst>
    <p:sldId xmlns:r="http://schemas.openxmlformats.org/officeDocument/2006/relationships" id="256" r:id="R21133257d54b4a4c"/>
    <p:sldId xmlns:r="http://schemas.openxmlformats.org/officeDocument/2006/relationships" id="257" r:id="R7167127d38d84f3b"/>
    <p:sldId xmlns:r="http://schemas.openxmlformats.org/officeDocument/2006/relationships" id="258" r:id="Rf5954b6c4bdb4325"/>
    <p:sldId xmlns:r="http://schemas.openxmlformats.org/officeDocument/2006/relationships" id="259" r:id="R3eac12502e584f59"/>
    <p:sldId xmlns:r="http://schemas.openxmlformats.org/officeDocument/2006/relationships" id="260" r:id="R8f5b88d1f5db4917"/>
    <p:sldId xmlns:r="http://schemas.openxmlformats.org/officeDocument/2006/relationships" id="261" r:id="R68e78ebd2cd74a04"/>
    <p:sldId xmlns:r="http://schemas.openxmlformats.org/officeDocument/2006/relationships" id="262" r:id="Rda24ca7ba0b94d29"/>
    <p:sldId xmlns:r="http://schemas.openxmlformats.org/officeDocument/2006/relationships" id="263" r:id="Rece0e94435784487"/>
    <p:sldId xmlns:r="http://schemas.openxmlformats.org/officeDocument/2006/relationships" id="264" r:id="R2ea0c758ca6d4d28"/>
    <p:sldId xmlns:r="http://schemas.openxmlformats.org/officeDocument/2006/relationships" id="265" r:id="Re14049ba25454332"/>
    <p:sldId xmlns:r="http://schemas.openxmlformats.org/officeDocument/2006/relationships" id="266" r:id="R2cf509a04e99461a"/>
    <p:sldId xmlns:r="http://schemas.openxmlformats.org/officeDocument/2006/relationships" id="267" r:id="R42c9ef64f2a8440a"/>
    <p:sldId xmlns:r="http://schemas.openxmlformats.org/officeDocument/2006/relationships" id="268" r:id="R8ebb1f77f0684e71"/>
    <p:sldId xmlns:r="http://schemas.openxmlformats.org/officeDocument/2006/relationships" id="269" r:id="Re17742c37c844985"/>
    <p:sldId xmlns:r="http://schemas.openxmlformats.org/officeDocument/2006/relationships" id="270" r:id="Rc67e752abc074bf0"/>
    <p:sldId xmlns:r="http://schemas.openxmlformats.org/officeDocument/2006/relationships" id="271" r:id="R3de6d157ec7c42fc"/>
    <p:sldId xmlns:r="http://schemas.openxmlformats.org/officeDocument/2006/relationships" id="272" r:id="R8fc761fb24604682"/>
    <p:sldId xmlns:r="http://schemas.openxmlformats.org/officeDocument/2006/relationships" id="273" r:id="R54aa2cf0563e44dd"/>
    <p:sldId xmlns:r="http://schemas.openxmlformats.org/officeDocument/2006/relationships" id="274" r:id="R99c2677027f14662"/>
    <p:sldId xmlns:r="http://schemas.openxmlformats.org/officeDocument/2006/relationships" id="275" r:id="Re8c5e340d99f43d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32a61f5b9c4e5f" /><Relationship Type="http://schemas.openxmlformats.org/officeDocument/2006/relationships/slideMaster" Target="/ppt/slideMasters/slideMaster1.xml" Id="R51301ae4c2114438" /><Relationship Type="http://schemas.openxmlformats.org/officeDocument/2006/relationships/notesMaster" Target="/ppt/notesMasters/notesMaster1.xml" Id="R002c24d825664d11" /><Relationship Type="http://schemas.openxmlformats.org/officeDocument/2006/relationships/presProps" Target="/ppt/presProps.xml" Id="R424bdf268c124e45" /><Relationship Type="http://schemas.openxmlformats.org/officeDocument/2006/relationships/viewProps" Target="/ppt/viewProps.xml" Id="R241b7536cbff48a8" /><Relationship Type="http://schemas.openxmlformats.org/officeDocument/2006/relationships/tableStyles" Target="/ppt/tableStyles.xml" Id="Rd3da9e27876f485b" /><Relationship Type="http://schemas.openxmlformats.org/officeDocument/2006/relationships/slide" Target="/ppt/slides/slide1.xml" Id="R21133257d54b4a4c" /><Relationship Type="http://schemas.openxmlformats.org/officeDocument/2006/relationships/slide" Target="/ppt/slides/slide2.xml" Id="R7167127d38d84f3b" /><Relationship Type="http://schemas.openxmlformats.org/officeDocument/2006/relationships/slide" Target="/ppt/slides/slide3.xml" Id="Rf5954b6c4bdb4325" /><Relationship Type="http://schemas.openxmlformats.org/officeDocument/2006/relationships/slide" Target="/ppt/slides/slide4.xml" Id="R3eac12502e584f59" /><Relationship Type="http://schemas.openxmlformats.org/officeDocument/2006/relationships/slide" Target="/ppt/slides/slide5.xml" Id="R8f5b88d1f5db4917" /><Relationship Type="http://schemas.openxmlformats.org/officeDocument/2006/relationships/slide" Target="/ppt/slides/slide6.xml" Id="R68e78ebd2cd74a04" /><Relationship Type="http://schemas.openxmlformats.org/officeDocument/2006/relationships/slide" Target="/ppt/slides/slide7.xml" Id="Rda24ca7ba0b94d29" /><Relationship Type="http://schemas.openxmlformats.org/officeDocument/2006/relationships/slide" Target="/ppt/slides/slide8.xml" Id="Rece0e94435784487" /><Relationship Type="http://schemas.openxmlformats.org/officeDocument/2006/relationships/slide" Target="/ppt/slides/slide9.xml" Id="R2ea0c758ca6d4d28" /><Relationship Type="http://schemas.openxmlformats.org/officeDocument/2006/relationships/slide" Target="/ppt/slides/slide10.xml" Id="Re14049ba25454332" /><Relationship Type="http://schemas.openxmlformats.org/officeDocument/2006/relationships/slide" Target="/ppt/slides/slide11.xml" Id="R2cf509a04e99461a" /><Relationship Type="http://schemas.openxmlformats.org/officeDocument/2006/relationships/slide" Target="/ppt/slides/slide12.xml" Id="R42c9ef64f2a8440a" /><Relationship Type="http://schemas.openxmlformats.org/officeDocument/2006/relationships/slide" Target="/ppt/slides/slide13.xml" Id="R8ebb1f77f0684e71" /><Relationship Type="http://schemas.openxmlformats.org/officeDocument/2006/relationships/slide" Target="/ppt/slides/slide14.xml" Id="Re17742c37c844985" /><Relationship Type="http://schemas.openxmlformats.org/officeDocument/2006/relationships/slide" Target="/ppt/slides/slide15.xml" Id="Rc67e752abc074bf0" /><Relationship Type="http://schemas.openxmlformats.org/officeDocument/2006/relationships/slide" Target="/ppt/slides/slide16.xml" Id="R3de6d157ec7c42fc" /><Relationship Type="http://schemas.openxmlformats.org/officeDocument/2006/relationships/slide" Target="/ppt/slides/slide17.xml" Id="R8fc761fb24604682" /><Relationship Type="http://schemas.openxmlformats.org/officeDocument/2006/relationships/slide" Target="/ppt/slides/slide18.xml" Id="R54aa2cf0563e44dd" /><Relationship Type="http://schemas.openxmlformats.org/officeDocument/2006/relationships/slide" Target="/ppt/slides/slide19.xml" Id="R99c2677027f14662" /><Relationship Type="http://schemas.openxmlformats.org/officeDocument/2006/relationships/slide" Target="/ppt/slides/slide20.xml" Id="Re8c5e340d99f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72d0097b5444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03c57a769c4b30" /><Relationship Type="http://schemas.openxmlformats.org/officeDocument/2006/relationships/notesMaster" Target="/ppt/notesMasters/notesMaster1.xml" Id="Rf7a1c814c95845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1826bef8794891" /><Relationship Type="http://schemas.openxmlformats.org/officeDocument/2006/relationships/notesMaster" Target="/ppt/notesMasters/notesMaster1.xml" Id="R21ab6a94a59d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771a2177974c90" /><Relationship Type="http://schemas.openxmlformats.org/officeDocument/2006/relationships/notesMaster" Target="/ppt/notesMasters/notesMaster1.xml" Id="R924c26a40f0f47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3ecd6a663d4af4" /><Relationship Type="http://schemas.openxmlformats.org/officeDocument/2006/relationships/notesMaster" Target="/ppt/notesMasters/notesMaster1.xml" Id="R0e1f64ec5f19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923cd434e04f90" /><Relationship Type="http://schemas.openxmlformats.org/officeDocument/2006/relationships/notesMaster" Target="/ppt/notesMasters/notesMaster1.xml" Id="Ra242dfe17add46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8f0967494342a0" /><Relationship Type="http://schemas.openxmlformats.org/officeDocument/2006/relationships/notesMaster" Target="/ppt/notesMasters/notesMaster1.xml" Id="R40f49cd01558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154de6655436e" /><Relationship Type="http://schemas.openxmlformats.org/officeDocument/2006/relationships/notesMaster" Target="/ppt/notesMasters/notesMaster1.xml" Id="Rb48064d2f0774c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458f1e30d4f6e" /><Relationship Type="http://schemas.openxmlformats.org/officeDocument/2006/relationships/notesMaster" Target="/ppt/notesMasters/notesMaster1.xml" Id="Rbb805cd52cfe4d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1bbf0ac92a4c2a" /><Relationship Type="http://schemas.openxmlformats.org/officeDocument/2006/relationships/notesMaster" Target="/ppt/notesMasters/notesMaster1.xml" Id="Rc72a092f69414d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da576fbd5e4556" /><Relationship Type="http://schemas.openxmlformats.org/officeDocument/2006/relationships/notesMaster" Target="/ppt/notesMasters/notesMaster1.xml" Id="R6ebe7e094eb243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407f696c154dd4" /><Relationship Type="http://schemas.openxmlformats.org/officeDocument/2006/relationships/notesMaster" Target="/ppt/notesMasters/notesMaster1.xml" Id="Ra3499b9753ce49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ae81d5d9844254" /><Relationship Type="http://schemas.openxmlformats.org/officeDocument/2006/relationships/notesMaster" Target="/ppt/notesMasters/notesMaster1.xml" Id="Rea41c3b7adcc4c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e22f42d750414c" /><Relationship Type="http://schemas.openxmlformats.org/officeDocument/2006/relationships/notesMaster" Target="/ppt/notesMasters/notesMaster1.xml" Id="Rad623f3cb33542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d00b57d6114ae8" /><Relationship Type="http://schemas.openxmlformats.org/officeDocument/2006/relationships/notesMaster" Target="/ppt/notesMasters/notesMaster1.xml" Id="R0a64c2abd9a446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6c531482d44623" /><Relationship Type="http://schemas.openxmlformats.org/officeDocument/2006/relationships/notesMaster" Target="/ppt/notesMasters/notesMaster1.xml" Id="R963c9968d5ac43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0f5fe7572941a3" /><Relationship Type="http://schemas.openxmlformats.org/officeDocument/2006/relationships/notesMaster" Target="/ppt/notesMasters/notesMaster1.xml" Id="R65e4decc101d42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888345065e4e0b" /><Relationship Type="http://schemas.openxmlformats.org/officeDocument/2006/relationships/notesMaster" Target="/ppt/notesMasters/notesMaster1.xml" Id="R78b41b3acc514d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a058c787574f0a" /><Relationship Type="http://schemas.openxmlformats.org/officeDocument/2006/relationships/notesMaster" Target="/ppt/notesMasters/notesMaster1.xml" Id="Ra611b837a29541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b100e9c8d041e1" /><Relationship Type="http://schemas.openxmlformats.org/officeDocument/2006/relationships/notesMaster" Target="/ppt/notesMasters/notesMaster1.xml" Id="R9a16246a5a5c48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b8c3b379864c7f" /><Relationship Type="http://schemas.openxmlformats.org/officeDocument/2006/relationships/notesMaster" Target="/ppt/notesMasters/notesMaster1.xml" Id="R1ae1c8dbcb564f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本簡報整理目前已確認的問題定義、符號、限制式與演算法流程。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報告時先強調：目前模型採中央端逐包規劃，並使用 aggregate quota；它尚未等同於實際 transmission calendar。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Takeaway：先把模型界線說清楚，再討論演算法與後續擴充。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來源：docs/formal_problem_algorithm_definition_v01.md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左側是現行演算法真正處理的條件；右側是後續研究方向。</a:t>
            </a:r>
          </a:p>
          <a:p xmlns:a="http://schemas.openxmlformats.org/drawingml/2006/main">
            <a:r>
              <a:t>Aggregate quota 只限制累積資料量，不能保證兩個已接受傳輸在時間上不重疊。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Takeaway：報告時要明講模型邊界，避免 external validity 與 correctness 被質疑。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3、14、15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中央規劃器取得 contact plan、目前剩餘 quota 與 buffer 預約狀態。每個 bundle 分開搜尋；先接受的 bundle 先預約資源。</a:t>
            </a:r>
          </a:p>
          <a:p xmlns:a="http://schemas.openxmlformats.org/drawingml/2006/main">
            <a:r>
              <a:t>節點不需要保存全網完整狀態，只需執行與自己相關的局部轉送安排。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Takeaway：路由計算與實際 store-and-forward 執行是兩個階段。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3.1、12.2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完整到達代表最後一個 byte 抵達目的地。由於 bundle 不可分割，每個 contact 都必須能承載整包，且下一跳要等上一跳完整接收後才能開始。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Takeaway：問題的核心是時間相依且有多種資源限制的 earliest-arrival path。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2、8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這五類資料的角色不同。Contact plan 是已知網路時程；R 與 O 是查詢開始前的資源快照；bundle 參數描述這次請求；Δ 與 T 限制搜尋空間。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Takeaway：R 與 O 不是 label 內的狀態，而是本次 query 共用的固定輸入。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4、16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本研究將 contact window 解釋為發送端可用的時間區間。因此檢查的是最後一個 byte 離開發送端的時間 f 不超過 ω_c；接收端完整到達 a 可以晚於 ω_c。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Takeaway：contact 的六個欄位共同決定可否起送與單跳到達時間。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4.1、6、7.3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R_c 是累積資料量限制。O_v(t) 才是依時間變動的 buffer 預約函數。現行模型還沒有保存 contact 上已接受傳輸的時間區間集合。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Takeaway：quota 足夠只代表總量可容納，不代表物理鏈路排程可行。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3.4、4.2、4.3、15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有限格點讓候選起送時間可列舉並保證演算法終止。代價是可能錯過位於兩個格點之間的連續時間可行解。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Takeaway：Δ 是 correctness claim 的一部分，不只是程式設定。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4.4、4.5、5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輸出不只是一串節點或 contacts，還必須包含每一跳實際起送時間。當無格點可行解時回傳 NO_ROUTE_ON_GRID。</a:t>
            </a:r>
          </a:p>
          <a:p xmlns:a="http://schemas.openxmlformats.org/drawingml/2006/main">
            <a:r>
              <a:t>目前沒有 secondary cost、energy、hop count 或 fairness objective。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Takeaway：同一條 contact sequence 可能因起送時間不同而有不同可行性。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5、8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 是開始發送；f 是最後一個 byte 離開發送端；h 是第一個 byte 抵達接收端；a' 是最後一個 byte 抵達接收端。</a:t>
            </a:r>
          </a:p>
          <a:p xmlns:a="http://schemas.openxmlformats.org/drawingml/2006/main">
            <a:r>
              <a:t>若 δ 大於傳輸時間，h 可能晚於 f，公式仍然成立。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Takeaway：下一跳必須等到 a'，不能只等第一個 byte 或傳送完成時間 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6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這六類限制合起來才定義可行路徑。Quota 與 buffer 是不同資源；window 管發送端可用時間；store-and-forward 管下一跳的先後順序。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Takeaway：不能只檢查 contact 容量足夠就判定可走。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7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發送端從完整接收時間 a 到起送時間 s 需保存整包；發送期間逐 byte 釋放。接收端從 h 開始逐 byte 增加，至 a' 收滿整包。</a:t>
            </a:r>
          </a:p>
          <a:p xmlns:a="http://schemas.openxmlformats.org/drawingml/2006/main">
            <a:r>
              <a:t>目前事件約定是在同一事件時間先檢查生成後或交付前峰值，再釋放。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Takeaway：buffer 可行性不是單一常數檢查，而是整段時間的占用曲線檢查。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7.6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例子表示：此候選路徑在時間 8 完整到達 B，目前前綴在 c4 使用 4 MB。未列出的 contacts 用量為 0。</a:t>
            </a:r>
          </a:p>
          <a:p xmlns:a="http://schemas.openxmlformats.org/drawingml/2006/main">
            <a:r>
              <a:t>每個 label 還保存 pred、incoming_contact 與 transmission_start 供路徑重建，但它們不參與 dominance。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Takeaway：label 只保存影響未來延伸可行性的核心狀態。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9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若路徑被限制為 simple path，U 可能簡化；但現行定義沒有先假設所有候選都不會重複 contact。U 也用於比較兩個 labels 在每一個 contact 上誰使用得較少。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Takeaway：U 是目前 aggregate quota 模型下的資源狀態，不是為了顯示路徑本身。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9、10、11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對每個從 u 出發的 contact，演算法建立有限候選起送集合 S_c(L)，並按時間由小到大嘗試。每個候選都重新計算完整單跳時間，再檢查 quota 與 buffer 曲線。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Takeaway：不是列舉所有完整路徑；演算法逐步列舉單跳可用的起送時間。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10、12.1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只能比較同一次 query、同一個 R/O 狀態且到達同一節點的 labels。只看 a 會忽略等待期間 buffer 是否足夠；只看 a 與 U 也不夠，因此加入可等待條件。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Takeaway：dominance 的目的不是宣稱兩條路徑相同，而是證明較差 label 的所有未來延伸都能被另一個模擬。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11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 中可保留多個同節點 labels，只要彼此未被 dominance 刪除。被標為 inactive 的 stale label 從 Q 取出時直接跳過。</a:t>
            </a:r>
          </a:p>
          <a:p xmlns:a="http://schemas.openxmlformats.org/drawingml/2006/main">
            <a:r>
              <a:t>目的地 label 被產生時，Q 中可能仍有更早的 label 可延伸出更佳解，因此要等它成為最小 active label 再終止。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Takeaway：這是 Label Setting 得到最早完整到達解的關鍵終止條件。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12.1、13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流程細節：初始化先檢查 O_o(g)+S≤M_o。每次延伸建立 N 後，先判斷是否被 active same-node label 支配；若沒有，再停用被 N 支配的 labels，最後把 N 放入 Q。</a:t>
            </a:r>
          </a:p>
          <a:p xmlns:a="http://schemas.openxmlformats.org/drawingml/2006/main">
            <a:r>
              <a:t>Q 清空代表在目前格點模型中無路徑。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Takeaway：演算法的正確性依賴 extension、dominance 與終止規則三者一致。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12.1、13、14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每個 bundle query 開始前先固定 R 與 O。搜尋成功後必須獨立驗證完整路徑，再更新資源；若驗證失敗，保留案例並停止後續比較。</a:t>
            </a:r>
          </a:p>
          <a:p xmlns:a="http://schemas.openxmlformats.org/drawingml/2006/main">
            <a:r>
              <a:t>目前方法不是多 commodity flow 的聯合最佳化，也沒有公平性保證。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Takeaway：這是一個中央式 sequential reservation heuristic。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12.2 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這個反例顯示：只扣 aggregate quota，可能讓兩個 bundle 同時使用相同 contact，超過物理速率。</a:t>
            </a:r>
          </a:p>
          <a:p xmlns:a="http://schemas.openxmlformats.org/drawingml/2006/main">
            <a:r>
              <a:t>因此現行演算法只能主張 aggregate-quota 模型內的格點最早到達；不能宣稱已產生完整可執行的鏈路排程。</a:t>
            </a:r>
          </a:p>
          <a:p xmlns:a="http://schemas.openxmlformats.org/drawingml/2006/main">
            <a:r>
              <a:t>未經確認不要直接改演算法；下一步先討論 Ω_c 的精確定義、是否屬於全域狀態，以及 dominance 是否要擴充。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Takeaway：目前最合理的研究路線是保留現行版本作 baseline，再加入 transmission calendar 比較差異。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來源：formal_problem_algorithm_definition_v01.md 第 14、15 節；output/research_audit_v01/counterexample_sequential_overlap.json。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62e5143094a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8d2b5a6264e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aa384963240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16830a62742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8c37e534f4f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fedf8ed5941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f42cdf7f74d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c7ce587394b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727477c4a488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ffc16ae024c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0c09f46b148b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234ffc2724814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66E1080-B911-F070-2F0C-51393FECBE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rgbClr val="333399"/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CE7240-08F6-E41F-3B09-422144546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rgbClr val="3333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302F22-459F-49F9-591C-9103C8F0AA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17:39:08</a:t>
            </a:fld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E7B61759-798E-74A6-CF38-2CD6F5F6A9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17:39:08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7BE650C-6AEC-4842-173E-34883954C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5C53C19-0010-8E3A-5F6C-0E52200E4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22D735D5-F573-96C1-6A37-C8A8E878FA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3667B291-5DFE-AB13-BAFD-039CFAEC7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369179-AF01-E0F8-CEA7-53DBE992B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60F7C7-86AB-3D07-3E5F-84C38545B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0C6ECBC-51FE-A87F-BB3B-7783779693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0BAAAEF-26A1-4B36-D1CC-7C5285BF8F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335D98CF-26F1-ED94-14B0-776FBEC10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46A78645-F85B-E08B-6B10-4A1F25AA12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D73EDE38-CF96-6325-57CA-5104F8BC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535AE0-1F73-2218-3F48-F90E7A0D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F5D1C1-E507-717A-83FD-170E8CDF2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BDB5E51-BA76-D984-6CF7-457B12EBBB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A62859B0-AADC-331E-81FF-D63D138B75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C7CAAE9-6E6F-BC8A-DD8E-2586FBE2C5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D29717C-3502-FF62-1DC4-2D7B480B1A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17:39:08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26392BDA-58FF-56F3-D3A7-FC1D07F05A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9A042C3B-D61C-25E5-371E-06FFE9BBF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5C22D7A-92D4-1935-AD80-9CC2122DD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0FBA9357-6002-22D8-E597-501FC32EB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80385F7F-B426-68A2-F2E5-7C7107AE96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98475024-DA13-8248-092F-2E98FA78C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C98E7BDB-9F66-A495-00C5-22CE8F53E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17:39:08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F23FBC0-403D-6065-4000-38C87E0030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A023080-6F1A-733B-4E3A-246C5AEF7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CE8BFAC-6965-EA0D-65D3-C14E337B23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6CC5CC7-DE97-AFBB-DB02-B6760EF1C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33D23EB-CC94-C058-5899-EDD401965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C625722C-CE3C-479B-511E-37F48F7EE01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按一下圖示以新增圖片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AC3718D-1BF4-5608-DECD-8657403EF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0108B413-34A3-DC3E-003F-2340947AF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ADD61D-AAB3-4D9A-B816-51AAA157F42C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831EB0E-79BC-017A-95E5-7ED79674B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7777203-CCB6-F593-C336-7BDD55E6B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0D406B-1904-4585-B3F9-CAFFB5459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3293919-4FE9-1DBC-6418-4E012A840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911DB0E-498F-6625-C075-4703CA6A7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B886582-1262-7079-D54E-2531C8634B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26DCCFE-74D0-866F-481C-B8F5837BF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34A7F169-2D8E-5024-503E-5C4E09856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E4653BD-9083-BE2C-0024-2DA0E2201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275522-97C1-6990-ABAE-6CF4B3A4C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C9A7DCE3-75B3-BF87-B3FA-08B7AC651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1E5AC06-EED6-B092-E12A-348AB765F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81497E1-22B0-5D7C-0B36-45CF206CF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A1CB436B-5992-E711-86E5-067D987AE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A9459D-13A6-4E2A-88E8-E5094C8AD3DE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E1297F33-4494-98C0-A764-E14CA02D3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F5D71FB-20C1-0443-5F61-8955B8596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8d9aa1ea6a14cad" /><Relationship Type="http://schemas.openxmlformats.org/officeDocument/2006/relationships/image" Target="/ppt/media/image2.png" Id="R4b973ac64a80416a" /><Relationship Type="http://schemas.openxmlformats.org/officeDocument/2006/relationships/theme" Target="/ppt/slideMasters/theme/theme2.xml" Id="Ra527526d95374522" /><Relationship Type="http://schemas.openxmlformats.org/officeDocument/2006/relationships/slideLayout" Target="/ppt/slideLayouts/slideLayout1.xml" Id="R332729bc91db4a3a" /><Relationship Type="http://schemas.openxmlformats.org/officeDocument/2006/relationships/slideLayout" Target="/ppt/slideLayouts/slideLayout2.xml" Id="R7ab967f94a3c4809" /><Relationship Type="http://schemas.openxmlformats.org/officeDocument/2006/relationships/slideLayout" Target="/ppt/slideLayouts/slideLayout3.xml" Id="Ra8c25e69eef14a12" /><Relationship Type="http://schemas.openxmlformats.org/officeDocument/2006/relationships/slideLayout" Target="/ppt/slideLayouts/slideLayout4.xml" Id="R684797b544a24f21" /><Relationship Type="http://schemas.openxmlformats.org/officeDocument/2006/relationships/slideLayout" Target="/ppt/slideLayouts/slideLayout5.xml" Id="Rd3bffa3d311d4dbf" /><Relationship Type="http://schemas.openxmlformats.org/officeDocument/2006/relationships/slideLayout" Target="/ppt/slideLayouts/slideLayout6.xml" Id="Rfaf86e208b8f4ff0" /><Relationship Type="http://schemas.openxmlformats.org/officeDocument/2006/relationships/slideLayout" Target="/ppt/slideLayouts/slideLayout7.xml" Id="Rabb41e99bfff4dfc" /><Relationship Type="http://schemas.openxmlformats.org/officeDocument/2006/relationships/slideLayout" Target="/ppt/slideLayouts/slideLayout8.xml" Id="R1ea28279a71f41d7" /><Relationship Type="http://schemas.openxmlformats.org/officeDocument/2006/relationships/slideLayout" Target="/ppt/slideLayouts/slideLayout9.xml" Id="R0ba09fc5a9fb4f1f" /><Relationship Type="http://schemas.openxmlformats.org/officeDocument/2006/relationships/slideLayout" Target="/ppt/slideLayouts/slideLayout10.xml" Id="Ra28096a70c204f16" /><Relationship Type="http://schemas.openxmlformats.org/officeDocument/2006/relationships/slideLayout" Target="/ppt/slideLayouts/slideLayout11.xml" Id="Rf61a7a6d5439467c" /><Relationship Type="http://schemas.openxmlformats.org/officeDocument/2006/relationships/slideLayout" Target="/ppt/slideLayouts/slideLayout12.xml" Id="Rfd9a8eb158084b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A6C2547-9B75-3E88-5EB4-35AE5586E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90AFDF-0DCB-B68A-C005-02AD3B39D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56760C-4C82-E0BD-DE79-8512001904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17:39:08</a:t>
            </a:fld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446B4982-92FF-F7AA-E878-A5AE013833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039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pic>
        <p:nvPicPr>
          <p:cNvPr id="13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9aa1ea6a14c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2194" y="5994416"/>
            <a:ext cx="2434312" cy="870943"/>
          </a:xfrm>
          <a:prstGeom xmlns:a="http://schemas.openxmlformats.org/drawingml/2006/main" prst="rect">
            <a:avLst/>
          </a:prstGeom>
        </p:spPr>
      </p:pic>
      <p:pic>
        <p:nvPicPr>
          <p:cNvPr id="1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73ac64a8041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06" y="6040875"/>
            <a:ext cx="755570" cy="71464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2729bc91db4a3a"/>
    <p:sldLayoutId xmlns:r="http://schemas.openxmlformats.org/officeDocument/2006/relationships" id="2147483650" r:id="R7ab967f94a3c4809"/>
    <p:sldLayoutId xmlns:r="http://schemas.openxmlformats.org/officeDocument/2006/relationships" id="2147483651" r:id="Ra8c25e69eef14a12"/>
    <p:sldLayoutId xmlns:r="http://schemas.openxmlformats.org/officeDocument/2006/relationships" id="2147483652" r:id="R684797b544a24f21"/>
    <p:sldLayoutId xmlns:r="http://schemas.openxmlformats.org/officeDocument/2006/relationships" id="2147483653" r:id="Rd3bffa3d311d4dbf"/>
    <p:sldLayoutId xmlns:r="http://schemas.openxmlformats.org/officeDocument/2006/relationships" id="2147483654" r:id="Rfaf86e208b8f4ff0"/>
    <p:sldLayoutId xmlns:r="http://schemas.openxmlformats.org/officeDocument/2006/relationships" id="2147483655" r:id="Rabb41e99bfff4dfc"/>
    <p:sldLayoutId xmlns:r="http://schemas.openxmlformats.org/officeDocument/2006/relationships" id="2147483656" r:id="R1ea28279a71f41d7"/>
    <p:sldLayoutId xmlns:r="http://schemas.openxmlformats.org/officeDocument/2006/relationships" id="2147483657" r:id="R0ba09fc5a9fb4f1f"/>
    <p:sldLayoutId xmlns:r="http://schemas.openxmlformats.org/officeDocument/2006/relationships" id="2147483658" r:id="Ra28096a70c204f16"/>
    <p:sldLayoutId xmlns:r="http://schemas.openxmlformats.org/officeDocument/2006/relationships" id="2147483659" r:id="Rf61a7a6d5439467c"/>
    <p:sldLayoutId xmlns:r="http://schemas.openxmlformats.org/officeDocument/2006/relationships" id="2147483660" r:id="Rfd9a8eb158084b9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505b0fb654d20" /><Relationship Type="http://schemas.openxmlformats.org/officeDocument/2006/relationships/notesSlide" Target="/ppt/notesSlides/notesSlide1.xml" Id="R5cb8af1147ff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16db60d5ed4288" /><Relationship Type="http://schemas.openxmlformats.org/officeDocument/2006/relationships/notesSlide" Target="/ppt/notesSlides/notesSlide2.xml" Id="R95193d4f88fe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92c0881a33457b" /><Relationship Type="http://schemas.openxmlformats.org/officeDocument/2006/relationships/notesSlide" Target="/ppt/notesSlides/notesSlide3.xml" Id="R81633431f80b48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6b9d1064d84992" /><Relationship Type="http://schemas.openxmlformats.org/officeDocument/2006/relationships/notesSlide" Target="/ppt/notesSlides/notesSlide4.xml" Id="R2fb91d6f40be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03d0d61985458e" /><Relationship Type="http://schemas.openxmlformats.org/officeDocument/2006/relationships/notesSlide" Target="/ppt/notesSlides/notesSlide5.xml" Id="Rfec93242bab5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3a1b744a134fc8" /><Relationship Type="http://schemas.openxmlformats.org/officeDocument/2006/relationships/notesSlide" Target="/ppt/notesSlides/notesSlide6.xml" Id="Ra5e1a82cd478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8627e4ff564292" /><Relationship Type="http://schemas.openxmlformats.org/officeDocument/2006/relationships/notesSlide" Target="/ppt/notesSlides/notesSlide7.xml" Id="Ra21d986d6c8344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599427663743ac" /><Relationship Type="http://schemas.openxmlformats.org/officeDocument/2006/relationships/notesSlide" Target="/ppt/notesSlides/notesSlide8.xml" Id="R16269ea6bec843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eb9fc862584969" /><Relationship Type="http://schemas.openxmlformats.org/officeDocument/2006/relationships/notesSlide" Target="/ppt/notesSlides/notesSlide9.xml" Id="Ra0c06600388048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2ee5874c7a4206" /><Relationship Type="http://schemas.openxmlformats.org/officeDocument/2006/relationships/notesSlide" Target="/ppt/notesSlides/notesSlide10.xml" Id="R3669ac2a70cc42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880bf15f0b4f2e" /><Relationship Type="http://schemas.openxmlformats.org/officeDocument/2006/relationships/notesSlide" Target="/ppt/notesSlides/notesSlide11.xml" Id="R5d5e7f2e8cb443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a1700ac91e48bb" /><Relationship Type="http://schemas.openxmlformats.org/officeDocument/2006/relationships/notesSlide" Target="/ppt/notesSlides/notesSlide12.xml" Id="Ra6e1235f2d2744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472ca75cb34097" /><Relationship Type="http://schemas.openxmlformats.org/officeDocument/2006/relationships/notesSlide" Target="/ppt/notesSlides/notesSlide13.xml" Id="R87fc1293ecf042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f3047a503f4852" /><Relationship Type="http://schemas.openxmlformats.org/officeDocument/2006/relationships/notesSlide" Target="/ppt/notesSlides/notesSlide14.xml" Id="Rd30e8eabcfce43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e91e310cc24e36" /><Relationship Type="http://schemas.openxmlformats.org/officeDocument/2006/relationships/notesSlide" Target="/ppt/notesSlides/notesSlide15.xml" Id="Re5ec9269c55d49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7e09aef3ef42ba" /><Relationship Type="http://schemas.openxmlformats.org/officeDocument/2006/relationships/notesSlide" Target="/ppt/notesSlides/notesSlide16.xml" Id="R56bcbc745ddb4c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884c7c18744c81" /><Relationship Type="http://schemas.openxmlformats.org/officeDocument/2006/relationships/notesSlide" Target="/ppt/notesSlides/notesSlide17.xml" Id="Rab55724ed4514b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f5f7e882974d97" /><Relationship Type="http://schemas.openxmlformats.org/officeDocument/2006/relationships/notesSlide" Target="/ppt/notesSlides/notesSlide18.xml" Id="Rd85feb9a34914c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96c8ed58ba4ddd" /><Relationship Type="http://schemas.openxmlformats.org/officeDocument/2006/relationships/notesSlide" Target="/ppt/notesSlides/notesSlide19.xml" Id="R8bf047d0c62d4d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ad7bd0dc14439b" /><Relationship Type="http://schemas.openxmlformats.org/officeDocument/2006/relationships/notesSlide" Target="/ppt/notesSlides/notesSlide20.xml" Id="R27bb3c1e758240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1</a:t>
            </a:fld>
            <a:endParaRPr/>
          </a:p>
        </p:txBody>
      </p:sp>
      <p:sp>
        <p:nvSpPr>
          <p:cNvPr id="6" name="標題 5">
            <a:extLst xmlns:a="http://schemas.openxmlformats.org/drawingml/2006/main">
              <a:ext uri="{FF2B5EF4-FFF2-40B4-BE49-F238E27FC236}">
                <a16:creationId xmlns:a16="http://schemas.microsoft.com/office/drawing/2014/main" id="{9045F329-665A-450F-9B6D-F31CD1D6381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副標題 7">
            <a:extLst xmlns:a="http://schemas.openxmlformats.org/drawingml/2006/main">
              <a:ext uri="{FF2B5EF4-FFF2-40B4-BE49-F238E27FC236}">
                <a16:creationId xmlns:a16="http://schemas.microsoft.com/office/drawing/2014/main" id="{D44C478F-2D0E-49DC-BA0B-D5F20A08CB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-dhmkqmu">
            <a:extLst xmlns:a="http://schemas.openxmlformats.org/drawingml/2006/main">
              <a:ext uri="{FF2B5EF4-FFF2-40B4-BE49-F238E27FC236}">
                <a16:creationId xmlns:a16="http://schemas.microsoft.com/office/drawing/2014/main" id="{59998020-ADD5-4E88-8E16-7E789BAB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52550"/>
            <a:ext cx="8382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Space DTN 不可分割 Bundle</a:t>
            </a:r>
          </a:p>
          <a:p xmlns:a="http://schemas.openxmlformats.org/drawingml/2006/main">
            <a:pPr algn="l">
              <a:defRPr sz="36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資源受限最早到達路由</a:t>
            </a:r>
          </a:p>
        </p:txBody>
      </p:sp>
      <p:sp>
        <p:nvSpPr>
          <p:cNvPr id="10" name="text-41lt1hn">
            <a:extLst xmlns:a="http://schemas.openxmlformats.org/drawingml/2006/main">
              <a:ext uri="{FF2B5EF4-FFF2-40B4-BE49-F238E27FC236}">
                <a16:creationId xmlns:a16="http://schemas.microsoft.com/office/drawing/2014/main" id="{4A2754DF-2F41-462C-B5F6-F6CDC442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325" b="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問題定義、參數與 Label Setting 演算法</a:t>
            </a:r>
          </a:p>
        </p:txBody>
      </p:sp>
      <p:sp>
        <p:nvSpPr>
          <p:cNvPr id="11" name="text-swbwe3v">
            <a:extLst xmlns:a="http://schemas.openxmlformats.org/drawingml/2006/main">
              <a:ext uri="{FF2B5EF4-FFF2-40B4-BE49-F238E27FC236}">
                <a16:creationId xmlns:a16="http://schemas.microsoft.com/office/drawing/2014/main" id="{8479BED4-044B-4C0C-9C47-CF35E2AD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現行版本：有限時間格點＋aggregate quota＋逐 byte buffer</a:t>
            </a:r>
          </a:p>
        </p:txBody>
      </p:sp>
      <p:sp>
        <p:nvSpPr>
          <p:cNvPr id="12" name="text-k8xqdqj">
            <a:extLst xmlns:a="http://schemas.openxmlformats.org/drawingml/2006/main">
              <a:ext uri="{FF2B5EF4-FFF2-40B4-BE49-F238E27FC236}">
                <a16:creationId xmlns:a16="http://schemas.microsoft.com/office/drawing/2014/main" id="{BFFF2504-3F39-4DE2-BC86-637D287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碩士論文研究簡報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目前版本解決什麼？">
            <a:extLst xmlns:a="http://schemas.openxmlformats.org/drawingml/2006/main">
              <a:ext uri="{FF2B5EF4-FFF2-40B4-BE49-F238E27FC236}">
                <a16:creationId xmlns:a16="http://schemas.microsoft.com/office/drawing/2014/main" id="{B3B55A52-4E18-42D9-8C15-C0A36417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目前版本解決什麼？</a:t>
            </a:r>
          </a:p>
        </p:txBody>
      </p:sp>
      <p:sp>
        <p:nvSpPr>
          <p:cNvPr id="2" name="text-xfpxm9k">
            <a:extLst xmlns:a="http://schemas.openxmlformats.org/drawingml/2006/main">
              <a:ext uri="{FF2B5EF4-FFF2-40B4-BE49-F238E27FC236}">
                <a16:creationId xmlns:a16="http://schemas.microsoft.com/office/drawing/2014/main" id="{D9F556A8-094D-4272-9872-6E909E1E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先固定研究 claim，避免把尚未完成的能力算進成果</a:t>
            </a:r>
          </a:p>
        </p:txBody>
      </p:sp>
      <p:sp>
        <p:nvSpPr>
          <p:cNvPr id="3" name="box-scnx32o">
            <a:extLst xmlns:a="http://schemas.openxmlformats.org/drawingml/2006/main">
              <a:ext uri="{FF2B5EF4-FFF2-40B4-BE49-F238E27FC236}">
                <a16:creationId xmlns:a16="http://schemas.microsoft.com/office/drawing/2014/main" id="{912DC976-9091-49F4-8563-B8CC15B2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4476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2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已納入</a:t>
            </a:r>
          </a:p>
        </p:txBody>
      </p:sp>
      <p:sp>
        <p:nvSpPr>
          <p:cNvPr id="4" name="text-ilqspjf">
            <a:extLst xmlns:a="http://schemas.openxmlformats.org/drawingml/2006/main">
              <a:ext uri="{FF2B5EF4-FFF2-40B4-BE49-F238E27FC236}">
                <a16:creationId xmlns:a16="http://schemas.microsoft.com/office/drawing/2014/main" id="{B70662A3-A3D3-444E-9D8B-BDE1D24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4572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中央端依序處理單一 bundle query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Bundle 不可分割，大小不可忽略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每跳含 transmission delay 與 propagation delay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Contact aggregate quota 與節點 buffer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• 有限時間格點上的 earliest arrival</a:t>
            </a:r>
          </a:p>
        </p:txBody>
      </p:sp>
      <p:sp>
        <p:nvSpPr>
          <p:cNvPr id="5" name="box-hxy2myc">
            <a:extLst xmlns:a="http://schemas.openxmlformats.org/drawingml/2006/main">
              <a:ext uri="{FF2B5EF4-FFF2-40B4-BE49-F238E27FC236}">
                <a16:creationId xmlns:a16="http://schemas.microsoft.com/office/drawing/2014/main" id="{E48BC827-D9A2-44ED-B654-58DE1691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476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25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尚未納入</a:t>
            </a:r>
          </a:p>
        </p:txBody>
      </p:sp>
      <p:sp>
        <p:nvSpPr>
          <p:cNvPr id="6" name="text-m14j0ju">
            <a:extLst xmlns:a="http://schemas.openxmlformats.org/drawingml/2006/main">
              <a:ext uri="{FF2B5EF4-FFF2-40B4-BE49-F238E27FC236}">
                <a16:creationId xmlns:a16="http://schemas.microsoft.com/office/drawing/2014/main" id="{6FB7E4AF-69AC-454A-A09D-D47E3AE0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4381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• Transmission calendar 的區間互斥</a:t>
            </a:r>
          </a:p>
          <a:p xmlns:a="http://schemas.openxmlformats.org/drawingml/2006/main">
            <a:pPr algn="l">
              <a:defRPr sz="20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• 連續時間的完整搜尋</a:t>
            </a:r>
          </a:p>
          <a:p xmlns:a="http://schemas.openxmlformats.org/drawingml/2006/main">
            <a:pPr algn="l">
              <a:defRPr sz="20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• 多個 bundles 的聯合最佳化</a:t>
            </a:r>
          </a:p>
          <a:p xmlns:a="http://schemas.openxmlformats.org/drawingml/2006/main">
            <a:pPr algn="l">
              <a:defRPr sz="20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• 動態 contact 中斷與重規劃</a:t>
            </a:r>
          </a:p>
          <a:p xmlns:a="http://schemas.openxmlformats.org/drawingml/2006/main">
            <a:pPr algn="l">
              <a:defRPr sz="20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• 分散式資源同步與控制成本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6671D-DCC7-48AD-8E87-A631DFCC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8" name="text-lv64itr">
            <a:extLst xmlns:a="http://schemas.openxmlformats.org/drawingml/2006/main">
              <a:ext uri="{FF2B5EF4-FFF2-40B4-BE49-F238E27FC236}">
                <a16:creationId xmlns:a16="http://schemas.microsoft.com/office/drawing/2014/main" id="{DA3E44B0-B2E0-4F2C-B46E-57198DB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本頁重點：目前正確性主張只適用於左側模型。 </a:t>
            </a:r>
          </a:p>
        </p:txBody>
      </p:sp>
    </p:spTree>
    <p:extLst>
      <p:ext uri="{BB962C8B-B14F-4D97-AF65-F5344CB8AC3E}">
        <p14:creationId xmlns:p14="http://schemas.microsoft.com/office/powerpoint/2010/main" val="1927346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系統架構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F9CC7DD6-6EA2-43EC-97A8-BAE35F95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系統架構：中央規劃、節點執行</a:t>
            </a:r>
          </a:p>
        </p:txBody>
      </p:sp>
      <p:sp>
        <p:nvSpPr>
          <p:cNvPr id="2" name="box-32c9qr7">
            <a:extLst xmlns:a="http://schemas.openxmlformats.org/drawingml/2006/main">
              <a:ext uri="{FF2B5EF4-FFF2-40B4-BE49-F238E27FC236}">
                <a16:creationId xmlns:a16="http://schemas.microsoft.com/office/drawing/2014/main" id="{CBDF73E7-3BF9-48BB-B1DE-B5BFF04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ctr"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DE957-2C57-483F-8115-074E886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4" name="box-ty64edm">
            <a:extLst xmlns:a="http://schemas.openxmlformats.org/drawingml/2006/main">
              <a:ext uri="{FF2B5EF4-FFF2-40B4-BE49-F238E27FC236}">
                <a16:creationId xmlns:a16="http://schemas.microsoft.com/office/drawing/2014/main" id="{6CB88D09-612C-4909-AA9F-4F66677D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143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計算路徑與起送時間</a:t>
            </a:r>
          </a:p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維護 R_c 與 O_v(t)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D0422-076A-456D-96E8-A41F92F4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6" name="box-ns1ddk1">
            <a:extLst xmlns:a="http://schemas.openxmlformats.org/drawingml/2006/main">
              <a:ext uri="{FF2B5EF4-FFF2-40B4-BE49-F238E27FC236}">
                <a16:creationId xmlns:a16="http://schemas.microsoft.com/office/drawing/2014/main" id="{537381F7-8E74-4085-BA67-6A27F05F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85427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儲存 bundle</a:t>
            </a:r>
          </a:p>
          <a:p xmlns:a="http://schemas.openxmlformats.org/drawingml/2006/main">
            <a:pPr algn="ctr"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依下達排程轉送</a:t>
            </a:r>
          </a:p>
        </p:txBody>
      </p:sp>
      <p:sp>
        <p:nvSpPr>
          <p:cNvPr id="7" name="box-xak5l35">
            <a:extLst xmlns:a="http://schemas.openxmlformats.org/drawingml/2006/main">
              <a:ext uri="{FF2B5EF4-FFF2-40B4-BE49-F238E27FC236}">
                <a16:creationId xmlns:a16="http://schemas.microsoft.com/office/drawing/2014/main" id="{1240EF6D-B00D-4D07-89F2-18D43398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Bundle A 接受後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738C6-4047-4F8E-9301-56B6F83F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291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</p:sp>
      <p:sp>
        <p:nvSpPr>
          <p:cNvPr id="9" name="box-oqnycsz">
            <a:extLst xmlns:a="http://schemas.openxmlformats.org/drawingml/2006/main">
              <a:ext uri="{FF2B5EF4-FFF2-40B4-BE49-F238E27FC236}">
                <a16:creationId xmlns:a16="http://schemas.microsoft.com/office/drawing/2014/main" id="{6B1180DA-CC08-418E-9E8F-BF0A1E35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更新剩餘資源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BB969-5D1C-4569-BDBF-C9AB566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291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</p:sp>
      <p:sp>
        <p:nvSpPr>
          <p:cNvPr id="11" name="box-gvwvg7g">
            <a:extLst xmlns:a="http://schemas.openxmlformats.org/drawingml/2006/main">
              <a:ext uri="{FF2B5EF4-FFF2-40B4-BE49-F238E27FC236}">
                <a16:creationId xmlns:a16="http://schemas.microsoft.com/office/drawing/2014/main" id="{829F8CFF-E9D1-4182-9EED-5B1A19B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476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再處理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C9B85-3E61-467E-B5F3-5D354764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3" name="text-zg4cryf">
            <a:extLst xmlns:a="http://schemas.openxmlformats.org/drawingml/2006/main">
              <a:ext uri="{FF2B5EF4-FFF2-40B4-BE49-F238E27FC236}">
                <a16:creationId xmlns:a16="http://schemas.microsoft.com/office/drawing/2014/main" id="{EC8514F6-AFCB-4C47-A678-2079DBFC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本頁重點：全域動態狀態由中央端保存，節點只執行相關的傳送安排。 </a:t>
            </a:r>
          </a:p>
        </p:txBody>
      </p:sp>
    </p:spTree>
    <p:extLst>
      <p:ext uri="{BB962C8B-B14F-4D97-AF65-F5344CB8AC3E}">
        <p14:creationId xmlns:p14="http://schemas.microsoft.com/office/powerpoint/2010/main" val="1682412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一句話問題定義">
            <a:extLst xmlns:a="http://schemas.openxmlformats.org/drawingml/2006/main">
              <a:ext uri="{FF2B5EF4-FFF2-40B4-BE49-F238E27FC236}">
                <a16:creationId xmlns:a16="http://schemas.microsoft.com/office/drawing/2014/main" id="{14DEB9EB-0598-41E4-AA1F-95E08EAA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一句話問題定義</a:t>
            </a:r>
          </a:p>
        </p:txBody>
      </p:sp>
      <p:sp>
        <p:nvSpPr>
          <p:cNvPr id="2" name="box-7chtruu">
            <a:extLst xmlns:a="http://schemas.openxmlformats.org/drawingml/2006/main">
              <a:ext uri="{FF2B5EF4-FFF2-40B4-BE49-F238E27FC236}">
                <a16:creationId xmlns:a16="http://schemas.microsoft.com/office/drawing/2014/main" id="{9820E818-7EA2-40B3-B81D-F542002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已知</a:t>
            </a:r>
          </a:p>
        </p:txBody>
      </p:sp>
      <p:sp>
        <p:nvSpPr>
          <p:cNvPr id="3" name="text-m7vgxek">
            <a:extLst xmlns:a="http://schemas.openxmlformats.org/drawingml/2006/main">
              <a:ext uri="{FF2B5EF4-FFF2-40B4-BE49-F238E27FC236}">
                <a16:creationId xmlns:a16="http://schemas.microsoft.com/office/drawing/2014/main" id="{F89E0208-D258-47E4-9207-6468CB8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25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Contact plan、剩餘 aggregate quota、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25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節點 buffer 預約與一個不可分割 bundle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C714E-BE29-4FDC-994D-920E8BCA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11430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5" name="box-zg0f1s2">
            <a:extLst xmlns:a="http://schemas.openxmlformats.org/drawingml/2006/main">
              <a:ext uri="{FF2B5EF4-FFF2-40B4-BE49-F238E27FC236}">
                <a16:creationId xmlns:a16="http://schemas.microsoft.com/office/drawing/2014/main" id="{5DAA8D4E-7EF8-4DB2-9DF6-628C6BA7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4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尋找</a:t>
            </a:r>
          </a:p>
        </p:txBody>
      </p:sp>
      <p:sp>
        <p:nvSpPr>
          <p:cNvPr id="6" name="text-50e8jh5">
            <a:extLst xmlns:a="http://schemas.openxmlformats.org/drawingml/2006/main">
              <a:ext uri="{FF2B5EF4-FFF2-40B4-BE49-F238E27FC236}">
                <a16:creationId xmlns:a16="http://schemas.microsoft.com/office/drawing/2014/main" id="{962CE3F1-F187-4E35-9602-C772E4A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3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一條符合 contact 時窗、傳輸時間、quota 與 buffer 的路徑，</a:t>
            </a:r>
          </a:p>
          <a:p xmlns:a="http://schemas.openxmlformats.org/drawingml/2006/main">
            <a:pPr algn="l">
              <a:defRPr sz="23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3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使 bundle 最後一個 byte 抵達目的地的時間最早。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96535-AB62-4617-8E3A-96F878F2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8" name="text-57tr5ar">
            <a:extLst xmlns:a="http://schemas.openxmlformats.org/drawingml/2006/main">
              <a:ext uri="{FF2B5EF4-FFF2-40B4-BE49-F238E27FC236}">
                <a16:creationId xmlns:a16="http://schemas.microsoft.com/office/drawing/2014/main" id="{1E0899E1-F22B-4CE6-9CDD-0DFE1164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本頁重點：目標是最早完整到達，不是只找 hop 最少或 nominal delay 最小。 </a:t>
            </a:r>
          </a:p>
        </p:txBody>
      </p:sp>
    </p:spTree>
    <p:extLst>
      <p:ext uri="{BB962C8B-B14F-4D97-AF65-F5344CB8AC3E}">
        <p14:creationId xmlns:p14="http://schemas.microsoft.com/office/powerpoint/2010/main" val="104975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問題輸入分成五類">
            <a:extLst xmlns:a="http://schemas.openxmlformats.org/drawingml/2006/main">
              <a:ext uri="{FF2B5EF4-FFF2-40B4-BE49-F238E27FC236}">
                <a16:creationId xmlns:a16="http://schemas.microsoft.com/office/drawing/2014/main" id="{2194B681-2C9F-4452-85AC-3555D39A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問題輸入分成五類</a:t>
            </a:r>
          </a:p>
        </p:txBody>
      </p:sp>
      <p:sp>
        <p:nvSpPr>
          <p:cNvPr id="2" name="box-4uj1uqc">
            <a:extLst xmlns:a="http://schemas.openxmlformats.org/drawingml/2006/main">
              <a:ext uri="{FF2B5EF4-FFF2-40B4-BE49-F238E27FC236}">
                <a16:creationId xmlns:a16="http://schemas.microsoft.com/office/drawing/2014/main" id="{9AA96E5D-50B5-4B6E-B601-364CC65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857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網路拓樸</a:t>
            </a:r>
          </a:p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V、C</a:t>
            </a:r>
          </a:p>
        </p:txBody>
      </p:sp>
      <p:sp>
        <p:nvSpPr>
          <p:cNvPr id="3" name="box-iy0bbpr">
            <a:extLst xmlns:a="http://schemas.openxmlformats.org/drawingml/2006/main">
              <a:ext uri="{FF2B5EF4-FFF2-40B4-BE49-F238E27FC236}">
                <a16:creationId xmlns:a16="http://schemas.microsoft.com/office/drawing/2014/main" id="{7A2D642F-269D-4A00-A4B2-7A52BE72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857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86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Contact 參數</a:t>
            </a:r>
          </a:p>
          <a:p xmlns:a="http://schemas.openxmlformats.org/drawingml/2006/main">
            <a:pPr algn="ctr">
              <a:defRPr sz="18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u_c、v_c、α_c、ω_c、r_c、δ_c</a:t>
            </a:r>
          </a:p>
        </p:txBody>
      </p:sp>
      <p:sp>
        <p:nvSpPr>
          <p:cNvPr id="4" name="box-83uzcdp">
            <a:extLst xmlns:a="http://schemas.openxmlformats.org/drawingml/2006/main">
              <a:ext uri="{FF2B5EF4-FFF2-40B4-BE49-F238E27FC236}">
                <a16:creationId xmlns:a16="http://schemas.microsoft.com/office/drawing/2014/main" id="{08E472E0-AA93-45D5-96DC-F1A010E7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1857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資源狀態</a:t>
            </a:r>
          </a:p>
          <a:p xmlns:a="http://schemas.openxmlformats.org/drawingml/2006/main">
            <a:pPr algn="ctr">
              <a:defRPr sz="18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R_c、M_v、O_v(t)</a:t>
            </a:r>
          </a:p>
        </p:txBody>
      </p:sp>
      <p:sp>
        <p:nvSpPr>
          <p:cNvPr id="5" name="box-nbcx4vw">
            <a:extLst xmlns:a="http://schemas.openxmlformats.org/drawingml/2006/main">
              <a:ext uri="{FF2B5EF4-FFF2-40B4-BE49-F238E27FC236}">
                <a16:creationId xmlns:a16="http://schemas.microsoft.com/office/drawing/2014/main" id="{7AA08F60-D7CC-4D78-A19A-55BF937A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857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Bundle query</a:t>
            </a:r>
          </a:p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o、d、g、S</a:t>
            </a:r>
          </a:p>
        </p:txBody>
      </p:sp>
      <p:sp>
        <p:nvSpPr>
          <p:cNvPr id="6" name="box-uznityo">
            <a:extLst xmlns:a="http://schemas.openxmlformats.org/drawingml/2006/main">
              <a:ext uri="{FF2B5EF4-FFF2-40B4-BE49-F238E27FC236}">
                <a16:creationId xmlns:a16="http://schemas.microsoft.com/office/drawing/2014/main" id="{F1E1D704-B000-4030-AD24-2CC2ADC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57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搜尋範圍</a:t>
            </a:r>
          </a:p>
          <a:p xmlns:a="http://schemas.openxmlformats.org/drawingml/2006/main">
            <a:pPr algn="ctr">
              <a:defRPr sz="18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Δ、T、G_Δ</a:t>
            </a:r>
          </a:p>
        </p:txBody>
      </p:sp>
      <p:sp>
        <p:nvSpPr>
          <p:cNvPr id="7" name="text-dfuvwct">
            <a:extLst xmlns:a="http://schemas.openxmlformats.org/drawingml/2006/main">
              <a:ext uri="{FF2B5EF4-FFF2-40B4-BE49-F238E27FC236}">
                <a16:creationId xmlns:a16="http://schemas.microsoft.com/office/drawing/2014/main" id="{B1E86356-BDEC-4033-A07D-D0DCD0F2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57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每次 query 開始時，R_c 與 O_v(t) 固定；接受路徑後才更新供下一包使用。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6D8C3-869A-48CF-9C06-0BCECDF6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9" name="text-h07godd">
            <a:extLst xmlns:a="http://schemas.openxmlformats.org/drawingml/2006/main">
              <a:ext uri="{FF2B5EF4-FFF2-40B4-BE49-F238E27FC236}">
                <a16:creationId xmlns:a16="http://schemas.microsoft.com/office/drawing/2014/main" id="{BC580B33-B285-446C-B8F9-577F23C6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本頁重點：固定輸入、目前資源狀態與搜尋控制參數必須分開定義。 </a:t>
            </a:r>
          </a:p>
        </p:txBody>
      </p:sp>
    </p:spTree>
    <p:extLst>
      <p:ext uri="{BB962C8B-B14F-4D97-AF65-F5344CB8AC3E}">
        <p14:creationId xmlns:p14="http://schemas.microsoft.com/office/powerpoint/2010/main" val="1518498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Contact 參數定義">
            <a:extLst xmlns:a="http://schemas.openxmlformats.org/drawingml/2006/main">
              <a:ext uri="{FF2B5EF4-FFF2-40B4-BE49-F238E27FC236}">
                <a16:creationId xmlns:a16="http://schemas.microsoft.com/office/drawing/2014/main" id="{E95AA41D-20D8-4F61-86DC-68FB5C9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參數定義</a:t>
            </a:r>
          </a:p>
        </p:txBody>
      </p:sp>
      <p:sp>
        <p:nvSpPr>
          <p:cNvPr id="2" name="text-qzojsa4">
            <a:extLst xmlns:a="http://schemas.openxmlformats.org/drawingml/2006/main">
              <a:ext uri="{FF2B5EF4-FFF2-40B4-BE49-F238E27FC236}">
                <a16:creationId xmlns:a16="http://schemas.microsoft.com/office/drawing/2014/main" id="{91E90B11-A568-481A-899C-8D76FB2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= (u_c, v_c, α_c, ω_c, r_c, δ_c)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00125" y="1571625"/>
          <a:ext xmlns:a="http://schemas.openxmlformats.org/drawingml/2006/main" cx="10191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8625"/>
                <a:gridCol w="5095875"/>
                <a:gridCol w="3397250"/>
              </a:tblGrid>
              <a:tr h="49666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單位／條件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u_c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發送節點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u_c ∈ V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v_c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接收節點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v_c ∈ V，u_c ≠ v_c</a:t>
                      </a:r>
                    </a:p>
                  </a:txBody>
                  <a:tcPr marL="76200" marR="76200" marT="47625" marB="47625" anchor="ctr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α_c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發送窗口開始時間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ω_c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發送窗口結束時間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α_c &lt; ω_c</a:t>
                      </a:r>
                    </a:p>
                  </a:txBody>
                  <a:tcPr marL="76200" marR="76200" marT="47625" marB="47625" anchor="ctr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r_c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固定傳輸速率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MB/s，r_c &gt; 0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δ_c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固定 propagation delay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秒，δ_c ≥ 0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4" name="text-qvrbi8c">
            <a:extLst xmlns:a="http://schemas.openxmlformats.org/drawingml/2006/main">
              <a:ext uri="{FF2B5EF4-FFF2-40B4-BE49-F238E27FC236}">
                <a16:creationId xmlns:a16="http://schemas.microsoft.com/office/drawing/2014/main" id="{2439460B-CE1A-4EFB-9EFD-F3630C14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 b="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ω_c 是 sender window 的結束時間：必須在 ω_c 前送完，抵達可晚於 ω_c。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C467C-7857-4C0F-8C87-28FCAD40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6" name="text-n2904n0">
            <a:extLst xmlns:a="http://schemas.openxmlformats.org/drawingml/2006/main">
              <a:ext uri="{FF2B5EF4-FFF2-40B4-BE49-F238E27FC236}">
                <a16:creationId xmlns:a16="http://schemas.microsoft.com/office/drawing/2014/main" id="{67AA6352-22A4-42B3-A457-0B295D10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本頁重點：發送窗口與抵達時間必須分開，避免錯把 propagation delay 塞進 window。 </a:t>
            </a:r>
          </a:p>
        </p:txBody>
      </p:sp>
    </p:spTree>
    <p:extLst>
      <p:ext uri="{BB962C8B-B14F-4D97-AF65-F5344CB8AC3E}">
        <p14:creationId xmlns:p14="http://schemas.microsoft.com/office/powerpoint/2010/main" val="1138035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資源參數：Contact quota 與節點 buffer">
            <a:extLst xmlns:a="http://schemas.openxmlformats.org/drawingml/2006/main">
              <a:ext uri="{FF2B5EF4-FFF2-40B4-BE49-F238E27FC236}">
                <a16:creationId xmlns:a16="http://schemas.microsoft.com/office/drawing/2014/main" id="{1283096F-9AF9-418D-B6DE-C523FFA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資源參數：Contact quota 與節點 buffer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00125" y="1666875"/>
          <a:ext xmlns:a="http://schemas.openxmlformats.org/drawingml/2006/main" cx="101917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3831"/>
                <a:gridCol w="5589024"/>
                <a:gridCol w="2958895"/>
              </a:tblGrid>
              <a:tr h="55959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單位／條件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R_c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本次 query 開始前，contact c 的剩餘 aggregate quota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MB，0 ≤ R_c ≤ Q_c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M_v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節點 v 的 buffer 容量上限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MB，M_v ≥ 0</a:t>
                      </a:r>
                    </a:p>
                  </a:txBody>
                  <a:tcPr marL="76200" marR="76200" marT="47625" marB="47625" anchor="ctr"/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O_v(t)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先前已接受 bundles 對節點 v 的既有預約占用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MB，O_v(t) ≥ 0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3" name="box-wnhd6y6">
            <a:extLst xmlns:a="http://schemas.openxmlformats.org/drawingml/2006/main">
              <a:ext uri="{FF2B5EF4-FFF2-40B4-BE49-F238E27FC236}">
                <a16:creationId xmlns:a16="http://schemas.microsoft.com/office/drawing/2014/main" id="{47EE0FE0-035D-4C8B-8F23-BE9405F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R_c：累積可用量</a:t>
            </a:r>
          </a:p>
        </p:txBody>
      </p:sp>
      <p:sp>
        <p:nvSpPr>
          <p:cNvPr id="4" name="text-1347v1s">
            <a:extLst xmlns:a="http://schemas.openxmlformats.org/drawingml/2006/main">
              <a:ext uri="{FF2B5EF4-FFF2-40B4-BE49-F238E27FC236}">
                <a16:creationId xmlns:a16="http://schemas.microsoft.com/office/drawing/2014/main" id="{481C8F99-9EA4-474F-B03A-2F0B091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33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≠</a:t>
            </a:r>
          </a:p>
        </p:txBody>
      </p:sp>
      <p:sp>
        <p:nvSpPr>
          <p:cNvPr id="5" name="box-4x0yq4e">
            <a:extLst xmlns:a="http://schemas.openxmlformats.org/drawingml/2006/main">
              <a:ext uri="{FF2B5EF4-FFF2-40B4-BE49-F238E27FC236}">
                <a16:creationId xmlns:a16="http://schemas.microsoft.com/office/drawing/2014/main" id="{1DBDBE40-5B80-461A-B3A0-06D1EDA7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3524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Transmission calendar：</a:t>
            </a:r>
          </a:p>
          <a:p xmlns:a="http://schemas.openxmlformats.org/drawingml/2006/main">
            <a:pPr algn="ctr">
              <a:defRPr sz="187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已占用的時間區間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1678B-9CD8-499B-8A37-D8A9D6B0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7" name="text-ze30jdx">
            <a:extLst xmlns:a="http://schemas.openxmlformats.org/drawingml/2006/main">
              <a:ext uri="{FF2B5EF4-FFF2-40B4-BE49-F238E27FC236}">
                <a16:creationId xmlns:a16="http://schemas.microsoft.com/office/drawing/2014/main" id="{3DDA1222-D9B2-4922-BBD9-83ADD01F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本頁重點：現行 R_c 不能判斷兩筆傳輸是否在同一時間重疊。 </a:t>
            </a:r>
          </a:p>
        </p:txBody>
      </p:sp>
    </p:spTree>
    <p:extLst>
      <p:ext uri="{BB962C8B-B14F-4D97-AF65-F5344CB8AC3E}">
        <p14:creationId xmlns:p14="http://schemas.microsoft.com/office/powerpoint/2010/main" val="1114070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undle 與搜尋範圍參數">
            <a:extLst xmlns:a="http://schemas.openxmlformats.org/drawingml/2006/main">
              <a:ext uri="{FF2B5EF4-FFF2-40B4-BE49-F238E27FC236}">
                <a16:creationId xmlns:a16="http://schemas.microsoft.com/office/drawing/2014/main" id="{F3FD9869-F4E9-4C31-BB52-5A34A5F2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與搜尋範圍參數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1000125" y="1524000"/>
          <a:ext xmlns:a="http://schemas.openxmlformats.org/drawingml/2006/main" cx="10191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8625"/>
                <a:gridCol w="5095875"/>
                <a:gridCol w="3397250"/>
              </a:tblGrid>
              <a:tr h="50346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條件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bundle source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 ∈ V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bundle destination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d ∈ V</a:t>
                      </a:r>
                    </a:p>
                  </a:txBody>
                  <a:tcPr marL="76200" marR="76200" marT="47625" marB="47625" anchor="ctr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g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bundle generation / release time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秒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bundle 完整資料量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MB，S &gt; 0</a:t>
                      </a:r>
                    </a:p>
                  </a:txBody>
                  <a:tcPr marL="76200" marR="76200" marT="47625" marB="47625" anchor="ctr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Δ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可選發送時間的格點間隔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秒，Δ &gt; 0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T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最晚完整到達時間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有限規劃期限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3" name="text-tnoiagt">
            <a:extLst xmlns:a="http://schemas.openxmlformats.org/drawingml/2006/main">
              <a:ext uri="{FF2B5EF4-FFF2-40B4-BE49-F238E27FC236}">
                <a16:creationId xmlns:a16="http://schemas.microsoft.com/office/drawing/2014/main" id="{F0B9F38E-C5FB-497C-9FF3-E8427FCB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G_Δ = { kΔ : k ∈ Z，0 ≤ kΔ ≤ T 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23E7F-053A-491C-A656-4899975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5" name="text-3uvgcp2">
            <a:extLst xmlns:a="http://schemas.openxmlformats.org/drawingml/2006/main">
              <a:ext uri="{FF2B5EF4-FFF2-40B4-BE49-F238E27FC236}">
                <a16:creationId xmlns:a16="http://schemas.microsoft.com/office/drawing/2014/main" id="{95B6A016-EE0D-4725-8AAC-A9ECB6B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本頁重點：NO_ROUTE_ON_GRID 只表示指定 Δ 與 T 下無解，不等於連續時間一定無解。 </a:t>
            </a:r>
          </a:p>
        </p:txBody>
      </p:sp>
    </p:spTree>
    <p:extLst>
      <p:ext uri="{BB962C8B-B14F-4D97-AF65-F5344CB8AC3E}">
        <p14:creationId xmlns:p14="http://schemas.microsoft.com/office/powerpoint/2010/main" val="12144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決策輸出與最佳化目標">
            <a:extLst xmlns:a="http://schemas.openxmlformats.org/drawingml/2006/main">
              <a:ext uri="{FF2B5EF4-FFF2-40B4-BE49-F238E27FC236}">
                <a16:creationId xmlns:a16="http://schemas.microsoft.com/office/drawing/2014/main" id="{B91A5695-A2E7-4F05-A6B6-74CD475C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決策輸出與最佳化目標</a:t>
            </a:r>
          </a:p>
        </p:txBody>
      </p:sp>
      <p:sp>
        <p:nvSpPr>
          <p:cNvPr id="2" name="box-56asfn2">
            <a:extLst xmlns:a="http://schemas.openxmlformats.org/drawingml/2006/main">
              <a:ext uri="{FF2B5EF4-FFF2-40B4-BE49-F238E27FC236}">
                <a16:creationId xmlns:a16="http://schemas.microsoft.com/office/drawing/2014/main" id="{54FB238A-BA35-4FA6-A899-AF04FA88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571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路徑 P</a:t>
            </a:r>
          </a:p>
        </p:txBody>
      </p:sp>
      <p:sp>
        <p:nvSpPr>
          <p:cNvPr id="3" name="text-dic4vh5">
            <a:extLst xmlns:a="http://schemas.openxmlformats.org/drawingml/2006/main">
              <a:ext uri="{FF2B5EF4-FFF2-40B4-BE49-F238E27FC236}">
                <a16:creationId xmlns:a16="http://schemas.microsoft.com/office/drawing/2014/main" id="{D4DBCFB5-0832-4113-8251-A7741649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P = (c₁, c₂, …, c_K)</a:t>
            </a:r>
          </a:p>
        </p:txBody>
      </p:sp>
      <p:sp>
        <p:nvSpPr>
          <p:cNvPr id="4" name="box-dq9dpcd">
            <a:extLst xmlns:a="http://schemas.openxmlformats.org/drawingml/2006/main">
              <a:ext uri="{FF2B5EF4-FFF2-40B4-BE49-F238E27FC236}">
                <a16:creationId xmlns:a16="http://schemas.microsoft.com/office/drawing/2014/main" id="{2F30372A-518C-4EEE-A2BB-45F8219A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571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4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起送時間</a:t>
            </a:r>
          </a:p>
        </p:txBody>
      </p:sp>
      <p:sp>
        <p:nvSpPr>
          <p:cNvPr id="5" name="text-1j0i0vi">
            <a:extLst xmlns:a="http://schemas.openxmlformats.org/drawingml/2006/main">
              <a:ext uri="{FF2B5EF4-FFF2-40B4-BE49-F238E27FC236}">
                <a16:creationId xmlns:a16="http://schemas.microsoft.com/office/drawing/2014/main" id="{FA7CBD2B-B3AD-4FEE-8370-A2AAD02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550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s = (s₁, s₂, …, s_K)</a:t>
            </a:r>
          </a:p>
        </p:txBody>
      </p:sp>
      <p:sp>
        <p:nvSpPr>
          <p:cNvPr id="6" name="box-apqv34m">
            <a:extLst xmlns:a="http://schemas.openxmlformats.org/drawingml/2006/main">
              <a:ext uri="{FF2B5EF4-FFF2-40B4-BE49-F238E27FC236}">
                <a16:creationId xmlns:a16="http://schemas.microsoft.com/office/drawing/2014/main" id="{4E404AB6-51B0-4B18-80B0-04A66F32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571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目標</a:t>
            </a:r>
          </a:p>
        </p:txBody>
      </p:sp>
      <p:sp>
        <p:nvSpPr>
          <p:cNvPr id="7" name="text-8wr75ho">
            <a:extLst xmlns:a="http://schemas.openxmlformats.org/drawingml/2006/main">
              <a:ext uri="{FF2B5EF4-FFF2-40B4-BE49-F238E27FC236}">
                <a16:creationId xmlns:a16="http://schemas.microsoft.com/office/drawing/2014/main" id="{430C4358-8B70-43EF-905A-BBF1B419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3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min A_d(P, s) ＝ 最後一個 byte 最早抵達目的地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A1FC8-B307-4B8C-A336-39C9915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9" name="text-xvyd57z">
            <a:extLst xmlns:a="http://schemas.openxmlformats.org/drawingml/2006/main">
              <a:ext uri="{FF2B5EF4-FFF2-40B4-BE49-F238E27FC236}">
                <a16:creationId xmlns:a16="http://schemas.microsoft.com/office/drawing/2014/main" id="{29B00F65-7E9A-40EE-B637-79BBDF5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本頁重點：演算法同時決定走哪些 contacts 與每一跳何時開始。 </a:t>
            </a:r>
          </a:p>
        </p:txBody>
      </p:sp>
    </p:spTree>
    <p:extLst>
      <p:ext uri="{BB962C8B-B14F-4D97-AF65-F5344CB8AC3E}">
        <p14:creationId xmlns:p14="http://schemas.microsoft.com/office/powerpoint/2010/main" val="1448500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單跳時間定義">
            <a:extLst xmlns:a="http://schemas.openxmlformats.org/drawingml/2006/main">
              <a:ext uri="{FF2B5EF4-FFF2-40B4-BE49-F238E27FC236}">
                <a16:creationId xmlns:a16="http://schemas.microsoft.com/office/drawing/2014/main" id="{D055F096-B286-420D-979D-235D4E8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單跳時間定義</a:t>
            </a:r>
          </a:p>
        </p:txBody>
      </p:sp>
      <p:sp>
        <p:nvSpPr>
          <p:cNvPr id="2" name="text-4t65zxy">
            <a:extLst xmlns:a="http://schemas.openxmlformats.org/drawingml/2006/main">
              <a:ext uri="{FF2B5EF4-FFF2-40B4-BE49-F238E27FC236}">
                <a16:creationId xmlns:a16="http://schemas.microsoft.com/office/drawing/2014/main" id="{8EE0FFB9-DEB7-44B7-998B-4E9B1E7E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完整傳輸時間 x = S / r_c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87DEE-B9A4-47C0-9945-BA76791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942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222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2B4D9-4B74-4E69-A122-5992DC2C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text-1u8lr3r">
            <a:extLst xmlns:a="http://schemas.openxmlformats.org/drawingml/2006/main">
              <a:ext uri="{FF2B5EF4-FFF2-40B4-BE49-F238E27FC236}">
                <a16:creationId xmlns:a16="http://schemas.microsoft.com/office/drawing/2014/main" id="{78D2BFC0-85F0-4CA1-B07D-FB26D78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</a:t>
            </a:r>
          </a:p>
          <a:p xmlns:a="http://schemas.openxmlformats.org/drawingml/2006/main">
            <a:pPr algn="ctr">
              <a:defRPr sz="172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開始發送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443DE-4275-4940-9A69-FEFA5980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7" name="text-jhy2l1b">
            <a:extLst xmlns:a="http://schemas.openxmlformats.org/drawingml/2006/main">
              <a:ext uri="{FF2B5EF4-FFF2-40B4-BE49-F238E27FC236}">
                <a16:creationId xmlns:a16="http://schemas.microsoft.com/office/drawing/2014/main" id="{A0A3DB5A-985D-44CF-B5B2-B2EE4BC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h=s+δ</a:t>
            </a:r>
          </a:p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第一個 byte 抵達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48758-E39C-4CFC-B43C-932EC2CB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</p:sp>
      <p:sp>
        <p:nvSpPr>
          <p:cNvPr id="9" name="text-bayeml1">
            <a:extLst xmlns:a="http://schemas.openxmlformats.org/drawingml/2006/main">
              <a:ext uri="{FF2B5EF4-FFF2-40B4-BE49-F238E27FC236}">
                <a16:creationId xmlns:a16="http://schemas.microsoft.com/office/drawing/2014/main" id="{6214D919-4FB7-4B6B-9CC5-C82CF9A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4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f=s+S/r</a:t>
            </a:r>
          </a:p>
          <a:p xmlns:a="http://schemas.openxmlformats.org/drawingml/2006/main">
            <a:pPr algn="ctr">
              <a:defRPr sz="17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最後一個 byte 離開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D7110-0193-4FD1-ABD8-3EE2E2C0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11" name="text-pa8leje">
            <a:extLst xmlns:a="http://schemas.openxmlformats.org/drawingml/2006/main">
              <a:ext uri="{FF2B5EF4-FFF2-40B4-BE49-F238E27FC236}">
                <a16:creationId xmlns:a16="http://schemas.microsoft.com/office/drawing/2014/main" id="{DBEA8624-4667-4CF1-B041-0790EE2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337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a'=f+δ</a:t>
            </a:r>
          </a:p>
          <a:p xmlns:a="http://schemas.openxmlformats.org/drawingml/2006/main">
            <a:pPr algn="ctr">
              <a:defRPr sz="17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完整抵達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DE885-1CE6-4E5A-900C-56478160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3625"/>
            <a:ext cx="4953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13" name="text-62tk0hl">
            <a:extLst xmlns:a="http://schemas.openxmlformats.org/drawingml/2006/main">
              <a:ext uri="{FF2B5EF4-FFF2-40B4-BE49-F238E27FC236}">
                <a16:creationId xmlns:a16="http://schemas.microsoft.com/office/drawing/2014/main" id="{C8CB8A64-C025-4894-9CAB-5FF5607B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傳送完整 bundle：S / r_c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DFE4B-3735-476D-81CC-5B1E813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33625"/>
            <a:ext cx="2286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5" name="text-bhjt976">
            <a:extLst xmlns:a="http://schemas.openxmlformats.org/drawingml/2006/main">
              <a:ext uri="{FF2B5EF4-FFF2-40B4-BE49-F238E27FC236}">
                <a16:creationId xmlns:a16="http://schemas.microsoft.com/office/drawing/2014/main" id="{514CC815-2C29-4A4C-9988-FC1AFBA5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57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329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950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propagation delay：δ_c</a:t>
            </a:r>
          </a:p>
        </p:txBody>
      </p:sp>
      <p:sp>
        <p:nvSpPr>
          <p:cNvPr id="16" name="box-lv11zzk">
            <a:extLst xmlns:a="http://schemas.openxmlformats.org/drawingml/2006/main">
              <a:ext uri="{FF2B5EF4-FFF2-40B4-BE49-F238E27FC236}">
                <a16:creationId xmlns:a16="http://schemas.microsoft.com/office/drawing/2014/main" id="{2A52F313-2CBA-4801-AC4E-AA82374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476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4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a' = s + S/r_c + δ_c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7639F-4540-4C48-90D8-F9E79A8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8" name="text-gc7yyw0">
            <a:extLst xmlns:a="http://schemas.openxmlformats.org/drawingml/2006/main">
              <a:ext uri="{FF2B5EF4-FFF2-40B4-BE49-F238E27FC236}">
                <a16:creationId xmlns:a16="http://schemas.microsoft.com/office/drawing/2014/main" id="{6D015C82-339F-4A8B-919F-E92DD756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本頁重點：傳輸時間與傳播延遲都會累積到完整到達時間。 </a:t>
            </a:r>
          </a:p>
        </p:txBody>
      </p:sp>
    </p:spTree>
    <p:extLst>
      <p:ext uri="{BB962C8B-B14F-4D97-AF65-F5344CB8AC3E}">
        <p14:creationId xmlns:p14="http://schemas.microsoft.com/office/powerpoint/2010/main" val="11624842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一條路徑必須同時通過六項限制">
            <a:extLst xmlns:a="http://schemas.openxmlformats.org/drawingml/2006/main">
              <a:ext uri="{FF2B5EF4-FFF2-40B4-BE49-F238E27FC236}">
                <a16:creationId xmlns:a16="http://schemas.microsoft.com/office/drawing/2014/main" id="{2A0023D3-62F3-4698-8E55-AE016F2A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一條路徑必須同時通過六項限制</a:t>
            </a:r>
          </a:p>
        </p:txBody>
      </p:sp>
      <p:sp>
        <p:nvSpPr>
          <p:cNvPr id="2" name="box-lrfvebf">
            <a:extLst xmlns:a="http://schemas.openxmlformats.org/drawingml/2006/main">
              <a:ext uri="{FF2B5EF4-FFF2-40B4-BE49-F238E27FC236}">
                <a16:creationId xmlns:a16="http://schemas.microsoft.com/office/drawing/2014/main" id="{A7890035-4D1C-4413-953C-F2C3B64D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 路徑銜接</a:t>
            </a:r>
          </a:p>
          <a:p xmlns:a="http://schemas.openxmlformats.org/drawingml/2006/main">
            <a:pPr algn="ctr">
              <a:defRPr sz="172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u(c₁)=o；v(c_i)=u(c_{i+1})；v(c_K)=d</a:t>
            </a:r>
          </a:p>
        </p:txBody>
      </p:sp>
      <p:sp>
        <p:nvSpPr>
          <p:cNvPr id="3" name="box-ja37qxy">
            <a:extLst xmlns:a="http://schemas.openxmlformats.org/drawingml/2006/main">
              <a:ext uri="{FF2B5EF4-FFF2-40B4-BE49-F238E27FC236}">
                <a16:creationId xmlns:a16="http://schemas.microsoft.com/office/drawing/2014/main" id="{AC37B511-4017-4276-A3A8-39CCF112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2 Store-and-forward</a:t>
            </a:r>
          </a:p>
          <a:p xmlns:a="http://schemas.openxmlformats.org/drawingml/2006/main">
            <a:pPr algn="ctr">
              <a:defRPr sz="17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s₁ ≥ g；s_{i+1} ≥ a_i</a:t>
            </a:r>
          </a:p>
        </p:txBody>
      </p:sp>
      <p:sp>
        <p:nvSpPr>
          <p:cNvPr id="4" name="box-h1vt7px">
            <a:extLst xmlns:a="http://schemas.openxmlformats.org/drawingml/2006/main">
              <a:ext uri="{FF2B5EF4-FFF2-40B4-BE49-F238E27FC236}">
                <a16:creationId xmlns:a16="http://schemas.microsoft.com/office/drawing/2014/main" id="{678386EC-078C-463F-A391-E73EC658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3 Contact window</a:t>
            </a:r>
          </a:p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s_i ≥ α_i；s_i + S/r_i ≤ ω_i</a:t>
            </a:r>
          </a:p>
        </p:txBody>
      </p:sp>
      <p:sp>
        <p:nvSpPr>
          <p:cNvPr id="5" name="box-nklhab7">
            <a:extLst xmlns:a="http://schemas.openxmlformats.org/drawingml/2006/main">
              <a:ext uri="{FF2B5EF4-FFF2-40B4-BE49-F238E27FC236}">
                <a16:creationId xmlns:a16="http://schemas.microsoft.com/office/drawing/2014/main" id="{AE3CEF1C-A324-4ADB-A5B0-675A24B5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33675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4 規劃期限</a:t>
            </a:r>
          </a:p>
          <a:p xmlns:a="http://schemas.openxmlformats.org/drawingml/2006/main">
            <a:pPr algn="ctr">
              <a:defRPr sz="172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a_K ≤ T</a:t>
            </a:r>
          </a:p>
        </p:txBody>
      </p:sp>
      <p:sp>
        <p:nvSpPr>
          <p:cNvPr id="6" name="box-a3e6i3m">
            <a:extLst xmlns:a="http://schemas.openxmlformats.org/drawingml/2006/main">
              <a:ext uri="{FF2B5EF4-FFF2-40B4-BE49-F238E27FC236}">
                <a16:creationId xmlns:a16="http://schemas.microsoft.com/office/drawing/2014/main" id="{AC243A4E-11E5-4A38-917E-0C1BE2A0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5 Aggregate quota</a:t>
            </a:r>
          </a:p>
          <a:p xmlns:a="http://schemas.openxmlformats.org/drawingml/2006/main">
            <a:pPr algn="ctr">
              <a:defRPr sz="17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 × 使用 c 的次數 ≤ R_c</a:t>
            </a:r>
          </a:p>
        </p:txBody>
      </p:sp>
      <p:sp>
        <p:nvSpPr>
          <p:cNvPr id="7" name="box-3b3mvxf">
            <a:extLst xmlns:a="http://schemas.openxmlformats.org/drawingml/2006/main">
              <a:ext uri="{FF2B5EF4-FFF2-40B4-BE49-F238E27FC236}">
                <a16:creationId xmlns:a16="http://schemas.microsoft.com/office/drawing/2014/main" id="{C8A8A17D-BECE-43B7-8288-F585C9A4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90975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3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6 Buffer</a:t>
            </a:r>
          </a:p>
          <a:p xmlns:a="http://schemas.openxmlformats.org/drawingml/2006/main">
            <a:pPr algn="ctr">
              <a:defRPr sz="172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O_v(t) + B_v(t) ≤ M_v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AD466-2E74-4A65-A7D3-E1FD070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9" name="text-36aoxct">
            <a:extLst xmlns:a="http://schemas.openxmlformats.org/drawingml/2006/main">
              <a:ext uri="{FF2B5EF4-FFF2-40B4-BE49-F238E27FC236}">
                <a16:creationId xmlns:a16="http://schemas.microsoft.com/office/drawing/2014/main" id="{59381DD4-6E4E-45B6-BEAB-A1190EA4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本頁重點：Label extension 只有在六項條件都成立時才建立新 label。 </a:t>
            </a:r>
          </a:p>
        </p:txBody>
      </p:sp>
    </p:spTree>
    <p:extLst>
      <p:ext uri="{BB962C8B-B14F-4D97-AF65-F5344CB8AC3E}">
        <p14:creationId xmlns:p14="http://schemas.microsoft.com/office/powerpoint/2010/main" val="20765232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逐 byte buffer 占用模型">
            <a:extLst xmlns:a="http://schemas.openxmlformats.org/drawingml/2006/main">
              <a:ext uri="{FF2B5EF4-FFF2-40B4-BE49-F238E27FC236}">
                <a16:creationId xmlns:a16="http://schemas.microsoft.com/office/drawing/2014/main" id="{01F9D249-1FBF-42D0-A131-795E9BDA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逐 byte buffer 占用模型</a:t>
            </a:r>
          </a:p>
        </p:txBody>
      </p:sp>
      <p:sp>
        <p:nvSpPr>
          <p:cNvPr id="2" name="text-yzeymtd">
            <a:extLst xmlns:a="http://schemas.openxmlformats.org/drawingml/2006/main">
              <a:ext uri="{FF2B5EF4-FFF2-40B4-BE49-F238E27FC236}">
                <a16:creationId xmlns:a16="http://schemas.microsoft.com/office/drawing/2014/main" id="{46A4FEB6-9F52-448E-93E9-BC1C8F4D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無 retained sender copy；接收完整後才能轉送</a:t>
            </a:r>
          </a:p>
        </p:txBody>
      </p:sp>
      <p:sp>
        <p:nvSpPr>
          <p:cNvPr id="3" name="text-lvx2itz">
            <a:extLst xmlns:a="http://schemas.openxmlformats.org/drawingml/2006/main">
              <a:ext uri="{FF2B5EF4-FFF2-40B4-BE49-F238E27FC236}">
                <a16:creationId xmlns:a16="http://schemas.microsoft.com/office/drawing/2014/main" id="{89DF4051-F49C-4DBB-8782-DE14C9E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發送端 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D79C7-95BF-4BC0-ACDD-520318F5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409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F3CFA-4F6E-4C4B-A027-89C7CE8A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952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2E442-2474-4B25-BAEB-CE46A39D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161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01DE1-5537-4D51-B241-6665354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161925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A6"/>
            </a:solidFill>
          </a:ln>
        </p:spPr>
      </p:sp>
      <p:sp>
        <p:nvSpPr>
          <p:cNvPr id="8" name="text-dmrlkj5">
            <a:extLst xmlns:a="http://schemas.openxmlformats.org/drawingml/2006/main">
              <a:ext uri="{FF2B5EF4-FFF2-40B4-BE49-F238E27FC236}">
                <a16:creationId xmlns:a16="http://schemas.microsoft.com/office/drawing/2014/main" id="{DB8899BF-34FF-4D13-99C2-29036384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650" b="0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S</a:t>
            </a:r>
          </a:p>
        </p:txBody>
      </p:sp>
      <p:sp>
        <p:nvSpPr>
          <p:cNvPr id="9" name="text-4fqxabr">
            <a:extLst xmlns:a="http://schemas.openxmlformats.org/drawingml/2006/main">
              <a:ext uri="{FF2B5EF4-FFF2-40B4-BE49-F238E27FC236}">
                <a16:creationId xmlns:a16="http://schemas.microsoft.com/office/drawing/2014/main" id="{87A9B6E2-6A58-47BD-954B-FC578878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10" name="text-8v1rtak">
            <a:extLst xmlns:a="http://schemas.openxmlformats.org/drawingml/2006/main">
              <a:ext uri="{FF2B5EF4-FFF2-40B4-BE49-F238E27FC236}">
                <a16:creationId xmlns:a16="http://schemas.microsoft.com/office/drawing/2014/main" id="{90C94874-6096-419B-92AB-97B6E45E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s</a:t>
            </a:r>
          </a:p>
        </p:txBody>
      </p:sp>
      <p:sp>
        <p:nvSpPr>
          <p:cNvPr id="11" name="text-wgzaaba">
            <a:extLst xmlns:a="http://schemas.openxmlformats.org/drawingml/2006/main">
              <a:ext uri="{FF2B5EF4-FFF2-40B4-BE49-F238E27FC236}">
                <a16:creationId xmlns:a16="http://schemas.microsoft.com/office/drawing/2014/main" id="{621562D6-1AC4-47CB-98F8-B420EC3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f</a:t>
            </a:r>
          </a:p>
        </p:txBody>
      </p:sp>
      <p:sp>
        <p:nvSpPr>
          <p:cNvPr id="12" name="text-lxsfpnz">
            <a:extLst xmlns:a="http://schemas.openxmlformats.org/drawingml/2006/main">
              <a:ext uri="{FF2B5EF4-FFF2-40B4-BE49-F238E27FC236}">
                <a16:creationId xmlns:a16="http://schemas.microsoft.com/office/drawing/2014/main" id="{06A6EA7E-0AFD-46A9-9F6D-80AD9943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07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等待期間保持 S，發送時以 r_c 線性釋放</a:t>
            </a:r>
          </a:p>
        </p:txBody>
      </p:sp>
      <p:sp>
        <p:nvSpPr>
          <p:cNvPr id="13" name="text-gk66con">
            <a:extLst xmlns:a="http://schemas.openxmlformats.org/drawingml/2006/main">
              <a:ext uri="{FF2B5EF4-FFF2-40B4-BE49-F238E27FC236}">
                <a16:creationId xmlns:a16="http://schemas.microsoft.com/office/drawing/2014/main" id="{489B6AC9-8CF3-405B-A624-C58EF49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接收端 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FA665-B3D9-475E-8705-77D42A3E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00500"/>
            <a:ext cx="409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274CE-8834-4411-B85B-A683C969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952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E39E0-7BD8-4275-8263-30CD9889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6A031-79CB-4670-8398-D6A08CA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333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0">
            <a:solidFill>
              <a:srgbClr val="1674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5F601-3AF5-4C04-B5B0-482EFBB5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333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0">
            <a:solidFill>
              <a:srgbClr val="1674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5480D-FFFD-4C62-AB59-1DC8010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333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0">
            <a:solidFill>
              <a:srgbClr val="16743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DDE05-518D-4B2B-A089-9DD62A69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14625"/>
            <a:ext cx="333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0">
            <a:solidFill>
              <a:srgbClr val="1674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70AF7-4688-4812-95AF-EF44FE59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619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22" name="text-6dedq6q">
            <a:extLst xmlns:a="http://schemas.openxmlformats.org/drawingml/2006/main">
              <a:ext uri="{FF2B5EF4-FFF2-40B4-BE49-F238E27FC236}">
                <a16:creationId xmlns:a16="http://schemas.microsoft.com/office/drawing/2014/main" id="{6C9A089E-C375-4C4F-97B6-19066777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650" b="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</a:t>
            </a:r>
          </a:p>
        </p:txBody>
      </p:sp>
      <p:sp>
        <p:nvSpPr>
          <p:cNvPr id="23" name="text-dslexkj">
            <a:extLst xmlns:a="http://schemas.openxmlformats.org/drawingml/2006/main">
              <a:ext uri="{FF2B5EF4-FFF2-40B4-BE49-F238E27FC236}">
                <a16:creationId xmlns:a16="http://schemas.microsoft.com/office/drawing/2014/main" id="{A07749BA-E979-4C93-81B6-2FEF14DA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95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h</a:t>
            </a:r>
          </a:p>
        </p:txBody>
      </p:sp>
      <p:sp>
        <p:nvSpPr>
          <p:cNvPr id="24" name="text-rqkbql0">
            <a:extLst xmlns:a="http://schemas.openxmlformats.org/drawingml/2006/main">
              <a:ext uri="{FF2B5EF4-FFF2-40B4-BE49-F238E27FC236}">
                <a16:creationId xmlns:a16="http://schemas.microsoft.com/office/drawing/2014/main" id="{4141DE44-ADDD-4DA4-8AD4-C5B8387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95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a'</a:t>
            </a:r>
          </a:p>
        </p:txBody>
      </p:sp>
      <p:sp>
        <p:nvSpPr>
          <p:cNvPr id="25" name="text-ppzaqun">
            <a:extLst xmlns:a="http://schemas.openxmlformats.org/drawingml/2006/main">
              <a:ext uri="{FF2B5EF4-FFF2-40B4-BE49-F238E27FC236}">
                <a16:creationId xmlns:a16="http://schemas.microsoft.com/office/drawing/2014/main" id="{9FAD42D2-0348-4F15-8253-AF11571D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243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第一個 byte 抵達後以 r_c 線性增加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FD9D5-E817-4653-AEA6-4183CE4E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27" name="text-hzw922a">
            <a:extLst xmlns:a="http://schemas.openxmlformats.org/drawingml/2006/main">
              <a:ext uri="{FF2B5EF4-FFF2-40B4-BE49-F238E27FC236}">
                <a16:creationId xmlns:a16="http://schemas.microsoft.com/office/drawing/2014/main" id="{1C02574C-9937-42DC-B809-68B36397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本頁重點：每一個時間點都要滿足 O_v(t)+新增占用 ≤ M_v。 </a:t>
            </a:r>
          </a:p>
        </p:txBody>
      </p:sp>
    </p:spTree>
    <p:extLst>
      <p:ext uri="{BB962C8B-B14F-4D97-AF65-F5344CB8AC3E}">
        <p14:creationId xmlns:p14="http://schemas.microsoft.com/office/powerpoint/2010/main" val="832682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Label 定義：L = (v, a, U)">
            <a:extLst xmlns:a="http://schemas.openxmlformats.org/drawingml/2006/main">
              <a:ext uri="{FF2B5EF4-FFF2-40B4-BE49-F238E27FC236}">
                <a16:creationId xmlns:a16="http://schemas.microsoft.com/office/drawing/2014/main" id="{44F24207-96EB-45B9-ABD3-DE6F4DD2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定義：L = (v, a, U)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000125" y="1524000"/>
          <a:ext xmlns:a="http://schemas.openxmlformats.org/drawingml/2006/main" cx="10191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5964"/>
                <a:gridCol w="4367893"/>
                <a:gridCol w="4367893"/>
              </a:tblGrid>
              <a:tr h="619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欄位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用途</a:t>
                      </a:r>
                    </a:p>
                  </a:txBody>
                  <a:tcPr marL="76200" marR="76200" marT="47625" marB="47625" anchor="ctr">
                    <a:solidFill>
                      <a:srgbClr val="33339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v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bundle 目前完整所在節點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決定可延伸的 outgoing contacts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bundle 在 v 完整接收時間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決定下一跳最早起送與等待區間</a:t>
                      </a:r>
                    </a:p>
                  </a:txBody>
                  <a:tcPr marL="76200" marR="76200" marT="47625" marB="476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U[c]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本候選前綴在 contact c 的累積使用量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避免同一候選重複使用 c 時超過 quota</a:t>
                      </a:r>
                    </a:p>
                  </a:txBody>
                  <a:tcPr marL="76200" marR="76200" marT="47625" marB="47625" anchor="ctr"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3" name="box-2so6vao">
            <a:extLst xmlns:a="http://schemas.openxmlformats.org/drawingml/2006/main">
              <a:ext uri="{FF2B5EF4-FFF2-40B4-BE49-F238E27FC236}">
                <a16:creationId xmlns:a16="http://schemas.microsoft.com/office/drawing/2014/main" id="{B8675132-F99C-4CAF-8F59-8FBD4A74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8001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例：L = (B, 8, {c₄:4})</a:t>
            </a:r>
          </a:p>
        </p:txBody>
      </p:sp>
      <p:sp>
        <p:nvSpPr>
          <p:cNvPr id="4" name="text-7mor397">
            <a:extLst xmlns:a="http://schemas.openxmlformats.org/drawingml/2006/main">
              <a:ext uri="{FF2B5EF4-FFF2-40B4-BE49-F238E27FC236}">
                <a16:creationId xmlns:a16="http://schemas.microsoft.com/office/drawing/2014/main" id="{5B0A119F-1E0B-4B92-9A7A-A370DEAA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U 是以 contact 為索引的非負向量；實作可只保存非零分量。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28010-3525-44A4-98B1-C72C7055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6" name="text-vosk30l">
            <a:extLst xmlns:a="http://schemas.openxmlformats.org/drawingml/2006/main">
              <a:ext uri="{FF2B5EF4-FFF2-40B4-BE49-F238E27FC236}">
                <a16:creationId xmlns:a16="http://schemas.microsoft.com/office/drawing/2014/main" id="{2BECAEC6-13FE-449B-BA0D-BD19E9AF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本頁重點：U 不是一般集合，也不是其他 bundles 已占用的全域資源。 </a:t>
            </a:r>
          </a:p>
        </p:txBody>
      </p:sp>
    </p:spTree>
    <p:extLst>
      <p:ext uri="{BB962C8B-B14F-4D97-AF65-F5344CB8AC3E}">
        <p14:creationId xmlns:p14="http://schemas.microsoft.com/office/powerpoint/2010/main" val="21333468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為什麼 label 必須記錄 U？">
            <a:extLst xmlns:a="http://schemas.openxmlformats.org/drawingml/2006/main">
              <a:ext uri="{FF2B5EF4-FFF2-40B4-BE49-F238E27FC236}">
                <a16:creationId xmlns:a16="http://schemas.microsoft.com/office/drawing/2014/main" id="{0673D107-ADC9-4FF4-A45D-BBEF0E7F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為什麼 label 必須記錄 U？</a:t>
            </a:r>
          </a:p>
        </p:txBody>
      </p:sp>
      <p:sp>
        <p:nvSpPr>
          <p:cNvPr id="2" name="box-9w94utx">
            <a:extLst xmlns:a="http://schemas.openxmlformats.org/drawingml/2006/main">
              <a:ext uri="{FF2B5EF4-FFF2-40B4-BE49-F238E27FC236}">
                <a16:creationId xmlns:a16="http://schemas.microsoft.com/office/drawing/2014/main" id="{9459B72A-6015-494D-B6D8-5C2C2A41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同一候選路徑</a:t>
            </a:r>
          </a:p>
          <a:p xmlns:a="http://schemas.openxmlformats.org/drawingml/2006/main">
            <a:pPr algn="ctr">
              <a:defRPr sz="21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先使用 c 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F875B-E7B1-4304-A6C2-D4BC167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10001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</p:sp>
      <p:sp>
        <p:nvSpPr>
          <p:cNvPr id="4" name="box-496rlwb">
            <a:extLst xmlns:a="http://schemas.openxmlformats.org/drawingml/2006/main">
              <a:ext uri="{FF2B5EF4-FFF2-40B4-BE49-F238E27FC236}">
                <a16:creationId xmlns:a16="http://schemas.microsoft.com/office/drawing/2014/main" id="{BA819395-0ABC-4554-A712-3E6833B8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之後形成迴路</a:t>
            </a:r>
          </a:p>
          <a:p xmlns:a="http://schemas.openxmlformats.org/drawingml/2006/main">
            <a:pPr algn="ctr">
              <a:defRPr sz="210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又回到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68FE4-AE2C-42A4-9A39-CA25B4B1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"/>
            <a:ext cx="10001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6" name="box-gsweu4r">
            <a:extLst xmlns:a="http://schemas.openxmlformats.org/drawingml/2006/main">
              <a:ext uri="{FF2B5EF4-FFF2-40B4-BE49-F238E27FC236}">
                <a16:creationId xmlns:a16="http://schemas.microsoft.com/office/drawing/2014/main" id="{93E2A28B-3682-44C1-8D69-B22C2E71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需檢查</a:t>
            </a:r>
          </a:p>
          <a:p xmlns:a="http://schemas.openxmlformats.org/drawingml/2006/main">
            <a:pPr algn="ctr">
              <a:defRPr sz="17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U[c] + S ≤ R_c</a:t>
            </a:r>
          </a:p>
        </p:txBody>
      </p:sp>
      <p:sp>
        <p:nvSpPr>
          <p:cNvPr id="7" name="box-2bgti1g">
            <a:extLst xmlns:a="http://schemas.openxmlformats.org/drawingml/2006/main">
              <a:ext uri="{FF2B5EF4-FFF2-40B4-BE49-F238E27FC236}">
                <a16:creationId xmlns:a16="http://schemas.microsoft.com/office/drawing/2014/main" id="{6FEB8E08-7561-4EAA-AAFE-7AACE676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3619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25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若只保存 (v,a)</a:t>
            </a:r>
          </a:p>
        </p:txBody>
      </p:sp>
      <p:sp>
        <p:nvSpPr>
          <p:cNvPr id="8" name="text-dnv1knt">
            <a:extLst xmlns:a="http://schemas.openxmlformats.org/drawingml/2006/main">
              <a:ext uri="{FF2B5EF4-FFF2-40B4-BE49-F238E27FC236}">
                <a16:creationId xmlns:a16="http://schemas.microsoft.com/office/drawing/2014/main" id="{86030D18-75D8-4B3B-AF77-15C4D6F5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無法知道這個候選前綴已經花過多少 c 的 quota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49BF4-7CB4-4E74-A71F-5044128D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0" name="text-3x17foz">
            <a:extLst xmlns:a="http://schemas.openxmlformats.org/drawingml/2006/main">
              <a:ext uri="{FF2B5EF4-FFF2-40B4-BE49-F238E27FC236}">
                <a16:creationId xmlns:a16="http://schemas.microsoft.com/office/drawing/2014/main" id="{F65F5B2D-6CEE-4EE5-8A0A-7C146C1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1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本頁重點：U 的功能是追蹤候選前綴的累積 contact 用量，支援 quota 檢查與 dominance。 </a:t>
            </a:r>
          </a:p>
        </p:txBody>
      </p:sp>
    </p:spTree>
    <p:extLst>
      <p:ext uri="{BB962C8B-B14F-4D97-AF65-F5344CB8AC3E}">
        <p14:creationId xmlns:p14="http://schemas.microsoft.com/office/powerpoint/2010/main" val="3531519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Label Extension：如何產生下一個 label">
            <a:extLst xmlns:a="http://schemas.openxmlformats.org/drawingml/2006/main">
              <a:ext uri="{FF2B5EF4-FFF2-40B4-BE49-F238E27FC236}">
                <a16:creationId xmlns:a16="http://schemas.microsoft.com/office/drawing/2014/main" id="{201969EB-5DF6-4C7E-AB18-BBB439BA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Extension：如何產生下一個 label</a:t>
            </a:r>
          </a:p>
        </p:txBody>
      </p:sp>
      <p:sp>
        <p:nvSpPr>
          <p:cNvPr id="2" name="box-45ywekr">
            <a:extLst xmlns:a="http://schemas.openxmlformats.org/drawingml/2006/main">
              <a:ext uri="{FF2B5EF4-FFF2-40B4-BE49-F238E27FC236}">
                <a16:creationId xmlns:a16="http://schemas.microsoft.com/office/drawing/2014/main" id="{9D16812F-DD8B-4CF6-8010-8BB77F3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L=(u,a,U)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A49FB-26F2-4D07-AF27-2E792F1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4" name="box-9q50qsk">
            <a:extLst xmlns:a="http://schemas.openxmlformats.org/drawingml/2006/main">
              <a:ext uri="{FF2B5EF4-FFF2-40B4-BE49-F238E27FC236}">
                <a16:creationId xmlns:a16="http://schemas.microsoft.com/office/drawing/2014/main" id="{CC17065C-9BB2-40B3-B8E3-4D2B37CC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選 outgoing c</a:t>
            </a:r>
          </a:p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列舉格點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8E4FB-B5D1-410A-8C1F-CC655C8F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</p:sp>
      <p:sp>
        <p:nvSpPr>
          <p:cNvPr id="6" name="box-jtxx5my">
            <a:extLst xmlns:a="http://schemas.openxmlformats.org/drawingml/2006/main">
              <a:ext uri="{FF2B5EF4-FFF2-40B4-BE49-F238E27FC236}">
                <a16:creationId xmlns:a16="http://schemas.microsoft.com/office/drawing/2014/main" id="{C6415B8A-CC73-47B3-877C-C43C5684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2143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計算 f、h、a'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E6A7-6BC4-453C-8854-3754339B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812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8" name="box-kipyh9n">
            <a:extLst xmlns:a="http://schemas.openxmlformats.org/drawingml/2006/main">
              <a:ext uri="{FF2B5EF4-FFF2-40B4-BE49-F238E27FC236}">
                <a16:creationId xmlns:a16="http://schemas.microsoft.com/office/drawing/2014/main" id="{9323C946-8BB4-4E2C-B3E6-419F845D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66875"/>
            <a:ext cx="1428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6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檢查 quota</a:t>
            </a:r>
          </a:p>
          <a:p xmlns:a="http://schemas.openxmlformats.org/drawingml/2006/main">
            <a:pPr algn="ctr">
              <a:defRPr sz="16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6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與兩端 buffer</a:t>
            </a:r>
          </a:p>
        </p:txBody>
      </p:sp>
      <p:sp>
        <p:nvSpPr>
          <p:cNvPr id="9" name="text-9nh2ky5">
            <a:extLst xmlns:a="http://schemas.openxmlformats.org/drawingml/2006/main">
              <a:ext uri="{FF2B5EF4-FFF2-40B4-BE49-F238E27FC236}">
                <a16:creationId xmlns:a16="http://schemas.microsoft.com/office/drawing/2014/main" id="{3036F59E-A2DF-49BF-BDDC-62229E6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S_c(L) = G_Δ ∩ [ max(a,α_c), min(ω_c−S/r_c, T−S/r_c−δ_c) ]</a:t>
            </a:r>
          </a:p>
        </p:txBody>
      </p:sp>
      <p:sp>
        <p:nvSpPr>
          <p:cNvPr id="10" name="box-65j9f84">
            <a:extLst xmlns:a="http://schemas.openxmlformats.org/drawingml/2006/main">
              <a:ext uri="{FF2B5EF4-FFF2-40B4-BE49-F238E27FC236}">
                <a16:creationId xmlns:a16="http://schemas.microsoft.com/office/drawing/2014/main" id="{1E28CA27-B0E0-40A3-A7BC-12E108AD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全部通過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27F09-8928-469F-8C68-506E18C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7675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12" name="box-a2skxrp">
            <a:extLst xmlns:a="http://schemas.openxmlformats.org/drawingml/2006/main">
              <a:ext uri="{FF2B5EF4-FFF2-40B4-BE49-F238E27FC236}">
                <a16:creationId xmlns:a16="http://schemas.microsoft.com/office/drawing/2014/main" id="{A1AE30B0-1C1A-4522-99EA-55F8ABA3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91000"/>
            <a:ext cx="3714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L'=(v, a', U+S e_c)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521BC-3168-4920-86A5-7D1DEB18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4" name="text-we7t00a">
            <a:extLst xmlns:a="http://schemas.openxmlformats.org/drawingml/2006/main">
              <a:ext uri="{FF2B5EF4-FFF2-40B4-BE49-F238E27FC236}">
                <a16:creationId xmlns:a16="http://schemas.microsoft.com/office/drawing/2014/main" id="{ED090614-CDE2-4757-B9B6-598F96B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本頁重點：列舉發生在每個 outgoing contact 的可用起送時間格點。 </a:t>
            </a:r>
          </a:p>
        </p:txBody>
      </p:sp>
    </p:spTree>
    <p:extLst>
      <p:ext uri="{BB962C8B-B14F-4D97-AF65-F5344CB8AC3E}">
        <p14:creationId xmlns:p14="http://schemas.microsoft.com/office/powerpoint/2010/main" val="2062069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Dominance：何時可刪除一個 label">
            <a:extLst xmlns:a="http://schemas.openxmlformats.org/drawingml/2006/main">
              <a:ext uri="{FF2B5EF4-FFF2-40B4-BE49-F238E27FC236}">
                <a16:creationId xmlns:a16="http://schemas.microsoft.com/office/drawing/2014/main" id="{E3EA3783-75B4-4200-B870-09883442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Dominance：何時可刪除一個 label</a:t>
            </a:r>
          </a:p>
        </p:txBody>
      </p:sp>
      <p:sp>
        <p:nvSpPr>
          <p:cNvPr id="2" name="box-k1aiihr">
            <a:extLst xmlns:a="http://schemas.openxmlformats.org/drawingml/2006/main">
              <a:ext uri="{FF2B5EF4-FFF2-40B4-BE49-F238E27FC236}">
                <a16:creationId xmlns:a16="http://schemas.microsoft.com/office/drawing/2014/main" id="{6813DA83-CA73-4C75-8E21-371F208D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3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L₁=(v,a₁,U₁)</a:t>
            </a:r>
          </a:p>
        </p:txBody>
      </p:sp>
      <p:sp>
        <p:nvSpPr>
          <p:cNvPr id="3" name="box-6d853mr">
            <a:extLst xmlns:a="http://schemas.openxmlformats.org/drawingml/2006/main">
              <a:ext uri="{FF2B5EF4-FFF2-40B4-BE49-F238E27FC236}">
                <a16:creationId xmlns:a16="http://schemas.microsoft.com/office/drawing/2014/main" id="{F6A30595-3423-49AB-895E-105ED510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32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L₂=(v,a₂,U₂)</a:t>
            </a:r>
          </a:p>
        </p:txBody>
      </p:sp>
      <p:sp>
        <p:nvSpPr>
          <p:cNvPr id="4" name="text-phz3g3w">
            <a:extLst xmlns:a="http://schemas.openxmlformats.org/drawingml/2006/main">
              <a:ext uri="{FF2B5EF4-FFF2-40B4-BE49-F238E27FC236}">
                <a16:creationId xmlns:a16="http://schemas.microsoft.com/office/drawing/2014/main" id="{758E8772-B3D2-44D1-B3B3-0301EA91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 支配 L₂，必須三項同時成立</a:t>
            </a:r>
          </a:p>
        </p:txBody>
      </p:sp>
      <p:sp>
        <p:nvSpPr>
          <p:cNvPr id="5" name="box-0c9fues">
            <a:extLst xmlns:a="http://schemas.openxmlformats.org/drawingml/2006/main">
              <a:ext uri="{FF2B5EF4-FFF2-40B4-BE49-F238E27FC236}">
                <a16:creationId xmlns:a16="http://schemas.microsoft.com/office/drawing/2014/main" id="{E618E7EA-EECE-4CC6-8470-5DB70D7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3143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① 不晚到</a:t>
            </a:r>
          </a:p>
          <a:p xmlns:a="http://schemas.openxmlformats.org/drawingml/2006/main">
            <a:pPr algn="ctr">
              <a:defRPr sz="187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a₁ ≤ a₂</a:t>
            </a:r>
          </a:p>
        </p:txBody>
      </p:sp>
      <p:sp>
        <p:nvSpPr>
          <p:cNvPr id="6" name="box-xu5rh3t">
            <a:extLst xmlns:a="http://schemas.openxmlformats.org/drawingml/2006/main">
              <a:ext uri="{FF2B5EF4-FFF2-40B4-BE49-F238E27FC236}">
                <a16:creationId xmlns:a16="http://schemas.microsoft.com/office/drawing/2014/main" id="{ECCC820F-C468-42ED-8AFE-6D035070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76625"/>
            <a:ext cx="3143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② 等得住</a:t>
            </a:r>
          </a:p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O_v(t)+S ≤ M_v，∀t∈[a₁,a₂]</a:t>
            </a:r>
          </a:p>
        </p:txBody>
      </p:sp>
      <p:sp>
        <p:nvSpPr>
          <p:cNvPr id="7" name="box-86g2cv5">
            <a:extLst xmlns:a="http://schemas.openxmlformats.org/drawingml/2006/main">
              <a:ext uri="{FF2B5EF4-FFF2-40B4-BE49-F238E27FC236}">
                <a16:creationId xmlns:a16="http://schemas.microsoft.com/office/drawing/2014/main" id="{72EEBF37-F861-4C6A-A600-E681E453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143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③ quota 不差</a:t>
            </a:r>
          </a:p>
          <a:p xmlns:a="http://schemas.openxmlformats.org/drawingml/2006/main">
            <a:pPr algn="ctr">
              <a:defRPr sz="1875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U₁[c] ≤ U₂[c]，∀c∈C</a:t>
            </a:r>
          </a:p>
        </p:txBody>
      </p:sp>
      <p:sp>
        <p:nvSpPr>
          <p:cNvPr id="8" name="text-a8hfixe">
            <a:extLst xmlns:a="http://schemas.openxmlformats.org/drawingml/2006/main">
              <a:ext uri="{FF2B5EF4-FFF2-40B4-BE49-F238E27FC236}">
                <a16:creationId xmlns:a16="http://schemas.microsoft.com/office/drawing/2014/main" id="{B0D256D6-6BBD-4D1F-B529-2576B4E4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成立後：L₁ 可等待到 a₂，再複製 L₂ 的任一可行後續安排。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D329A-403C-4F88-A3DB-803401A0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0" name="text-wz50e70">
            <a:extLst xmlns:a="http://schemas.openxmlformats.org/drawingml/2006/main">
              <a:ext uri="{FF2B5EF4-FFF2-40B4-BE49-F238E27FC236}">
                <a16:creationId xmlns:a16="http://schemas.microsoft.com/office/drawing/2014/main" id="{79064413-4A7A-437B-A2A9-9AFB028A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本頁重點：這是安全的充分條件，但尚未證明是最強的 pruning 規則。 </a:t>
            </a:r>
          </a:p>
        </p:txBody>
      </p:sp>
    </p:spTree>
    <p:extLst>
      <p:ext uri="{BB962C8B-B14F-4D97-AF65-F5344CB8AC3E}">
        <p14:creationId xmlns:p14="http://schemas.microsoft.com/office/powerpoint/2010/main" val="1200345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Queue Q 與演算法終止規則">
            <a:extLst xmlns:a="http://schemas.openxmlformats.org/drawingml/2006/main">
              <a:ext uri="{FF2B5EF4-FFF2-40B4-BE49-F238E27FC236}">
                <a16:creationId xmlns:a16="http://schemas.microsoft.com/office/drawing/2014/main" id="{B6126231-6637-4977-BDA9-1454731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Queue Q 與演算法終止規則</a:t>
            </a:r>
          </a:p>
        </p:txBody>
      </p:sp>
      <p:sp>
        <p:nvSpPr>
          <p:cNvPr id="2" name="box-gl4qttz">
            <a:extLst xmlns:a="http://schemas.openxmlformats.org/drawingml/2006/main">
              <a:ext uri="{FF2B5EF4-FFF2-40B4-BE49-F238E27FC236}">
                <a16:creationId xmlns:a16="http://schemas.microsoft.com/office/drawing/2014/main" id="{ED9E2928-F77E-4490-B81F-4FC6173A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Q：依完整到達時間 a 排序</a:t>
            </a:r>
          </a:p>
        </p:txBody>
      </p:sp>
      <p:sp>
        <p:nvSpPr>
          <p:cNvPr id="3" name="box-ju435ef">
            <a:extLst xmlns:a="http://schemas.openxmlformats.org/drawingml/2006/main">
              <a:ext uri="{FF2B5EF4-FFF2-40B4-BE49-F238E27FC236}">
                <a16:creationId xmlns:a16="http://schemas.microsoft.com/office/drawing/2014/main" id="{E83456BF-27EE-4761-A605-4C3FE87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9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L₃</a:t>
            </a:r>
          </a:p>
          <a:p xmlns:a="http://schemas.openxmlformats.org/drawingml/2006/main">
            <a:pPr algn="ctr">
              <a:defRPr sz="18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(B,3,U₃)</a:t>
            </a:r>
          </a:p>
        </p:txBody>
      </p:sp>
      <p:sp>
        <p:nvSpPr>
          <p:cNvPr id="4" name="box-oazz2rv">
            <a:extLst xmlns:a="http://schemas.openxmlformats.org/drawingml/2006/main">
              <a:ext uri="{FF2B5EF4-FFF2-40B4-BE49-F238E27FC236}">
                <a16:creationId xmlns:a16="http://schemas.microsoft.com/office/drawing/2014/main" id="{2BAECF0B-F530-43A0-AF65-5720FFD7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9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L₇</a:t>
            </a:r>
          </a:p>
          <a:p xmlns:a="http://schemas.openxmlformats.org/drawingml/2006/main">
            <a:pPr algn="ctr">
              <a:defRPr sz="187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(C,5,U₇)</a:t>
            </a:r>
          </a:p>
        </p:txBody>
      </p:sp>
      <p:sp>
        <p:nvSpPr>
          <p:cNvPr id="5" name="box-i8om0ny">
            <a:extLst xmlns:a="http://schemas.openxmlformats.org/drawingml/2006/main">
              <a:ext uri="{FF2B5EF4-FFF2-40B4-BE49-F238E27FC236}">
                <a16:creationId xmlns:a16="http://schemas.microsoft.com/office/drawing/2014/main" id="{C4E457BE-7D0A-4C1F-AA82-79B72FFA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(D,8,U₄)</a:t>
            </a:r>
          </a:p>
        </p:txBody>
      </p:sp>
      <p:sp>
        <p:nvSpPr>
          <p:cNvPr id="6" name="box-9a0zxxp">
            <a:extLst xmlns:a="http://schemas.openxmlformats.org/drawingml/2006/main">
              <a:ext uri="{FF2B5EF4-FFF2-40B4-BE49-F238E27FC236}">
                <a16:creationId xmlns:a16="http://schemas.microsoft.com/office/drawing/2014/main" id="{6E446B0F-6A96-4123-803C-3CDFC3EC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9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666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L₉</a:t>
            </a:r>
          </a:p>
          <a:p xmlns:a="http://schemas.openxmlformats.org/drawingml/2006/main">
            <a:pPr algn="ctr">
              <a:defRPr sz="1875" b="1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(B,11,U₉)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9704E-D3B3-4E37-80A7-8786E41E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F6932-189B-4E69-A8B2-F645A0BF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E34A5-7559-4FE1-84B2-AF987120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0" name="text-eaucw2d">
            <a:extLst xmlns:a="http://schemas.openxmlformats.org/drawingml/2006/main">
              <a:ext uri="{FF2B5EF4-FFF2-40B4-BE49-F238E27FC236}">
                <a16:creationId xmlns:a16="http://schemas.microsoft.com/office/drawing/2014/main" id="{BE798F6B-7D32-40F7-A0FB-FAA5F51C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91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每次取出最小 a 的 active label → 延伸 → dominance → 新 labels 放回 Q</a:t>
            </a:r>
          </a:p>
        </p:txBody>
      </p:sp>
      <p:sp>
        <p:nvSpPr>
          <p:cNvPr id="11" name="box-1d3z7zw">
            <a:extLst xmlns:a="http://schemas.openxmlformats.org/drawingml/2006/main">
              <a:ext uri="{FF2B5EF4-FFF2-40B4-BE49-F238E27FC236}">
                <a16:creationId xmlns:a16="http://schemas.microsoft.com/office/drawing/2014/main" id="{36B54E31-7DDD-4E65-ABA6-CC771656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62500"/>
            <a:ext cx="7524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只有當有效目的地 label 從 Q 取出時才終止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9B797-2F17-4761-AF72-5B052672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3" name="text-lkwf7jh">
            <a:extLst xmlns:a="http://schemas.openxmlformats.org/drawingml/2006/main">
              <a:ext uri="{FF2B5EF4-FFF2-40B4-BE49-F238E27FC236}">
                <a16:creationId xmlns:a16="http://schemas.microsoft.com/office/drawing/2014/main" id="{328C73F8-AFCE-4DFF-8A01-249BFF4E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本頁重點：第一次產生目的地 label 時不能立刻停止。 </a:t>
            </a:r>
          </a:p>
        </p:txBody>
      </p:sp>
    </p:spTree>
    <p:extLst>
      <p:ext uri="{BB962C8B-B14F-4D97-AF65-F5344CB8AC3E}">
        <p14:creationId xmlns:p14="http://schemas.microsoft.com/office/powerpoint/2010/main" val="9748738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單一 Bundle 的完整搜尋流程">
            <a:extLst xmlns:a="http://schemas.openxmlformats.org/drawingml/2006/main">
              <a:ext uri="{FF2B5EF4-FFF2-40B4-BE49-F238E27FC236}">
                <a16:creationId xmlns:a16="http://schemas.microsoft.com/office/drawing/2014/main" id="{39C693D0-D2E6-4A8D-A0ED-36E3C218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單一 Bundle 的完整搜尋流程</a:t>
            </a:r>
          </a:p>
        </p:txBody>
      </p:sp>
      <p:sp>
        <p:nvSpPr>
          <p:cNvPr id="2" name="box-0k9f3yi">
            <a:extLst xmlns:a="http://schemas.openxmlformats.org/drawingml/2006/main">
              <a:ext uri="{FF2B5EF4-FFF2-40B4-BE49-F238E27FC236}">
                <a16:creationId xmlns:a16="http://schemas.microsoft.com/office/drawing/2014/main" id="{5B0A8A02-05EC-48FF-BB20-9BA37E48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 初始化</a:t>
            </a:r>
          </a:p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檢查 source buffer</a:t>
            </a:r>
          </a:p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L₀=(o,g,0)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0A310-EB35-49D6-97BA-0C16FE2B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47875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4" name="box-ffih3zz">
            <a:extLst xmlns:a="http://schemas.openxmlformats.org/drawingml/2006/main">
              <a:ext uri="{FF2B5EF4-FFF2-40B4-BE49-F238E27FC236}">
                <a16:creationId xmlns:a16="http://schemas.microsoft.com/office/drawing/2014/main" id="{CE4C3C1E-85BB-4769-AA1F-2FE34B94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2 取 label</a:t>
            </a:r>
          </a:p>
          <a:p xmlns:a="http://schemas.openxmlformats.org/drawingml/2006/main">
            <a:pPr algn="ctr">
              <a:defRPr sz="18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從 Q 取最小 a</a:t>
            </a:r>
          </a:p>
          <a:p xmlns:a="http://schemas.openxmlformats.org/drawingml/2006/main">
            <a:pPr algn="ctr">
              <a:defRPr sz="1800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跳過 inactive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1200A-DC7C-4EED-82FB-ADEDB3D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</p:sp>
      <p:sp>
        <p:nvSpPr>
          <p:cNvPr id="6" name="box-4hhaj6m">
            <a:extLst xmlns:a="http://schemas.openxmlformats.org/drawingml/2006/main">
              <a:ext uri="{FF2B5EF4-FFF2-40B4-BE49-F238E27FC236}">
                <a16:creationId xmlns:a16="http://schemas.microsoft.com/office/drawing/2014/main" id="{C1BB4855-A749-4DB1-BCA2-3A9AE0B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3 列舉延伸</a:t>
            </a:r>
          </a:p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outgoing contact</a:t>
            </a:r>
          </a:p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與起送格點 s</a:t>
            </a:r>
          </a:p>
        </p:txBody>
      </p:sp>
      <p:sp>
        <p:nvSpPr>
          <p:cNvPr id="7" name="box-48tn9rg">
            <a:extLst xmlns:a="http://schemas.openxmlformats.org/drawingml/2006/main">
              <a:ext uri="{FF2B5EF4-FFF2-40B4-BE49-F238E27FC236}">
                <a16:creationId xmlns:a16="http://schemas.microsoft.com/office/drawing/2014/main" id="{47C8923D-F4CF-462F-A3B9-FB0F3D05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4 可行性檢查</a:t>
            </a:r>
          </a:p>
          <a:p xmlns:a="http://schemas.openxmlformats.org/drawingml/2006/main">
            <a:pPr algn="ctr">
              <a:defRPr sz="18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window、quota、</a:t>
            </a:r>
          </a:p>
          <a:p xmlns:a="http://schemas.openxmlformats.org/drawingml/2006/main">
            <a:pPr algn="ctr">
              <a:defRPr sz="18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兩端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F41EB-C944-4900-95C9-9111ABF3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0050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9" name="box-7fvce8t">
            <a:extLst xmlns:a="http://schemas.openxmlformats.org/drawingml/2006/main">
              <a:ext uri="{FF2B5EF4-FFF2-40B4-BE49-F238E27FC236}">
                <a16:creationId xmlns:a16="http://schemas.microsoft.com/office/drawing/2014/main" id="{BD718CE5-D3B2-4029-9206-87E68155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3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5 Dominance</a:t>
            </a:r>
          </a:p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丟棄新 label 或</a:t>
            </a:r>
          </a:p>
          <a:p xmlns:a="http://schemas.openxmlformats.org/drawingml/2006/main">
            <a:pPr algn="ctr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停用被支配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C6873-EF79-4212-A759-5029067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11" name="box-j1cm4qu">
            <a:extLst xmlns:a="http://schemas.openxmlformats.org/drawingml/2006/main">
              <a:ext uri="{FF2B5EF4-FFF2-40B4-BE49-F238E27FC236}">
                <a16:creationId xmlns:a16="http://schemas.microsoft.com/office/drawing/2014/main" id="{5419CA92-53A7-435E-9026-5816F50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6 終止</a:t>
            </a:r>
          </a:p>
          <a:p xmlns:a="http://schemas.openxmlformats.org/drawingml/2006/main">
            <a:pPr algn="ctr">
              <a:defRPr sz="18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取出目的地 label</a:t>
            </a:r>
          </a:p>
          <a:p xmlns:a="http://schemas.openxmlformats.org/drawingml/2006/main">
            <a:pPr algn="ctr">
              <a:defRPr sz="18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或 Q 為空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BC28B-9B34-4DB1-AC19-8856E0D4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0375"/>
            <a:ext cx="381000" cy="1190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3" name="text-zwes7oh">
            <a:extLst xmlns:a="http://schemas.openxmlformats.org/drawingml/2006/main">
              <a:ext uri="{FF2B5EF4-FFF2-40B4-BE49-F238E27FC236}">
                <a16:creationId xmlns:a16="http://schemas.microsoft.com/office/drawing/2014/main" id="{5B9C865C-27E0-4078-92A3-38F2194C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非空且尚未取出目的地 label 時重複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211F3-E20F-4C37-BAAA-DD7821B4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5" name="text-1pzvigk">
            <a:extLst xmlns:a="http://schemas.openxmlformats.org/drawingml/2006/main">
              <a:ext uri="{FF2B5EF4-FFF2-40B4-BE49-F238E27FC236}">
                <a16:creationId xmlns:a16="http://schemas.microsoft.com/office/drawing/2014/main" id="{05BC930D-2E3A-4F9E-B0EA-E61406B3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本頁重點：此流程在有限格點與有限期限下產生有限候選並終止。 </a:t>
            </a:r>
          </a:p>
        </p:txBody>
      </p:sp>
    </p:spTree>
    <p:extLst>
      <p:ext uri="{BB962C8B-B14F-4D97-AF65-F5344CB8AC3E}">
        <p14:creationId xmlns:p14="http://schemas.microsoft.com/office/powerpoint/2010/main" val="19763580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多個 Bundles：依序搜尋與預約">
            <a:extLst xmlns:a="http://schemas.openxmlformats.org/drawingml/2006/main">
              <a:ext uri="{FF2B5EF4-FFF2-40B4-BE49-F238E27FC236}">
                <a16:creationId xmlns:a16="http://schemas.microsoft.com/office/drawing/2014/main" id="{27F9361B-1392-4578-8082-1DF4B651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多個 Bundles：依序搜尋與預約</a:t>
            </a:r>
          </a:p>
        </p:txBody>
      </p:sp>
      <p:sp>
        <p:nvSpPr>
          <p:cNvPr id="2" name="box-pplm9zu">
            <a:extLst xmlns:a="http://schemas.openxmlformats.org/drawingml/2006/main">
              <a:ext uri="{FF2B5EF4-FFF2-40B4-BE49-F238E27FC236}">
                <a16:creationId xmlns:a16="http://schemas.microsoft.com/office/drawing/2014/main" id="{C03CAE22-1E3D-4504-9F80-847FE3BB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C7850-EC1B-48C1-9A8E-181FBC5E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716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4" name="box-ty9ytg2">
            <a:extLst xmlns:a="http://schemas.openxmlformats.org/drawingml/2006/main">
              <a:ext uri="{FF2B5EF4-FFF2-40B4-BE49-F238E27FC236}">
                <a16:creationId xmlns:a16="http://schemas.microsoft.com/office/drawing/2014/main" id="{40B2510F-D83A-41AA-BFC7-B9133C0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以目前 R、O 搜尋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3922B-C90C-4FB8-8B94-665BACCE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</p:sp>
      <p:sp>
        <p:nvSpPr>
          <p:cNvPr id="6" name="box-ny71ga6">
            <a:extLst xmlns:a="http://schemas.openxmlformats.org/drawingml/2006/main">
              <a:ext uri="{FF2B5EF4-FFF2-40B4-BE49-F238E27FC236}">
                <a16:creationId xmlns:a16="http://schemas.microsoft.com/office/drawing/2014/main" id="{745F3627-5AA5-4CC0-93C6-C657367D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145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驗證完整路徑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65859-FD09-43A9-9D37-EFA69B09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716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8" name="box-1opnfq6">
            <a:extLst xmlns:a="http://schemas.openxmlformats.org/drawingml/2006/main">
              <a:ext uri="{FF2B5EF4-FFF2-40B4-BE49-F238E27FC236}">
                <a16:creationId xmlns:a16="http://schemas.microsoft.com/office/drawing/2014/main" id="{2ACB8C78-FB2C-4D7F-AA97-1562F13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809750"/>
            <a:ext cx="114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更新 R、O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C069B-5695-4DB4-A260-F8BB9528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00375"/>
            <a:ext cx="381000" cy="857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D9E3"/>
          </a:solidFill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0" name="box-0qvgesq">
            <a:extLst xmlns:a="http://schemas.openxmlformats.org/drawingml/2006/main">
              <a:ext uri="{FF2B5EF4-FFF2-40B4-BE49-F238E27FC236}">
                <a16:creationId xmlns:a16="http://schemas.microsoft.com/office/drawing/2014/main" id="{7C8C7735-C007-4F2D-B478-7463E06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1FA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65BC6-589A-4AA8-85C2-FC77B27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0055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12" name="box-5g88gqa">
            <a:extLst xmlns:a="http://schemas.openxmlformats.org/drawingml/2006/main">
              <a:ext uri="{FF2B5EF4-FFF2-40B4-BE49-F238E27FC236}">
                <a16:creationId xmlns:a16="http://schemas.microsoft.com/office/drawing/2014/main" id="{3524C204-BBEF-4CF9-A54F-410F5EF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3714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用 A 更新後的 R、O 搜尋</a:t>
            </a:r>
          </a:p>
        </p:txBody>
      </p:sp>
      <p:sp>
        <p:nvSpPr>
          <p:cNvPr id="13" name="text-q1dlb8m">
            <a:extLst xmlns:a="http://schemas.openxmlformats.org/drawingml/2006/main">
              <a:ext uri="{FF2B5EF4-FFF2-40B4-BE49-F238E27FC236}">
                <a16:creationId xmlns:a16="http://schemas.microsoft.com/office/drawing/2014/main" id="{68B13641-E80B-4356-BF8D-9CDBE50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接受後：R_c ← R_c − U*[c]；O_v(t) ← O_v(t)+B*_v(t)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B60AE-2994-40EB-B6E7-1A21757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5" name="text-tj9s2pj">
            <a:extLst xmlns:a="http://schemas.openxmlformats.org/drawingml/2006/main">
              <a:ext uri="{FF2B5EF4-FFF2-40B4-BE49-F238E27FC236}">
                <a16:creationId xmlns:a16="http://schemas.microsoft.com/office/drawing/2014/main" id="{31E1865D-6635-4B7B-9E2A-1BD46860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本頁重點：先路由的 bundle 先取得資源；結果會受到 bundle 順序影響。 </a:t>
            </a:r>
          </a:p>
        </p:txBody>
      </p:sp>
    </p:spTree>
    <p:extLst>
      <p:ext uri="{BB962C8B-B14F-4D97-AF65-F5344CB8AC3E}">
        <p14:creationId xmlns:p14="http://schemas.microsoft.com/office/powerpoint/2010/main" val="4996251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目前最重要的模型界線與下一步">
            <a:extLst xmlns:a="http://schemas.openxmlformats.org/drawingml/2006/main">
              <a:ext uri="{FF2B5EF4-FFF2-40B4-BE49-F238E27FC236}">
                <a16:creationId xmlns:a16="http://schemas.microsoft.com/office/drawing/2014/main" id="{020EF5EC-73CD-4038-9086-A2298B04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目前最重要的模型界線與下一步</a:t>
            </a:r>
          </a:p>
        </p:txBody>
      </p:sp>
      <p:sp>
        <p:nvSpPr>
          <p:cNvPr id="2" name="text-h82dsw3">
            <a:extLst xmlns:a="http://schemas.openxmlformats.org/drawingml/2006/main">
              <a:ext uri="{FF2B5EF4-FFF2-40B4-BE49-F238E27FC236}">
                <a16:creationId xmlns:a16="http://schemas.microsoft.com/office/drawing/2014/main" id="{F87AACA5-1F75-43E7-BC48-5F7A521B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反例：同一個 1 MB/s contact，窗口 [0,2)，兩個 2 MB bundles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B38A8-5996-40FA-8A9C-9F2A607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781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2222"/>
            </a:solidFill>
          </a:ln>
        </p:spPr>
      </p:sp>
      <p:sp>
        <p:nvSpPr>
          <p:cNvPr id="4" name="text-nkrsi47">
            <a:extLst xmlns:a="http://schemas.openxmlformats.org/drawingml/2006/main">
              <a:ext uri="{FF2B5EF4-FFF2-40B4-BE49-F238E27FC236}">
                <a16:creationId xmlns:a16="http://schemas.microsoft.com/office/drawing/2014/main" id="{E4FC5E18-BD6E-42B1-9329-6FA8086C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" name="text-vc5qe9r">
            <a:extLst xmlns:a="http://schemas.openxmlformats.org/drawingml/2006/main">
              <a:ext uri="{FF2B5EF4-FFF2-40B4-BE49-F238E27FC236}">
                <a16:creationId xmlns:a16="http://schemas.microsoft.com/office/drawing/2014/main" id="{C277E12F-6036-4B29-8BE0-88A35508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 秒</a:t>
            </a:r>
          </a:p>
        </p:txBody>
      </p:sp>
      <p:sp>
        <p:nvSpPr>
          <p:cNvPr id="6" name="box-vd4x0rb">
            <a:extLst xmlns:a="http://schemas.openxmlformats.org/drawingml/2006/main">
              <a:ext uri="{FF2B5EF4-FFF2-40B4-BE49-F238E27FC236}">
                <a16:creationId xmlns:a16="http://schemas.microsoft.com/office/drawing/2014/main" id="{4854BBA7-B7BE-4C0B-8840-F8D1D990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7334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A6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2563A6"/>
                </a:solidFill>
                <a:latin typeface="DFKai-SB"/>
                <a:ea typeface="DFKai-SB"/>
                <a:cs typeface="DFKai-SB"/>
              </a:rPr>
              <a:t>A：需要整段 [0,2)</a:t>
            </a:r>
          </a:p>
        </p:txBody>
      </p:sp>
      <p:sp>
        <p:nvSpPr>
          <p:cNvPr id="7" name="box-bybgvi7">
            <a:extLst xmlns:a="http://schemas.openxmlformats.org/drawingml/2006/main">
              <a:ext uri="{FF2B5EF4-FFF2-40B4-BE49-F238E27FC236}">
                <a16:creationId xmlns:a16="http://schemas.microsoft.com/office/drawing/2014/main" id="{882A350D-1452-475E-8607-269BF90A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7334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B：若也排 [0,2)，實際需求變成 2 MB/s</a:t>
            </a:r>
          </a:p>
        </p:txBody>
      </p:sp>
      <p:sp>
        <p:nvSpPr>
          <p:cNvPr id="8" name="box-vkqyp94">
            <a:extLst xmlns:a="http://schemas.openxmlformats.org/drawingml/2006/main">
              <a:ext uri="{FF2B5EF4-FFF2-40B4-BE49-F238E27FC236}">
                <a16:creationId xmlns:a16="http://schemas.microsoft.com/office/drawing/2014/main" id="{90A24D4D-E065-4DCD-B252-81084831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Aggregate quota 可能通過</a:t>
            </a:r>
          </a:p>
        </p:txBody>
      </p:sp>
      <p:sp>
        <p:nvSpPr>
          <p:cNvPr id="9" name="box-vhvvikb">
            <a:extLst xmlns:a="http://schemas.openxmlformats.org/drawingml/2006/main">
              <a:ext uri="{FF2B5EF4-FFF2-40B4-BE49-F238E27FC236}">
                <a16:creationId xmlns:a16="http://schemas.microsoft.com/office/drawing/2014/main" id="{D43BB00A-4534-4DA0-8B4E-A39654DA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19050">
            <a:solidFill>
              <a:srgbClr val="B32C2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725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物理排程不可行</a:t>
            </a:r>
          </a:p>
        </p:txBody>
      </p:sp>
      <p:sp>
        <p:nvSpPr>
          <p:cNvPr id="10" name="text-dbrjk94">
            <a:extLst xmlns:a="http://schemas.openxmlformats.org/drawingml/2006/main">
              <a:ext uri="{FF2B5EF4-FFF2-40B4-BE49-F238E27FC236}">
                <a16:creationId xmlns:a16="http://schemas.microsoft.com/office/drawing/2014/main" id="{5EC5E50C-F053-4ABE-80A3-934DA0F3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67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下一步候選：把每個 contact 的已占用區間 Ω_c 納入 label extension 與接受後更新。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9679C-2647-43C9-8788-86D4310F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E3"/>
            </a:solidFill>
          </a:ln>
        </p:spPr>
      </p:sp>
      <p:sp>
        <p:nvSpPr>
          <p:cNvPr id="12" name="text-rrvazoy">
            <a:extLst xmlns:a="http://schemas.openxmlformats.org/drawingml/2006/main">
              <a:ext uri="{FF2B5EF4-FFF2-40B4-BE49-F238E27FC236}">
                <a16:creationId xmlns:a16="http://schemas.microsoft.com/office/drawing/2014/main" id="{0E879B00-03EE-47F7-8E9E-21629407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5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本頁重點：現行成果可作為 baseline；要主張實際 link 排程可行，必須再加入 transmission calendar。 </a:t>
            </a:r>
          </a:p>
        </p:txBody>
      </p:sp>
    </p:spTree>
    <p:extLst>
      <p:ext uri="{BB962C8B-B14F-4D97-AF65-F5344CB8AC3E}">
        <p14:creationId xmlns:p14="http://schemas.microsoft.com/office/powerpoint/2010/main" val="1105273064"/>
      </p:ext>
    </p:extLst>
  </p:cSld>
</p:sld>
</file>

<file path=ppt/theme/theme1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2026-10-06T13:03:44.6890000Z</dcterms:created>
  <dcterms:modified xsi:type="dcterms:W3CDTF">2026-10-06T13:03:44.6890000Z</dcterms:modified>
</coreProperties>
</file>