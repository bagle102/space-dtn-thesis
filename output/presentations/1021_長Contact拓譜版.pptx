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40a0abde04567" /><Relationship Type="http://schemas.openxmlformats.org/officeDocument/2006/relationships/extended-properties" Target="/docProps/app.xml" Id="R8d4805354027414d" /><Relationship Type="http://schemas.openxmlformats.org/officeDocument/2006/relationships/officeDocument" Target="/ppt/presentation.xml" Id="Rac45647a358044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d29bc2c8349ec"/>
  </p:sldMasterIdLst>
  <p:notesMasterIdLst>
    <p:notesMasterId xmlns:r="http://schemas.openxmlformats.org/officeDocument/2006/relationships" r:id="Rbac0d967ccdf4f34"/>
  </p:notesMasterIdLst>
  <p:sldIdLst>
    <p:sldId xmlns:r="http://schemas.openxmlformats.org/officeDocument/2006/relationships" id="256" r:id="R20bd11c7cc1a497c"/>
    <p:sldId xmlns:r="http://schemas.openxmlformats.org/officeDocument/2006/relationships" id="257" r:id="R3814dc2bdd5d46e9"/>
    <p:sldId xmlns:r="http://schemas.openxmlformats.org/officeDocument/2006/relationships" id="258" r:id="R2fc7963873ac469f"/>
    <p:sldId xmlns:r="http://schemas.openxmlformats.org/officeDocument/2006/relationships" id="259" r:id="Rb4fa27f54a1147b6"/>
    <p:sldId xmlns:r="http://schemas.openxmlformats.org/officeDocument/2006/relationships" id="260" r:id="Reec6bacb97164918"/>
    <p:sldId xmlns:r="http://schemas.openxmlformats.org/officeDocument/2006/relationships" id="261" r:id="R64c885c8a62c4258"/>
    <p:sldId xmlns:r="http://schemas.openxmlformats.org/officeDocument/2006/relationships" id="262" r:id="R704b9ff2471c474b"/>
    <p:sldId xmlns:r="http://schemas.openxmlformats.org/officeDocument/2006/relationships" id="263" r:id="R202b85d52c044f5c"/>
    <p:sldId xmlns:r="http://schemas.openxmlformats.org/officeDocument/2006/relationships" id="264" r:id="R58437a51afb44b1e"/>
    <p:sldId xmlns:r="http://schemas.openxmlformats.org/officeDocument/2006/relationships" id="265" r:id="Reb11119540b7497a"/>
    <p:sldId xmlns:r="http://schemas.openxmlformats.org/officeDocument/2006/relationships" id="266" r:id="Re60c2ea25b5245ed"/>
    <p:sldId xmlns:r="http://schemas.openxmlformats.org/officeDocument/2006/relationships" id="267" r:id="Rbc6eb5f1f27c40f8"/>
    <p:sldId xmlns:r="http://schemas.openxmlformats.org/officeDocument/2006/relationships" id="268" r:id="R804ee8be6f494e05"/>
    <p:sldId xmlns:r="http://schemas.openxmlformats.org/officeDocument/2006/relationships" id="269" r:id="Rcf898824162b4533"/>
    <p:sldId xmlns:r="http://schemas.openxmlformats.org/officeDocument/2006/relationships" id="270" r:id="R328c6b755c2f4f23"/>
    <p:sldId xmlns:r="http://schemas.openxmlformats.org/officeDocument/2006/relationships" id="271" r:id="Rf51edfaf62f14493"/>
    <p:sldId xmlns:r="http://schemas.openxmlformats.org/officeDocument/2006/relationships" id="272" r:id="R9072b6e083ca4070"/>
    <p:sldId xmlns:r="http://schemas.openxmlformats.org/officeDocument/2006/relationships" id="273" r:id="Rd5daf8c9c8f04bdc"/>
    <p:sldId xmlns:r="http://schemas.openxmlformats.org/officeDocument/2006/relationships" id="274" r:id="R6c978b7fdbe64cea"/>
    <p:sldId xmlns:r="http://schemas.openxmlformats.org/officeDocument/2006/relationships" id="275" r:id="R3cf835b1d1114cdc"/>
    <p:sldId xmlns:r="http://schemas.openxmlformats.org/officeDocument/2006/relationships" id="276" r:id="R7c8019cfbc3e44bb"/>
    <p:sldId xmlns:r="http://schemas.openxmlformats.org/officeDocument/2006/relationships" id="277" r:id="R156dda2d097e4491"/>
    <p:sldId xmlns:r="http://schemas.openxmlformats.org/officeDocument/2006/relationships" id="278" r:id="R956d0321c57445d6"/>
    <p:sldId xmlns:r="http://schemas.openxmlformats.org/officeDocument/2006/relationships" id="279" r:id="Rbbd8cf9050d54e37"/>
    <p:sldId xmlns:r="http://schemas.openxmlformats.org/officeDocument/2006/relationships" id="280" r:id="R0f60bd5d62c446d7"/>
    <p:sldId xmlns:r="http://schemas.openxmlformats.org/officeDocument/2006/relationships" id="281" r:id="Raef763372114419c"/>
    <p:sldId xmlns:r="http://schemas.openxmlformats.org/officeDocument/2006/relationships" id="282" r:id="R88c03208159944aa"/>
    <p:sldId xmlns:r="http://schemas.openxmlformats.org/officeDocument/2006/relationships" id="283" r:id="Rc50f742595a44612"/>
    <p:sldId xmlns:r="http://schemas.openxmlformats.org/officeDocument/2006/relationships" id="284" r:id="R085f935596014faf"/>
    <p:sldId xmlns:r="http://schemas.openxmlformats.org/officeDocument/2006/relationships" id="285" r:id="R8556995af40e4cf5"/>
    <p:sldId xmlns:r="http://schemas.openxmlformats.org/officeDocument/2006/relationships" id="286" r:id="R9f2396bdf0a74ef4"/>
    <p:sldId xmlns:r="http://schemas.openxmlformats.org/officeDocument/2006/relationships" id="287" r:id="Rd776210547c14de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3efa86d3a84db7" /><Relationship Type="http://schemas.openxmlformats.org/officeDocument/2006/relationships/slideMaster" Target="/ppt/slideMasters/slideMaster1.xml" Id="R716d29bc2c8349ec" /><Relationship Type="http://schemas.openxmlformats.org/officeDocument/2006/relationships/notesMaster" Target="/ppt/notesMasters/notesMaster1.xml" Id="Rbac0d967ccdf4f34" /><Relationship Type="http://schemas.openxmlformats.org/officeDocument/2006/relationships/presProps" Target="/ppt/presProps.xml" Id="Rd1fd57b5f34b4835" /><Relationship Type="http://schemas.openxmlformats.org/officeDocument/2006/relationships/viewProps" Target="/ppt/viewProps.xml" Id="R437159dfff5e45bd" /><Relationship Type="http://schemas.openxmlformats.org/officeDocument/2006/relationships/tableStyles" Target="/ppt/tableStyles.xml" Id="Rf5bf799bea824004" /><Relationship Type="http://schemas.openxmlformats.org/officeDocument/2006/relationships/slide" Target="/ppt/slides/slide1.xml" Id="R20bd11c7cc1a497c" /><Relationship Type="http://schemas.openxmlformats.org/officeDocument/2006/relationships/slide" Target="/ppt/slides/slide2.xml" Id="R3814dc2bdd5d46e9" /><Relationship Type="http://schemas.openxmlformats.org/officeDocument/2006/relationships/slide" Target="/ppt/slides/slide3.xml" Id="R2fc7963873ac469f" /><Relationship Type="http://schemas.openxmlformats.org/officeDocument/2006/relationships/slide" Target="/ppt/slides/slide4.xml" Id="Rb4fa27f54a1147b6" /><Relationship Type="http://schemas.openxmlformats.org/officeDocument/2006/relationships/slide" Target="/ppt/slides/slide5.xml" Id="Reec6bacb97164918" /><Relationship Type="http://schemas.openxmlformats.org/officeDocument/2006/relationships/slide" Target="/ppt/slides/slide6.xml" Id="R64c885c8a62c4258" /><Relationship Type="http://schemas.openxmlformats.org/officeDocument/2006/relationships/slide" Target="/ppt/slides/slide7.xml" Id="R704b9ff2471c474b" /><Relationship Type="http://schemas.openxmlformats.org/officeDocument/2006/relationships/slide" Target="/ppt/slides/slide8.xml" Id="R202b85d52c044f5c" /><Relationship Type="http://schemas.openxmlformats.org/officeDocument/2006/relationships/slide" Target="/ppt/slides/slide9.xml" Id="R58437a51afb44b1e" /><Relationship Type="http://schemas.openxmlformats.org/officeDocument/2006/relationships/slide" Target="/ppt/slides/slide10.xml" Id="Reb11119540b7497a" /><Relationship Type="http://schemas.openxmlformats.org/officeDocument/2006/relationships/slide" Target="/ppt/slides/slide11.xml" Id="Re60c2ea25b5245ed" /><Relationship Type="http://schemas.openxmlformats.org/officeDocument/2006/relationships/slide" Target="/ppt/slides/slide12.xml" Id="Rbc6eb5f1f27c40f8" /><Relationship Type="http://schemas.openxmlformats.org/officeDocument/2006/relationships/slide" Target="/ppt/slides/slide13.xml" Id="R804ee8be6f494e05" /><Relationship Type="http://schemas.openxmlformats.org/officeDocument/2006/relationships/slide" Target="/ppt/slides/slide14.xml" Id="Rcf898824162b4533" /><Relationship Type="http://schemas.openxmlformats.org/officeDocument/2006/relationships/slide" Target="/ppt/slides/slide15.xml" Id="R328c6b755c2f4f23" /><Relationship Type="http://schemas.openxmlformats.org/officeDocument/2006/relationships/slide" Target="/ppt/slides/slide16.xml" Id="Rf51edfaf62f14493" /><Relationship Type="http://schemas.openxmlformats.org/officeDocument/2006/relationships/slide" Target="/ppt/slides/slide17.xml" Id="R9072b6e083ca4070" /><Relationship Type="http://schemas.openxmlformats.org/officeDocument/2006/relationships/slide" Target="/ppt/slides/slide18.xml" Id="Rd5daf8c9c8f04bdc" /><Relationship Type="http://schemas.openxmlformats.org/officeDocument/2006/relationships/slide" Target="/ppt/slides/slide19.xml" Id="R6c978b7fdbe64cea" /><Relationship Type="http://schemas.openxmlformats.org/officeDocument/2006/relationships/slide" Target="/ppt/slides/slide20.xml" Id="R3cf835b1d1114cdc" /><Relationship Type="http://schemas.openxmlformats.org/officeDocument/2006/relationships/slide" Target="/ppt/slides/slide21.xml" Id="R7c8019cfbc3e44bb" /><Relationship Type="http://schemas.openxmlformats.org/officeDocument/2006/relationships/slide" Target="/ppt/slides/slide22.xml" Id="R156dda2d097e4491" /><Relationship Type="http://schemas.openxmlformats.org/officeDocument/2006/relationships/slide" Target="/ppt/slides/slide23.xml" Id="R956d0321c57445d6" /><Relationship Type="http://schemas.openxmlformats.org/officeDocument/2006/relationships/slide" Target="/ppt/slides/slide24.xml" Id="Rbbd8cf9050d54e37" /><Relationship Type="http://schemas.openxmlformats.org/officeDocument/2006/relationships/slide" Target="/ppt/slides/slide25.xml" Id="R0f60bd5d62c446d7" /><Relationship Type="http://schemas.openxmlformats.org/officeDocument/2006/relationships/slide" Target="/ppt/slides/slide26.xml" Id="Raef763372114419c" /><Relationship Type="http://schemas.openxmlformats.org/officeDocument/2006/relationships/slide" Target="/ppt/slides/slide27.xml" Id="R88c03208159944aa" /><Relationship Type="http://schemas.openxmlformats.org/officeDocument/2006/relationships/slide" Target="/ppt/slides/slide28.xml" Id="Rc50f742595a44612" /><Relationship Type="http://schemas.openxmlformats.org/officeDocument/2006/relationships/slide" Target="/ppt/slides/slide29.xml" Id="R085f935596014faf" /><Relationship Type="http://schemas.openxmlformats.org/officeDocument/2006/relationships/slide" Target="/ppt/slides/slide30.xml" Id="R8556995af40e4cf5" /><Relationship Type="http://schemas.openxmlformats.org/officeDocument/2006/relationships/slide" Target="/ppt/slides/slide31.xml" Id="R9f2396bdf0a74ef4" /><Relationship Type="http://schemas.openxmlformats.org/officeDocument/2006/relationships/slide" Target="/ppt/slides/slide32.xml" Id="Rd776210547c14d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db09cf1a03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2eab814f947ba" /><Relationship Type="http://schemas.openxmlformats.org/officeDocument/2006/relationships/notesMaster" Target="/ppt/notesMasters/notesMaster1.xml" Id="Rab23b72eb7384f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7092c8b1fb4955" /><Relationship Type="http://schemas.openxmlformats.org/officeDocument/2006/relationships/notesMaster" Target="/ppt/notesMasters/notesMaster1.xml" Id="R477fac64e0f4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30fa8ee5974706" /><Relationship Type="http://schemas.openxmlformats.org/officeDocument/2006/relationships/notesMaster" Target="/ppt/notesMasters/notesMaster1.xml" Id="R31214a2be6974b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caf9ec52f4c10" /><Relationship Type="http://schemas.openxmlformats.org/officeDocument/2006/relationships/notesMaster" Target="/ppt/notesMasters/notesMaster1.xml" Id="R38ae4612306649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d5af89feb4e83" /><Relationship Type="http://schemas.openxmlformats.org/officeDocument/2006/relationships/notesMaster" Target="/ppt/notesMasters/notesMaster1.xml" Id="R52fe2b16eb5d4a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5ca045b77f4186" /><Relationship Type="http://schemas.openxmlformats.org/officeDocument/2006/relationships/notesMaster" Target="/ppt/notesMasters/notesMaster1.xml" Id="Rf82d86d849fd48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e38f9ff654628" /><Relationship Type="http://schemas.openxmlformats.org/officeDocument/2006/relationships/notesMaster" Target="/ppt/notesMasters/notesMaster1.xml" Id="R2df37a9566d64a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eb7fbc8ff64c66" /><Relationship Type="http://schemas.openxmlformats.org/officeDocument/2006/relationships/notesMaster" Target="/ppt/notesMasters/notesMaster1.xml" Id="Re5cba0a0a41345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c51a0bf54c4a7b" /><Relationship Type="http://schemas.openxmlformats.org/officeDocument/2006/relationships/notesMaster" Target="/ppt/notesMasters/notesMaster1.xml" Id="Rc671acc447164a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803f89f9a64c03" /><Relationship Type="http://schemas.openxmlformats.org/officeDocument/2006/relationships/notesMaster" Target="/ppt/notesMasters/notesMaster1.xml" Id="Re9e733718ed74f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c5263d7014e94" /><Relationship Type="http://schemas.openxmlformats.org/officeDocument/2006/relationships/notesMaster" Target="/ppt/notesMasters/notesMaster1.xml" Id="R7515763018db49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5713d6f7e64861" /><Relationship Type="http://schemas.openxmlformats.org/officeDocument/2006/relationships/notesMaster" Target="/ppt/notesMasters/notesMaster1.xml" Id="Rdfea793eecb24b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b0c28275fb4041" /><Relationship Type="http://schemas.openxmlformats.org/officeDocument/2006/relationships/notesMaster" Target="/ppt/notesMasters/notesMaster1.xml" Id="R7a9200fb39bd4d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634df07093407e" /><Relationship Type="http://schemas.openxmlformats.org/officeDocument/2006/relationships/notesMaster" Target="/ppt/notesMasters/notesMaster1.xml" Id="Rc7271aa5205941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5dcf97fcc643ec" /><Relationship Type="http://schemas.openxmlformats.org/officeDocument/2006/relationships/notesMaster" Target="/ppt/notesMasters/notesMaster1.xml" Id="R2b03c06397df4a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ec3d9d89e74d76" /><Relationship Type="http://schemas.openxmlformats.org/officeDocument/2006/relationships/notesMaster" Target="/ppt/notesMasters/notesMaster1.xml" Id="R316da5de6a5a4c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87166112124db7" /><Relationship Type="http://schemas.openxmlformats.org/officeDocument/2006/relationships/notesMaster" Target="/ppt/notesMasters/notesMaster1.xml" Id="Rb2b7c6a99f914c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eeb963dc6e4ff4" /><Relationship Type="http://schemas.openxmlformats.org/officeDocument/2006/relationships/notesMaster" Target="/ppt/notesMasters/notesMaster1.xml" Id="R1e70ef3f2ebe4b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4f69f240304184" /><Relationship Type="http://schemas.openxmlformats.org/officeDocument/2006/relationships/notesMaster" Target="/ppt/notesMasters/notesMaster1.xml" Id="Rf8cc16d94ad34a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cabdd46e584c8c" /><Relationship Type="http://schemas.openxmlformats.org/officeDocument/2006/relationships/notesMaster" Target="/ppt/notesMasters/notesMaster1.xml" Id="Red5ecd8c23e744b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eee3ff15424cfa" /><Relationship Type="http://schemas.openxmlformats.org/officeDocument/2006/relationships/notesMaster" Target="/ppt/notesMasters/notesMaster1.xml" Id="Re7078130c46240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527d4531b7445c" /><Relationship Type="http://schemas.openxmlformats.org/officeDocument/2006/relationships/notesMaster" Target="/ppt/notesMasters/notesMaster1.xml" Id="R7f94e213cc1e4b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f0b218ab704a0d" /><Relationship Type="http://schemas.openxmlformats.org/officeDocument/2006/relationships/notesMaster" Target="/ppt/notesMasters/notesMaster1.xml" Id="R7bc69eb5b699412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b04d74ac65430b" /><Relationship Type="http://schemas.openxmlformats.org/officeDocument/2006/relationships/notesMaster" Target="/ppt/notesMasters/notesMaster1.xml" Id="R5003d3072b2b45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44cf22030e4889" /><Relationship Type="http://schemas.openxmlformats.org/officeDocument/2006/relationships/notesMaster" Target="/ppt/notesMasters/notesMaster1.xml" Id="R8427db7c58e446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7c4ead58a34f15" /><Relationship Type="http://schemas.openxmlformats.org/officeDocument/2006/relationships/notesMaster" Target="/ppt/notesMasters/notesMaster1.xml" Id="R25371837c25143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a2330e4e404db9" /><Relationship Type="http://schemas.openxmlformats.org/officeDocument/2006/relationships/notesMaster" Target="/ppt/notesMasters/notesMaster1.xml" Id="Ra8565f539802498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52e0bb309b4f60" /><Relationship Type="http://schemas.openxmlformats.org/officeDocument/2006/relationships/notesMaster" Target="/ppt/notesMasters/notesMaster1.xml" Id="R3f57efaa0cc9492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ca4c887ca14f3f" /><Relationship Type="http://schemas.openxmlformats.org/officeDocument/2006/relationships/notesMaster" Target="/ppt/notesMasters/notesMaster1.xml" Id="Rc1f69f1232bd438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6ac60233c949d8" /><Relationship Type="http://schemas.openxmlformats.org/officeDocument/2006/relationships/notesMaster" Target="/ppt/notesMasters/notesMaster1.xml" Id="R7fdad2deed8444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06565ae1544735" /><Relationship Type="http://schemas.openxmlformats.org/officeDocument/2006/relationships/notesMaster" Target="/ppt/notesMasters/notesMaster1.xml" Id="R2d1e3e82b1734fb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462f73c9a944465" /><Relationship Type="http://schemas.openxmlformats.org/officeDocument/2006/relationships/notesMaster" Target="/ppt/notesMasters/notesMaster1.xml" Id="R2efdb77ecb25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使用者1013簡報的白底、藍色標題、標楷體、拓譜左側與時間圖右側。使用長contact主版本，容量為速率乘時窗長度，不是保留原quota的對照版。以固定兩包、集中規劃、逐byte釋放與完整接收後轉送說明區間候選方法。新方法尚未實作；本簡報是解析推導與具體排程示例，沒有執行逐秒枚舉或區間搜尋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原1013中央管理圖。控制器維護原始contact資料、剩餘容量R、已接受占用O與發送預約F。先規劃第一包並選定具體排程，更新資源後才規劃第二包；各節點只執行局部指令。這是已知排程的確定性集中模型，不宣稱動態即時分散同步已解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選定義L=(c,I,pred,K)。I為本分支可完整抵達的連續區間，K是與同一段完整持有區間W相交後的前驅抵達範圍；K不能獨立保證任意銜接，回溯還需a∈K且a≤s。實際起送由a′−S/r_c−δ_c還原。不同前驅與不同W不任意合併。Label編號與contact編號獨立；單點用{a}表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長contact資料：c1[2,12]、c2[8,18]、c3[1,11]、c4[12,28]、c5[20,36]、c6[1,18]、c7[16,30]、c8[4,14]。與原拓譜連接相同；部分起點也重新安排，避免同一對端點的contacts重疊，並非只改單一參數的控制實驗。所有節點上限4MB，兩包各4MB，速率4MB/s，所以傳輸需1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使用configs/long_contacts_20261021/experiment.json完整初始容量：40,40,40,64,64,68,56,40MB。不是沿用原quota版，所以不能保留原簡報c2用完、c7只剩2MB的敘述。c2/c5/c6傳播延遲1秒，其餘0；M=4MB，S=4MB，T=40秒。表格R表示本包搜尋開始前可用資料容量，搜尋期間不因候選建立而直接扣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第一包來源X在0秒完整可用。沒有既有占用，X可等待到任一起送時間。c1窗口2至12，傳輸1秒、延遲0，J=[2,11]，I=[3,12]。L1=(c1,[3,12],L0,{0})。目前尚未固定選第2秒，具體時間由目的地回溯決定。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第一包沒有前包占用，所以W_B=[0,40]，K=[3,12]。c2起送J=[8,17]，加傳輸1秒、傳播1秒，得到I2=[10,19]；c5起送[20,35]，I3=[22,37]。每組仍有a≤s條件，不表示K的每個時間都可與J每個起送任意組合。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最早目的地候選下界10可取。選D抵達10，回推c2起送8；從K=[3,12]選B抵達3≤8，再回推c1起送2。X→B→D的完整排程核對通過。其餘候選下界22無法改善10。接受後F_c1=[2,3)、F_c2=[8,9)，B接收2至3，等待3至8，發送8至9。此為解析例子與固定排程核對，不是新搜尋器執行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第二包只看到第一包實際選定並接受的預約，不把第一包其他候選區間全部算成占用。B在2秒前0、2至3上升至4、3至8持有4、8至9下降至0、9之後0。這些時段與新的長contact第一包安排一致，不沿用舊例6至7秒釋放。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c3 A→B窗口1至11、傳輸1秒、延遲0，物理可起送[1,10]。前包B占用2至9，其中8至9以4MB/s釋放。s=1可在2秒完整收到；早收之後能否等要下一跳判定。s∈(1,8)接收過程會超上限；s=8起可邊接收邊釋放，所以J_c3={1}∪[8,10]，I={2}∪[9,11]。兩段分別建立L1及L2，不合併跨越中間不可行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W_B={t:O_B(t)+S≤M_B}。S與M_B都4MB，因此須O_B=0才能完整持有第二包；W_B=[0,2]∪[9,40]。接收可在8至9邊釋放邊增加，不代表8秒就能完整持有4MB。J是起送時間，I是完整抵達，W是完整持有時間，三者不可混用。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來源L0的I={1}、A沒有既有占用，可完整持有本包。按照contact c3的兩段先建立L1(c3,{2},L0,{1})、L2(c3,[9,11],L0,{1})，再c4建立L3(c4,[13,28],L0,{1})，c6建立L4(c6,[3,19],L0,{1})。Q下界排序是2、3、9、13，Label編號與排序無關。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的I={2}落在W_B第一段[0,2]。c2雖有36MB剩餘，但第一包已占[8,9)，可起送J=[9,17]；c5可起送[20,35]。兩者沒有任何起送能落在[0,2]且不早於2，因此都無法由這個Label延伸。拒絕原因是等待無法銜接，不是容量不足。L2晚到B的候選仍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L4在C的I=[3,19]，第一包沒有使用C，所以W_C=[0,40]、K=[3,19]。c7起送[16,29]，抵達D=[17,30]，建立L5。c7剩餘56MB，與舊簡報的2MB情況不同。接著仍要完成同一個L4的其他outgoing contact c8延伸，不能中途開始取出下一個Q項目。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在D於9至10秒接收4MB，在10秒完整交付後釋放。圖中的10秒峰值仍計入接收可行性，不能因交付而忽略。第二包若在9至10秒接收，會與第一包重疊而超4MB；若在10秒開始接收，10秒時新包接收量0、前包峰值4，之後前包釋放，新包可接收。本例採逐byte和目的地即時交付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c8 C→D窗口4至14、傳輸1秒、延遲0，原可起送[4,13]。s≤8時完整抵達≤9，尚未撞上第一包接收；s∈(8,10)會在D接收期間超限；s≥10可在第一包交付後接收。因此J_c8=[4,8]∪[10,13]，對應I6=[5,9]與I7=[11,14]。8和10都可取，理由分別是第一包在9秒接收量0，以及第二包在10秒接收量0；瞬間峰值不能被漏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本頁表示已完成L4的全部outgoing contacts。L5來自c7，I=[17,30]；L6及L7來自c8，I分別[5,9]與[11,14]，三者pred均為L4、K均為[3,19]，仍需a≤s，所以不是K與所有起送時間的任意組合。Q包括未取出的L2、L3，排序L6:5、L2:9、L7:11、L3:13、L5:17。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L6完整抵達D的時間5，c8傳輸1秒無延遲，起送s8=4。在K=[3,19]選前驅C抵達a4=3，滿足3≤4。回L4，c6傳輸1秒加延遲1秒，起送s6=1，接來源生成1。完整排程核對通過。最佳實際抵達τ=5；Q剩餘最小下界9≥5，本例依下界規則可停止，不需再展開L2/L3等候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第二包選c6起送1、送完2、C開始接收2、完整抵達3；在C等待3至4，c8發送4至5，D同時於4至5接收，完整抵達5。這是一組被完整排程檢查器接受的具體安排，不是區間求解器的執行紀錄。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初始R=(40,40,40,64,64,68,56,40)。第一包扣c1/c2各4，第二包扣c6/c8各4；最終R=(36,36,40,64,64,64,56,36)。F新增c6[1,2)、c8[4,5)。O在C為2至3接收、3至4等待、4至5發送；D在4至5接收後交付。搜尋過程不將L1至L7全部當成預約。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為B第一包曲線，右為C第二包曲線。它們是不同節點，不能把B的4MB和C的4MB相加後與單一節點上限比較。各自峰值4MB。D則第二包4至5先接收交付，第一包9至10再接收交付，沒有重疊。來源X與A的持有和發送也已包含在固定完整排程核對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未展開候選的額外解析，不是最佳解出現後仍繼續探索的執行步驟。c3可選8至9秒傳送，B於9秒完整收到；這段可與第一包B發送8至9同時發生，依模型允許不同contacts同時收發、逐byte釋放。接c2發送9至10，與第一包c2[8,9)首尾相接，D接收10至11，抵達11。固定排程核對通過，但不如已找到的5秒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充未展開分支：c4起送[12,27]、抵達B[13,28]。c2可起送[9,17]，加上前驅存在a≤s，留[13,17]，抵達D[15,19]。c5可起送[20,35]，每個s都可選前驅a=13等不晚於s的時間，故目的地抵達[22,37]。仍需以K與a≤s保留時間關係，不把任意前驅抵達與任意起送混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包以固定已接受狀態建立或查詢J/W。初始化來源區間，Q依下界；延伸計算K及相容起送段，再平移成抵達區間。目的地回溯完整排程並驗證後更新最佳值，滿足候選下界規則才結束。外層逐包driver才提交R/O/F。若發現反例或驗證失敗則保留案例停止，不自動修改演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的精確求解仍待實作與正確性論證。本版假設有限分段線性的既有O。根據O折點q、發送窗口移動邊界q與q−d、接收移動邊界q−δ與q−δ−d，以及F和時窗邊界，將起送範圍分段。每段對窗口起訖、內部折點、事件峰值與左右極限解不等式，得到整段可行範圍。這不是每隔1秒取一點，也不是只測幾個折點就宣稱其間全部可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3在此版初始及第二包搜尋前R為40MB，切成{1}及[8,10]後仍只有同一份40MB。候選是替代方案，不各扣一次。最後若選c3才扣4MB；本例實際選c6/c8，所以c3仍40MB。若一般拓譜允許循環，沿pred計算同原contact使用次數，每一次使用S都要計帳。長時窗帶來較大初始容量，不等於buffer上限也變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Q依inf I與建立順序。目的地候選須還原可取的實際時間、完整驗證後取得上界τ。在本例τ=5且剩餘下界9以上，沒有更早改善，故停止。一般區間生成完整性與下界停止的正確性仍需證明。遇開端點且只有下確界沒有最小值，不擅自加ε；資源上限中斷不能回報無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是contact可起送區間集合；I是一個Label可完整抵達的區間；W是目前節點完整持有S的時間集合；K是I與某一段W相交所得前驅範圍，仍需a≤s。集合有多段時須分開處理，單點用大括號、連續區間用中括號，開端點則另有標記。δ是傳播延遲，不與傳輸時間d混為一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起送s、發送完成f=s+d、接收開始h=s+δ、完整抵達a′=f+δ。接收端逐byte增加，發送端逐byte減少。等待條件必須在同一段W且a≤s。J還包含contact窗口、已有發送預約不重疊、a′≤T；容量條件獨立累計。所有時間端點需採一致的瞬間峰值定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版保留不同前驅和不同W的候選，不用較早下界直接支配較晚者，也不合併時間相關性不同的區間。需要驗證J/W精確性、回溯銜接、端點峰值、循環容量與結束條件。圖解展示不等於已實作或證明，本次固定排程核對只證明那些安排的可行性或拒絕原因，不證明整個區間集合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leStarts(J[c],K,w)保留s∈J[c]∩w且存在a∈K、a≤s的起送區間。分成各連通段j後，記錄N=(c,j+d+δ,L,K)。回溯時必須滿足a≤s，不能把K與j任意組合。CapacityFails沿前驅計帳。找目的地候選先回溯及驗證，最後外層才提交，不在此內層中途預約。這是候選虛擬碼，並無已完成的區間搜尋實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使用長contact完整容量版本。依contact窗口及兩條分流的解析推導，可得到第一包最早10秒、第二包在已接受第一包安排下可於5秒抵達；具體路徑排程已由既有獨立完整檢查器核對，沒有執行新方法搜尋器、舊枚舉或大型實驗。一般區間求解、銜接、回溯、終止及正確性仍未完成。假設單一副本、不可分割、完整接收後轉送、逐byte釋放、固定正速率和有限期限；不檢查跨contacts共用天線／收發器互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4bcb898174f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c1e0ccf8f4a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26b4d02254d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a5ece14c149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3a67c6cf346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4f0a5fb204b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94305bced4e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219f67e764c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cb1ede2af47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231c9836e4af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1d42b52554d4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89c6d5a754e71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17CB1-9435-41DF-82BB-EBE192493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3155AB-ECC4-4CB3-BF8A-893BABB874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0D94CAE-DCE3-48FB-A997-859733C91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2F43941-8EB1-4187-83BE-D8ABB908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987B219-6AEA-4BA8-8156-6C1F123A4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ADF516-9F4E-4E4C-92BD-1729E5A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580DB40-74D7-4B89-8FCB-5AC492301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EF24556-A827-4E86-9219-D3657EC0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D220CB07-8D76-45C8-B823-9B0C603CA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E56A76A-34A6-45AB-B621-E82D19180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6A7B8F0-048C-4A93-8975-1B1B36798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C627E21-C2D9-4132-8BEC-38F2F15F3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E2EC14-8140-4ABB-8108-131B9462D3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55DD071-4CA6-4DEB-B5D9-8AA4B1866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6ABFE10-ED91-40FB-8305-7B6C125143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2D9E51-6359-4255-B60A-539E2E4D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102497E-E12B-4757-BE39-DE36964D5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EEB9E700-D46F-41AA-9B07-4D7359B66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AA103239-40F4-48E6-A385-EC0BFCC84B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6CBF9251-9BED-4996-AE9C-5DD38E3CD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6607526-40E0-46EA-AFBE-854EE2171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07FE15-FD05-4DE0-8404-D42E72011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76FB4E-56B6-4D68-A3B8-58BFC6A9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B07415C-80DE-4F77-BFD2-52ABB574F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B547701-8215-43DE-B7B7-401322A835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EE8E636-F393-470A-9840-FC82F2D83C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B13719B0-E439-4F10-878A-74858F6BE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09:13:30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82037E58-115C-47B8-AFB5-74C255EC6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1B7303D6-44E0-420C-BA71-C9B6D3A11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B37EA7-2E24-434D-B3D7-217E54E2F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556FE757-70C0-4D1B-84F2-7884EF9C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09:13:30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28D2C89A-C339-4FFA-BF94-10DCE1189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1304B679-7543-4BBC-ADFF-DC36462A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DF65CFB0-D7FF-4A0E-BE40-12AD98113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09:13:30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1B5EDC65-E733-4DFA-B875-E7E3B6D05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9D3D81AC-8F66-4CA3-B3A8-F05A43D70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6F7296-5C65-4814-8ADE-5B1F309E2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F4933B9-EB6E-41FF-BA9F-1ED249F96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01B082-3E49-4A50-9580-5864B143F4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E587D37B-ED61-4FE1-8485-9DD49D19F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06CAC0A-AB69-4732-BB4E-8B13B0486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93F33B9-5448-47F6-82BC-7FE04A520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908B78D-C03A-4470-94C0-8B7170BF8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B893DC8-701B-4758-ADB7-CC80CCBE22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EBCF15F-4849-4782-9AEE-0C1EC5C8A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FEF147C2-0717-47EA-A315-AE5CD6C13E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5047B99-EB23-4EC5-B2E7-78B0D89C6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255FF7D4-0920-40E5-ABF6-E67CA5474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D6AF44-41C0-4192-8DF8-BB3D41342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BEA3CCE-8088-484E-AD86-6D144DB2D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BD34116-9287-4371-84BC-FD6D97FCD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3AC95EF-96F5-4BC7-A115-B424D1B4D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57EAE0F-F82A-4FA1-A50E-B7FB5BE4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C6A94BBF-BEFC-481B-9438-527EF1307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15B7249-6406-48E7-B715-6CCD73AA0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CB53C38-D2B6-4857-AD30-A57D67D67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09DEB2D-D732-4E9A-BA07-2C037AB0C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7FD0F2-6911-46A0-B68F-D57125AE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09:13:30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e9e1c280d44052" /><Relationship Type="http://schemas.openxmlformats.org/officeDocument/2006/relationships/slideLayout" Target="/ppt/slideLayouts/slideLayout1.xml" Id="R7ea2c2c577d2450a" /><Relationship Type="http://schemas.openxmlformats.org/officeDocument/2006/relationships/slideLayout" Target="/ppt/slideLayouts/slideLayout2.xml" Id="Rf16b9ade45a34e55" /><Relationship Type="http://schemas.openxmlformats.org/officeDocument/2006/relationships/slideLayout" Target="/ppt/slideLayouts/slideLayout3.xml" Id="R3d070d65219d48f3" /><Relationship Type="http://schemas.openxmlformats.org/officeDocument/2006/relationships/slideLayout" Target="/ppt/slideLayouts/slideLayout4.xml" Id="R892f94c9c29142b2" /><Relationship Type="http://schemas.openxmlformats.org/officeDocument/2006/relationships/slideLayout" Target="/ppt/slideLayouts/slideLayout5.xml" Id="Rbc2979953db2470e" /><Relationship Type="http://schemas.openxmlformats.org/officeDocument/2006/relationships/slideLayout" Target="/ppt/slideLayouts/slideLayout6.xml" Id="Rf683f407347a4a3a" /><Relationship Type="http://schemas.openxmlformats.org/officeDocument/2006/relationships/slideLayout" Target="/ppt/slideLayouts/slideLayout7.xml" Id="Rda3a67bc9a3345af" /><Relationship Type="http://schemas.openxmlformats.org/officeDocument/2006/relationships/slideLayout" Target="/ppt/slideLayouts/slideLayout8.xml" Id="R408292c5d8ec4c45" /><Relationship Type="http://schemas.openxmlformats.org/officeDocument/2006/relationships/slideLayout" Target="/ppt/slideLayouts/slideLayout9.xml" Id="R544e62941b184772" /><Relationship Type="http://schemas.openxmlformats.org/officeDocument/2006/relationships/slideLayout" Target="/ppt/slideLayouts/slideLayout10.xml" Id="R5cd4e9cd42044701" /><Relationship Type="http://schemas.openxmlformats.org/officeDocument/2006/relationships/slideLayout" Target="/ppt/slideLayouts/slideLayout11.xml" Id="R34876401da934ddc" /><Relationship Type="http://schemas.openxmlformats.org/officeDocument/2006/relationships/slideLayout" Target="/ppt/slideLayouts/slideLayout12.xml" Id="R6b3db4cbd48943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48D016A4-ABFB-4F58-A123-2AFB6746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2EBC1E-4899-4D02-942B-DB610249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A795A-1FC5-4DC0-B4FF-1A4571CCCE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153DEDF-26CC-481C-861F-FFD318218C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E1FE2B4-9A84-42DF-9FC9-64E3A777FB0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2c2c577d2450a"/>
    <p:sldLayoutId xmlns:r="http://schemas.openxmlformats.org/officeDocument/2006/relationships" id="2147483650" r:id="Rf16b9ade45a34e55"/>
    <p:sldLayoutId xmlns:r="http://schemas.openxmlformats.org/officeDocument/2006/relationships" id="2147483651" r:id="R3d070d65219d48f3"/>
    <p:sldLayoutId xmlns:r="http://schemas.openxmlformats.org/officeDocument/2006/relationships" id="2147483652" r:id="R892f94c9c29142b2"/>
    <p:sldLayoutId xmlns:r="http://schemas.openxmlformats.org/officeDocument/2006/relationships" id="2147483653" r:id="Rbc2979953db2470e"/>
    <p:sldLayoutId xmlns:r="http://schemas.openxmlformats.org/officeDocument/2006/relationships" id="2147483654" r:id="Rf683f407347a4a3a"/>
    <p:sldLayoutId xmlns:r="http://schemas.openxmlformats.org/officeDocument/2006/relationships" id="2147483655" r:id="Rda3a67bc9a3345af"/>
    <p:sldLayoutId xmlns:r="http://schemas.openxmlformats.org/officeDocument/2006/relationships" id="2147483656" r:id="R408292c5d8ec4c45"/>
    <p:sldLayoutId xmlns:r="http://schemas.openxmlformats.org/officeDocument/2006/relationships" id="2147483657" r:id="R544e62941b184772"/>
    <p:sldLayoutId xmlns:r="http://schemas.openxmlformats.org/officeDocument/2006/relationships" id="2147483658" r:id="R5cd4e9cd42044701"/>
    <p:sldLayoutId xmlns:r="http://schemas.openxmlformats.org/officeDocument/2006/relationships" id="2147483659" r:id="R34876401da934ddc"/>
    <p:sldLayoutId xmlns:r="http://schemas.openxmlformats.org/officeDocument/2006/relationships" id="2147483660" r:id="R6b3db4cbd489437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bc86236444e1d" /><Relationship Type="http://schemas.openxmlformats.org/officeDocument/2006/relationships/notesSlide" Target="/ppt/notesSlides/notesSlide1.xml" Id="R1718f6531fd341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b7fcab29e64c54" /><Relationship Type="http://schemas.openxmlformats.org/officeDocument/2006/relationships/notesSlide" Target="/ppt/notesSlides/notesSlide2.xml" Id="R67d9767cc63a4f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c6174243c4d2d" /><Relationship Type="http://schemas.openxmlformats.org/officeDocument/2006/relationships/notesSlide" Target="/ppt/notesSlides/notesSlide3.xml" Id="Rc2cedc8ba3d7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d5265b3534a70" /><Relationship Type="http://schemas.openxmlformats.org/officeDocument/2006/relationships/notesSlide" Target="/ppt/notesSlides/notesSlide4.xml" Id="Rec5ec60e9c8946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cc5c0930c4baf" /><Relationship Type="http://schemas.openxmlformats.org/officeDocument/2006/relationships/notesSlide" Target="/ppt/notesSlides/notesSlide5.xml" Id="Ra2fbc6ba1b084c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1f6a6266e4dca" /><Relationship Type="http://schemas.openxmlformats.org/officeDocument/2006/relationships/notesSlide" Target="/ppt/notesSlides/notesSlide6.xml" Id="R72621be08de84b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cbe9de5d34235" /><Relationship Type="http://schemas.openxmlformats.org/officeDocument/2006/relationships/notesSlide" Target="/ppt/notesSlides/notesSlide7.xml" Id="Ra986d64fc0eb4d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e1f1183974a5b" /><Relationship Type="http://schemas.openxmlformats.org/officeDocument/2006/relationships/notesSlide" Target="/ppt/notesSlides/notesSlide8.xml" Id="Rc9f5fa10c3da43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d8304ed1c4597" /><Relationship Type="http://schemas.openxmlformats.org/officeDocument/2006/relationships/notesSlide" Target="/ppt/notesSlides/notesSlide9.xml" Id="R95ca9e673ac84f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a547b66d4410e" /><Relationship Type="http://schemas.openxmlformats.org/officeDocument/2006/relationships/notesSlide" Target="/ppt/notesSlides/notesSlide10.xml" Id="R5829be116d1f43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1f8205c4648fc" /><Relationship Type="http://schemas.openxmlformats.org/officeDocument/2006/relationships/notesSlide" Target="/ppt/notesSlides/notesSlide11.xml" Id="R98b7dc31b0b04d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a3057532a45e5" /><Relationship Type="http://schemas.openxmlformats.org/officeDocument/2006/relationships/notesSlide" Target="/ppt/notesSlides/notesSlide12.xml" Id="Ra53ed967d1ff48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7baefb3cb4d42" /><Relationship Type="http://schemas.openxmlformats.org/officeDocument/2006/relationships/notesSlide" Target="/ppt/notesSlides/notesSlide13.xml" Id="R814fe9741b994f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8907ad3064e82" /><Relationship Type="http://schemas.openxmlformats.org/officeDocument/2006/relationships/notesSlide" Target="/ppt/notesSlides/notesSlide14.xml" Id="R1cfeea78a9ba47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aaa111dad4390" /><Relationship Type="http://schemas.openxmlformats.org/officeDocument/2006/relationships/notesSlide" Target="/ppt/notesSlides/notesSlide15.xml" Id="R30a4d1e156e34d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75299b09e4492" /><Relationship Type="http://schemas.openxmlformats.org/officeDocument/2006/relationships/notesSlide" Target="/ppt/notesSlides/notesSlide16.xml" Id="Re3489049c02248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a94b3e20b4ce9" /><Relationship Type="http://schemas.openxmlformats.org/officeDocument/2006/relationships/notesSlide" Target="/ppt/notesSlides/notesSlide17.xml" Id="R1da22fe96b1d49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66566437d4099" /><Relationship Type="http://schemas.openxmlformats.org/officeDocument/2006/relationships/notesSlide" Target="/ppt/notesSlides/notesSlide18.xml" Id="R55a65446ce1848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17221a7fe41cd" /><Relationship Type="http://schemas.openxmlformats.org/officeDocument/2006/relationships/notesSlide" Target="/ppt/notesSlides/notesSlide19.xml" Id="R68cea9f7317843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bcb5a2b474999" /><Relationship Type="http://schemas.openxmlformats.org/officeDocument/2006/relationships/notesSlide" Target="/ppt/notesSlides/notesSlide20.xml" Id="R15f5f16560094a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66c868178452d" /><Relationship Type="http://schemas.openxmlformats.org/officeDocument/2006/relationships/notesSlide" Target="/ppt/notesSlides/notesSlide21.xml" Id="R984caa609c6c4d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d8ff8081741ad" /><Relationship Type="http://schemas.openxmlformats.org/officeDocument/2006/relationships/notesSlide" Target="/ppt/notesSlides/notesSlide22.xml" Id="R8600037435064d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34e704de14cb6" /><Relationship Type="http://schemas.openxmlformats.org/officeDocument/2006/relationships/notesSlide" Target="/ppt/notesSlides/notesSlide23.xml" Id="R491ee12bd3ee42f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29cf27cd24809" /><Relationship Type="http://schemas.openxmlformats.org/officeDocument/2006/relationships/notesSlide" Target="/ppt/notesSlides/notesSlide24.xml" Id="Rd8fe83dffb7d468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91adc43034857" /><Relationship Type="http://schemas.openxmlformats.org/officeDocument/2006/relationships/notesSlide" Target="/ppt/notesSlides/notesSlide25.xml" Id="R9a1bf55f4fbb46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cc2075b734775" /><Relationship Type="http://schemas.openxmlformats.org/officeDocument/2006/relationships/notesSlide" Target="/ppt/notesSlides/notesSlide26.xml" Id="R1b1872d4b63a44c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a65104b0d4abd" /><Relationship Type="http://schemas.openxmlformats.org/officeDocument/2006/relationships/notesSlide" Target="/ppt/notesSlides/notesSlide27.xml" Id="Rc670905272aa44d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7fc9830e5486e" /><Relationship Type="http://schemas.openxmlformats.org/officeDocument/2006/relationships/notesSlide" Target="/ppt/notesSlides/notesSlide28.xml" Id="R30254b3050e6435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d7d5f42ee4535" /><Relationship Type="http://schemas.openxmlformats.org/officeDocument/2006/relationships/notesSlide" Target="/ppt/notesSlides/notesSlide29.xml" Id="R13c8160446624d4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ef619117f4e0d" /><Relationship Type="http://schemas.openxmlformats.org/officeDocument/2006/relationships/notesSlide" Target="/ppt/notesSlides/notesSlide30.xml" Id="Rbe8f5d3cdec5486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c33071c904de7" /><Relationship Type="http://schemas.openxmlformats.org/officeDocument/2006/relationships/notesSlide" Target="/ppt/notesSlides/notesSlide31.xml" Id="R3aa8a255e009450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29bdd653f46f5" /><Relationship Type="http://schemas.openxmlformats.org/officeDocument/2006/relationships/notesSlide" Target="/ppt/notesSlides/notesSlide32.xml" Id="Reb299c48376c45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662A9-F607-4248-8F33-7B35885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長 contact 拓譜：區間路由圖解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82882-7A72-4CDF-995B-886BB595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4EAA-9656-4C7A-88E4-4B599B0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讀取既有曲線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計算可起送區間 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D7E96-0656-4464-A616-6421C21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241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D4039-6242-4FBC-BD63-9B07D27D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0B192-CB08-4ED8-A17A-EFAE474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取出區間 Label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檢查等待與銜接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8D31F-9B3F-4F11-A28C-3A640C5A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1CF0C-2CC7-4850-9FC7-A225407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F74A-DF38-485A-9D56-E02F6F73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保留可行區間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更新 Q；不做支配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6E84B-1A4E-4269-AF7E-B003EA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DD1A7-87DB-49E4-B356-42FE89A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C7D66-DE96-481A-9AE3-A6D6DBA2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回溯具體排程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驗證後提交資源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124A6-1FD3-48AF-9009-8771FE20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每條 contact 開放 10～17 秒；每包傳輸仍只需 1 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D8D35-A8CF-4C02-9CE8-BBD38B78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863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第一包先規劃，不代表一定比第二包先抵達。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9431F-7F01-4015-89CA-15BB00A5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本版保留連續時間區間，不逐秒建立 Label。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B5BAA-22EF-4CCE-9706-A1FBC8E4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9832343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313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3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3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中央維護剩餘容量、Buffer 占用及 contact 已預約發送時段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2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第一包接受後更新資源，再以更新後的狀態規劃第二包。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19123-08B3-4A65-8ABF-8DA6A7C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F53B0-FC09-43BF-A19B-E57C1C10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 Label：保留時間選擇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C862C-789F-40C4-9B86-76A2F91C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287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8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(c, I, pred, K)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238375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8763000"/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欄位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最後使用的原 contact；目前節點是它的接收端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本候選可完整抵達目前節點的時間區間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產生本候選的前驅 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前驅可用抵達範圍；仍須符合 a≤s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78A9F-49EE-402A-BB80-8FD3B16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選定 a′ 後：s=a′−S/r_c−δ_c；沿 pred 還原實際時間。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194D9-C654-42C8-94ED-3A8CF86C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18631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256C56-7683-43B0-81B6-59FF41D8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固定拓譜：長時窗與兩包需求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37C44-354B-491B-B3F1-E99EE4EB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16E91-65BE-42D3-B49A-4ABE785E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BD05B-AEFA-41D0-AB6C-6C29925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0F76C-4AD4-4604-94D6-26BB7182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C528D-9B0F-4B05-937C-D36B328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26591-F1D6-44E4-981D-DCF5BDE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B723B-7895-474A-8E53-98403903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4E177-86D0-4C0C-AE4A-B9DE31F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E4A8C-114F-4A56-A426-7777A02B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6E238-3355-4D4B-B53E-DD04C826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018D-DE7E-4C2F-98A9-FAEC10B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77392-A75B-4515-9A87-985DBC1E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F4AE6-22FA-4950-BEA8-ED703867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28B89-24AC-4D72-8C49-B81D90EC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F7796-023D-467C-8FA3-AF7E205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52ED8-1787-4109-AFD7-A4E4574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E71E3-8E3F-48E8-852A-7661021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81960-90A1-49F2-80F8-9CD859AC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E249C-8C28-4366-9880-5CFC52B5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CC6ED-4828-4478-8CBC-02ECD14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A44D5-2523-4A6D-AE17-04D13260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49E9F-2A78-499E-B6B6-707E681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8C13D-C513-474E-BB08-54F0483C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E9CC8-7D35-49ED-ABE5-BE7F1F0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30876-3E6A-468F-80FE-0B399EB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1574E2-5B0C-4EB5-A12B-E8E9FB0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67C9A-9382-4E9E-9C01-09D7783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076E8-9DBE-43EE-B9DF-B6C349D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1A178-1C1A-4242-B44F-EFEE7EC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Plan（秒）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500D5-E265-4563-ACA0-84B33884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47A19-4514-46DB-BB33-50D9D5B5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C99E3-AFFB-4BCC-8B53-72FDA0FB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53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3DD01B-8370-44CF-B6D9-D708DDB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43CE1F-F2D5-46EC-857E-E63E0C1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353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5C1E6-7E5C-412F-8E7A-FA18674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38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A3E19-5304-4254-AA4A-9E8D19F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353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5D89A-B567-4B29-9586-B80A7EEE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789A59-2E7E-4857-BC0C-E24E4AA3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353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77434F-92A7-4B3D-86AF-1AAE0A77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8E0D19-41B0-4FA9-AAA0-4D9133ED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5353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B64C53-D5E7-4C0A-AD77-17E1885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53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2002B9-DDFA-4FC7-8765-A800D6C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8B4A9F-5F0A-4B89-8CE7-E43CCBA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669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CDA65E-E246-4839-A65D-E08F61F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08B436-46DA-4298-9590-79EC65A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7D32EA-2673-48FD-BE0C-F241756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A3C0E5-3E6B-4BC4-8E42-4B9F2F6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389EB2-7109-4099-B3E1-C1232EA4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96D2E8-8855-42DE-849A-E9D9D54F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7AB8FD-D7BC-4511-BEB1-B305084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C81102-8F5F-4560-82DD-EAD86BE6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A22271-77B6-406D-B114-D95D66AA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5F7C68-4A48-413C-B36C-4004D2FC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1A3C72-22D2-4071-A55C-220C690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EB4C20-0061-4BD4-8C27-8F616B4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DEA5A4-B617-44D0-B0B8-5B21073E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B881AC-A873-4A3E-8F75-7EF31D06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D1B9C1-3496-4B5C-B779-379D73C0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406F2B-8708-4778-82C6-6241245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809C59-805B-44F6-A12E-6E6135F2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22DEFD-8152-4CAA-99CA-A156D223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B26BD8-E6DD-451A-9C3E-0D55BE7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814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D80414-F98E-4EED-83B6-5C8D4FE3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053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A1D890-EF26-4516-9A87-93DC6EC6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C99040-8953-48F0-885F-11BB671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0B7C58-47DD-4176-8EF4-C5B9998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第一包 X→D，g=0；第二包 A→D，g=1，依序規劃。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172957-4AEB-438B-837A-5F843E8F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4564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DE8A9-6B47-4D0C-B2C4-E244E0FA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與容量設定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475E8-00A8-4ABA-9F62-82EAA0AA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B5E73-C039-4E5D-98A3-E910B4A2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0F262-241A-448B-A5C3-CAE9454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93150-FA0F-4CE4-979D-D7726DD5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72B96-996B-482C-9FE8-B2B55FC3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F47FD-FA47-4B03-B767-5108A847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002D7-C7E9-4B8C-80A0-75FC5C9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5E597-28D1-478F-9C40-B66C576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BBCB4-CD91-47A7-BE31-46FF2895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B13BD-FD52-4F56-83D0-948A10F9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C9FF4-C1DC-4AB0-B350-32B4E3B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C5DA2-3401-4AEA-BD10-6B20167F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42556-58FD-4DE0-8D14-F905ECA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897F5-2406-4AD9-8A5A-3F4AD3E4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4A331-119B-4370-9FCF-0F7740A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29665-F636-4E7F-9A23-01A264A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F37F6-62A8-4986-86F0-F221FF6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8FEA9-62C3-431D-9B1B-B2529E4C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0E1D2-16F9-4F34-9688-A22F7651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B8956-48E6-4C8F-9ECB-C5F56C5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A1E52-5310-4152-AFE4-CE8D2091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50108-ABB2-4E32-91D6-1E2060B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44A62-E9F8-4472-8BB4-B602262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5D94F-1274-4AAD-9E05-7748A7E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B985E-34EC-4BE3-B77C-70405109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1314F-6C69-46A2-8EFB-A25DC8FF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F3804-DFFC-42AD-867C-47E9088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D0BA0-B456-4A2E-A0DA-6EDAED5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graphicFrame>
        <p:nvGraphicFramePr>
          <p:cNvPr id="63" name="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1047750"/>
                <a:gridCol w="1476375"/>
                <a:gridCol w="619125"/>
                <a:gridCol w="1476375"/>
              </a:tblGrid>
              <a:tr h="37570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時窗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X→B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8～18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12～28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20～36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16～30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4～14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FBF97-C534-437A-85AB-B4003080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R：MB；δ：秒；速率均為 4 MB/s。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E9C36-FB14-429C-947E-1953A5C2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初始容量採 r×時窗長度；本版 c7 有 56 MB，不再是容量不足案例。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C157BD-EF2A-47D1-AD68-A4A3585C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14100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639E4E-611F-4FFD-A07D-704E3686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第一包：c1 的抵達區間為 [3,12]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55ACE-1855-4AB9-B2CA-74BF32FA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08BCA-6F84-42C0-8967-26ADB386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12D89-F4BC-42DE-A533-CB2A543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6FB4F-D9E3-4816-9290-76B057B1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1AC00-1BA3-45BD-B7CD-BA3D744C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9A1E9-9BD1-409F-B023-5C607B7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2E856-8D9D-4DF1-93E4-0F656D19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657F9-3FD1-4D25-8188-6411AA7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F48E4-E0A1-4BFC-9F00-8692DD3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96EA4-2AFD-4094-953C-D84AB8B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3EC40-DAA7-4D30-978C-D21A5F9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69643-38FD-4967-9B46-5AF8F72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C0BDC-DD2A-4C20-A60C-A60770E9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B710E-D116-4ABE-991B-043A0425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E40EF-B0F9-4654-BA76-E4143E64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71405-7CA1-49C5-A195-AAB945CD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B51B0-2C98-4E3D-B5AC-C4644394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EBEEB-FDD7-4312-8BED-12D3F29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2395C-D8D3-4D79-87DE-1477FB6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8292C-FA05-48F2-8F62-0E268977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FAF0F-FA7A-45B3-B728-D71BEBB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CBBBD-C944-4956-ABAB-6696748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E42EB-506E-477A-9F4D-1612280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14A55-F2E7-406F-A788-5587813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973B9-8D13-4791-8F25-C54FFF76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D1EDC-3F16-48A8-B26E-05CF93D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356FE-4F4E-4DBA-B997-73E21FA5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D781E-6C94-4D54-8B3A-5149B04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CE25DD-DBC0-49C0-B750-9D33339C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4669C-3320-4BBB-86FE-F8537F4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95988-E343-405E-926B-BE623892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CF552-4BCC-4FD0-9660-F9D46A0A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7EEFEC-AA33-48D0-BCA1-3CB90E1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939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43FDC-826C-4B9E-B653-B0341A81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429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056B4-58DF-44FE-970A-51579D3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654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7EAD62-87D0-47AC-A3FA-DED8FE4A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143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4898E6-44D1-41EE-8225-8009AF3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368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A04299-50B8-4C2E-A320-601290A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57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B96B7-2CAE-46B6-9EF4-2BDD1C1F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82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70F691-5C81-430A-9466-392FC8C5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571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8C2E2D-B961-476A-910B-905CE595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796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BAEFC2-011C-4B87-B445-E7A4DB6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7CADC1-20FE-4BB4-A00D-9460BE71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511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BB7E2A-018C-4D4D-8898-56A6C61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975FDE-FF5B-44A6-8CEF-5F34720F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9BF9C3-454C-4B00-AE6B-BE613448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226A0F-7BD6-4A20-B2F3-F682D74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窗口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AA8A38-2FA3-43C6-A1FE-AA59F31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B0A632-7BAC-4790-9C78-116D452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2000250"/>
            <a:ext cx="299357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194E85-E3C3-4183-8AF1-AFF2500B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9C5DB7-573C-4AA4-84DE-5361609B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D71C7D-7824-4A05-85CB-06CF39E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2905125"/>
            <a:ext cx="2694214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4149E-B30F-4227-B71F-FD5BF56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I₁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6863FE-BA36-4A14-B6BF-E67A6B6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9F0A7B-A7C6-4687-B106-094EA660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071" y="3810000"/>
            <a:ext cx="2694214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FE0F0D-DB92-4E6B-AEF2-8A944BC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05425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L₁=(c1,[3,12],L₀,{0})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F89646-73A3-4E2A-A4B0-FF58114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Q：取出來源 L₀，加入 L₁，排序下界為 3 秒。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30BDA2-2CEC-4140-98E8-F9B2B37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54258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1F0324-2095-43EE-B971-59C1C60F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第一包：在 B 比較 c2、c5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97C61-E0AF-407B-8F2F-B39AE526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A793F-3FB3-4D82-9D1B-733F1508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32287-9F8D-4E06-AB6E-98E0A12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8598C-C665-4149-B533-C2C8098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CF193-4BEA-4697-8584-EA20F5B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F1B8D-6EBC-4E3D-94C6-333E0E83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EEF51-D3F2-4A6D-94E1-02599B46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5C679-3EE2-4F9C-A8DA-3713A52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B2C18-C2A4-4829-90E5-E5577F5A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FBC65-C12E-4447-960F-7B243DA0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57443-CFD2-4332-8C98-548284B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EAFE1-5390-47F0-BEC9-46A889D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71AAD-5716-4149-94D2-30780A8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F5DA8-CF24-4C3E-BCAC-FC2520F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B1BA3-6352-4FD2-9386-8FF8743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8BD34-506C-4722-9FFB-C1E063B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3A6A9-9026-477D-95CA-0C0D61C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A082B-822D-4E80-B72D-F52DA7B4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733EA-44F3-4E8F-9A5B-D33875D6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6F54F-F0D1-49C2-A8A2-A7F8E814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06332-2BD5-4A81-8972-9A4356F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DCF80-0167-43EB-9544-639DC22E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B95C0-B97E-4C67-A863-E7DB868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6AFFA-B64F-4E0F-AFD7-E59EDAA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3E8C03-B191-494B-B73D-9F846349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894CE-D2DF-4700-89B7-B20BC77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38308-965E-4769-962D-D94FF6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A9926-D5CA-4C9E-B772-11D7724C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6A8E8-CC11-4C01-82E0-91F818F4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6BEB97-A59F-4D9E-A455-CF30149E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BF460-A581-436D-95BF-A6B72555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CD4542-F31A-4D80-B3A5-F161820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3C30A-85E0-41E6-9894-F453579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A74A7E-058D-4E6A-8BA3-436F32B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48DC04-B8FC-48AD-818F-0D9CA085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C2AB0-6F9B-4727-833E-076D90C6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ABE8E9-ED60-4E3B-A67E-121BCDA0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7128A9-D26D-40A9-BCEB-C41048B4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5E6069-0E55-4290-A978-4C106988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12E49-BB78-4EC5-9400-9DDBA7C2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71C27-A969-49E8-8A60-8DA7812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573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406E49-5141-4939-901D-143937E2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D44426-4DB9-4628-BAB6-99BE7DB8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05000"/>
            <a:ext cx="9429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E7C6FE-EF11-40A0-B86D-2131C932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抵達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62B702-23A8-4F24-B2D1-22D03C6F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9B0A8D-0739-4E2C-AFB5-D755290E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9429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DFDFED-0294-4C88-B0DB-CD34587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76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CAB10D-52E5-4C81-B46F-3C929A5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C2CA54-47F9-41BA-80F1-CD5F07A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1571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320CE6-B865-47F5-8C4C-8B9A3D0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抵達 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4E1652-1B7E-4B08-B775-6CE455B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147E60-DBF6-4BB5-B729-F55A8AD5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86250"/>
            <a:ext cx="1571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6025D3-2261-42A5-9506-97E76E8F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Q 中目的地候選下界：L₂=10 秒，L₃=22 秒。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00B644-4BEF-47CE-AC7E-2FCBCA6B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2407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1EB3DA-832A-4B78-A400-4AA886E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第一包：選路並預約 Buffer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3FE0D-B04D-4D95-BE5D-892758F5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80DDD-AF8E-4FAB-A8FC-1132447E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F81B3-8A0F-4802-AB30-3432FA4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FFF6C-4361-4F41-939B-4691BADF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CA0CC-9F86-4B34-8315-C81A75EF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A7A87-049D-4C2E-A913-00F02A24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1B5DC-895C-4A97-9F55-BDA4560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3E090-24BC-4D69-A887-3FE20E9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A6F17-D325-469E-97E6-4A63D05F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67632-C25C-4658-9A3C-55044951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81F02-0541-47D4-B50F-ECF0976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E7608-9165-498E-90CC-2C5229C2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3EF0-7300-4F8A-B0BF-D459A9D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F634C-7A1D-4662-9DD2-BCB3A39A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C1224-2BF3-4833-AF62-91590E3C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50821-9051-4F66-A498-10174F5D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AF8F4-4E33-4C4F-9BB2-F2758261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13EEE-B977-46B1-9681-2957E264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D83AE-7F7C-4B76-B5B0-CBD56AED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2F62A-D17C-429D-B8AB-553B53D8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7AF81-22CA-400E-BFB1-D8BA9D4E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909C7-27B6-4D5F-9396-7F94735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E00A3-C475-45FA-BC19-B0059A8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4058B-42F8-4C34-91AF-D4354C5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5259D-0E45-4880-A595-5AF210D2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9D857-C0F0-4082-B4C9-F2DCE7F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ED3B9-22F6-45B0-AFE3-C135735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3F4E0-F2A5-46C9-805C-4367D13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56C44-94FB-4828-BD50-ACBFA5F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B：第一包已預約占用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3278C8-AA15-4D2F-9980-93B71093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2095500"/>
          </a:xfrm>
          <a:custGeom xmlns:a="http://schemas.openxmlformats.org/drawingml/2006/main">
            <a:pathLst>
              <a:path w="4191000" h="2095500">
                <a:moveTo>
                  <a:pt x="0" y="0"/>
                </a:moveTo>
                <a:lnTo>
                  <a:pt x="0" y="2095500"/>
                </a:lnTo>
                <a:lnTo>
                  <a:pt x="4191000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C080D-617A-48B5-A297-7150AD1C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F2B86-7793-43AD-8AC6-03B3BAA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EE65F3-63FB-45BD-97B2-F56E973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DCDD17-957A-4894-995E-F73E090E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598714" cy="9525"/>
          </a:xfrm>
          <a:custGeom xmlns:a="http://schemas.openxmlformats.org/drawingml/2006/main">
            <a:pathLst>
              <a:path w="598714" h="9525">
                <a:moveTo>
                  <a:pt x="0" y="0"/>
                </a:moveTo>
                <a:lnTo>
                  <a:pt x="5987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4114C-1E23-48F3-9939-31028D77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2476500"/>
            <a:ext cx="299357" cy="2095500"/>
          </a:xfrm>
          <a:custGeom xmlns:a="http://schemas.openxmlformats.org/drawingml/2006/main">
            <a:pathLst>
              <a:path w="299357" h="2095500">
                <a:moveTo>
                  <a:pt x="0" y="2095500"/>
                </a:moveTo>
                <a:lnTo>
                  <a:pt x="299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BA83A5-BC93-4B27-82AD-3C028AE3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071" y="2476500"/>
            <a:ext cx="1496786" cy="9525"/>
          </a:xfrm>
          <a:custGeom xmlns:a="http://schemas.openxmlformats.org/drawingml/2006/main">
            <a:pathLst>
              <a:path w="1496786" h="9525">
                <a:moveTo>
                  <a:pt x="0" y="0"/>
                </a:moveTo>
                <a:lnTo>
                  <a:pt x="1496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12B97-860D-4EB2-BF28-A165DAB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57" y="2476500"/>
            <a:ext cx="299357" cy="2095500"/>
          </a:xfrm>
          <a:custGeom xmlns:a="http://schemas.openxmlformats.org/drawingml/2006/main">
            <a:pathLst>
              <a:path w="299357" h="2095500">
                <a:moveTo>
                  <a:pt x="0" y="0"/>
                </a:moveTo>
                <a:lnTo>
                  <a:pt x="299357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C1F7EC-08BC-4425-9C90-303368AF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14" y="4572000"/>
            <a:ext cx="1496786" cy="9525"/>
          </a:xfrm>
          <a:custGeom xmlns:a="http://schemas.openxmlformats.org/drawingml/2006/main">
            <a:pathLst>
              <a:path w="1496786" h="9525">
                <a:moveTo>
                  <a:pt x="0" y="0"/>
                </a:moveTo>
                <a:lnTo>
                  <a:pt x="1496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C52625-3AC4-4CFA-B0B6-B3CDDF30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46A150-94DC-4B4C-BE24-F610ED10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14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5AE553-3913-483A-90F2-3C5B7E2F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129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06A3A9-C67B-48C5-B871-6704B13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843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EEE623-1A0A-4B0F-9B71-210CD8D9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57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4E187A-6BB0-48BD-A04C-7ECF3C30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271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35BBAA-BBBD-42C3-86AE-0649A040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986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54948C-DD80-47E1-9340-F5475A2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1C2010-ECC5-4796-9EF1-F5B5C2B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714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E589E8-4883-4EE5-863B-4F9E5880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05425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c1：2～3 秒；c2：8～9 秒。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BFFA37-CCC8-45C5-B416-FE8BB51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第一包第 10 秒抵達 D；驗證後才提交 R、O、F。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E8CDA0-AD77-4F2A-82F9-75EEA05E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496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CA138-9A33-4888-90A7-D0F2689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第二包：讀取 B 的已預約曲線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0002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B 的階段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接收，0↗4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等待，持有 4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3～8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發送，4↘0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8～9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CAA22-112B-437C-9C33-F2A1845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 的 O_B(t)（MB）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E7036-36CF-4A6E-BEDE-56AC4CE0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2095500"/>
          </a:xfrm>
          <a:custGeom xmlns:a="http://schemas.openxmlformats.org/drawingml/2006/main">
            <a:pathLst>
              <a:path w="4191000" h="2095500">
                <a:moveTo>
                  <a:pt x="0" y="0"/>
                </a:moveTo>
                <a:lnTo>
                  <a:pt x="0" y="2095500"/>
                </a:lnTo>
                <a:lnTo>
                  <a:pt x="4191000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39A3A-0D99-4901-9FDC-B664F5C4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D478D-361F-49B1-9BF7-1124CFB0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18327-A8E1-4AE5-A1B8-CB90889A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A2FD4-6B9B-4225-BB91-DFE489D2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598714" cy="9525"/>
          </a:xfrm>
          <a:custGeom xmlns:a="http://schemas.openxmlformats.org/drawingml/2006/main">
            <a:pathLst>
              <a:path w="598714" h="9525">
                <a:moveTo>
                  <a:pt x="0" y="0"/>
                </a:moveTo>
                <a:lnTo>
                  <a:pt x="5987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53560-5173-4079-8937-2FBB96D1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2476500"/>
            <a:ext cx="299357" cy="2095500"/>
          </a:xfrm>
          <a:custGeom xmlns:a="http://schemas.openxmlformats.org/drawingml/2006/main">
            <a:pathLst>
              <a:path w="299357" h="2095500">
                <a:moveTo>
                  <a:pt x="0" y="2095500"/>
                </a:moveTo>
                <a:lnTo>
                  <a:pt x="299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EAB27-40EF-474C-A32B-59CDB2B0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071" y="2476500"/>
            <a:ext cx="1496786" cy="9525"/>
          </a:xfrm>
          <a:custGeom xmlns:a="http://schemas.openxmlformats.org/drawingml/2006/main">
            <a:pathLst>
              <a:path w="1496786" h="9525">
                <a:moveTo>
                  <a:pt x="0" y="0"/>
                </a:moveTo>
                <a:lnTo>
                  <a:pt x="1496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7BAB8-D90D-4FAC-AE32-432F6F0C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57" y="2476500"/>
            <a:ext cx="299357" cy="2095500"/>
          </a:xfrm>
          <a:custGeom xmlns:a="http://schemas.openxmlformats.org/drawingml/2006/main">
            <a:pathLst>
              <a:path w="299357" h="2095500">
                <a:moveTo>
                  <a:pt x="0" y="0"/>
                </a:moveTo>
                <a:lnTo>
                  <a:pt x="299357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57667-D4A4-4F45-B606-F063AC1F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14" y="4572000"/>
            <a:ext cx="1496786" cy="9525"/>
          </a:xfrm>
          <a:custGeom xmlns:a="http://schemas.openxmlformats.org/drawingml/2006/main">
            <a:pathLst>
              <a:path w="1496786" h="9525">
                <a:moveTo>
                  <a:pt x="0" y="0"/>
                </a:moveTo>
                <a:lnTo>
                  <a:pt x="1496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39728-8241-4A11-BAE7-70DF03BB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A0131-E8B5-4EA8-B15A-0CC99AB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14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A4345-483D-41D7-A36D-0033CF5E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129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04778-D210-45C3-B39A-6CFD808E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843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3385F-6777-46B3-BF21-C623EA7B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57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2BDC3-86E1-47DA-AB85-79128978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271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A6A5C-0BBD-44F1-8FC4-7E273DC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986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AF5E0-42C1-48B0-AE4A-711AD9DC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600D9-75F9-4980-835A-0055026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714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1F13F-F0CD-4945-B2E2-109FBF2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同一條長 contact 的前段可能不可接收，後段仍可用。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9713F-1DAF-4025-AA21-3AD5C986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724000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86CEEC-D3E2-452C-BE98-8FD000D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c3：切成兩段可起送時間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A44B6-198F-4F73-9095-C74D0D5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711D8-7F33-41B4-ABED-A4A3972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EA938-7E0C-4ED0-968B-F2BD5FA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E1DBB-0080-482E-8B92-C16B84A6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B3065-75A2-409D-85D5-E2825A58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44AA1-E4C7-4927-A142-89F63B26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659A3-B3CE-447B-86AD-8874F34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CB3CA-E195-4148-AB07-B098DE8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A4239-195D-488A-A72C-8102346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EAB30-E9C6-43B7-8DD1-63E13BFB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7E0E1-9A70-4305-919A-8F41D504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0561D-3DF4-4BA9-93A7-7F9599D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13558-9EB5-456A-980C-2AA434F6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9F8D8-A2A5-4138-8BA4-3056975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AC9FF-DA2B-4CCD-AC2C-B0FF0DB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D5B05-2BFD-4AEA-869A-786E0CCD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4889E-B63E-4FAC-9930-CF5435B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DED0D-A120-4DDB-8083-191AE12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2F5B1-E5F2-4E10-84C1-F5E15FDE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90C7C-73C5-45BF-9C88-A3E86B28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94FB6-103C-4D42-BF9B-0A2CB089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BDF99-983A-4A0D-8AE7-1FCC3E00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CCA73-B360-4C4C-8A2F-ABD811EA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4725C-6C3B-4AE1-A1C2-ADB1678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C3213-9DD8-4E9C-8D4C-408BD2A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23BAC-BE37-42F2-A68B-780ADAD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F6E53-612C-4CC7-8EB2-9473D58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F79D6-1B44-4F71-B030-AA2E94E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B871A-5CF8-46BD-9379-260EF043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B7C75E-77C9-46B6-BAE2-DCAAE802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C62FD-E35A-4B2D-9B36-F6A78C74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123C4-584F-4D8B-9AE7-7FFB15A4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2E3A2-0C84-467D-986F-CAC640E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939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28D952-A5EC-4D06-AAB6-C47BE75B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429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E8392-D86F-4C56-9217-A515EF4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654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C3DB0A-417C-4000-9C15-17213E1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143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A99A3-DA4C-40DC-830B-8D0E2087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368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D4E646-E3F2-4F2B-8E3F-AF5EBA90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57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C3C1CB-E3DE-4076-AE40-D5833C4B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82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4CF05-E4A3-432A-A18F-231E832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571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BE2180-23A6-4B0C-9DD3-12CD70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796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096308-9C5B-4E5F-8387-6554BCA9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DC88DA-3220-48C2-A37F-213733D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511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786B9A-C4A7-435B-9CC2-ABB5A772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CB96A2-7601-4EAF-B7C4-74F9698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454272-4494-4535-B23A-3943FFEB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D46E06-701F-4C1C-B424-DFBA034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1E9133-3409-46D8-9D02-059A6902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669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8D3CE6-FB16-4306-B9E1-7BFFCAE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357" y="1952625"/>
            <a:ext cx="299357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089115-7C7A-46D2-A82C-B9FAF136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C8D368-0BEE-460D-B341-1945959A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2A24BF-89F7-46F4-8A16-AF3F3424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357" y="2990850"/>
            <a:ext cx="9525" cy="276225"/>
          </a:xfrm>
          <a:custGeom xmlns:a="http://schemas.openxmlformats.org/drawingml/2006/main"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99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CEB078-55F5-4AA9-BA18-3E19F11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9B1E25-FA2E-4C55-9618-63B85600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0EABD8-E38D-4E8A-B1A6-279407B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57" y="3000375"/>
            <a:ext cx="598714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3EC48F-85F4-443E-B64D-3ED1D980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FA4A24-BE71-44B6-B2D6-F9E497B4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717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FA0F67-1BCE-444B-8B0C-52A02620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714" y="3943350"/>
            <a:ext cx="9525" cy="276225"/>
          </a:xfrm>
          <a:custGeom xmlns:a="http://schemas.openxmlformats.org/drawingml/2006/main"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D63B74-1A78-4007-A9AD-075E4023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C35FE6-1F3E-4935-9063-74BBA82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717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031710-BDC4-421B-838D-ED26D83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14" y="3952875"/>
            <a:ext cx="598714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E76687-2884-4257-A255-FA9ACBB1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054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J_c3={1}∪[8,10]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5F64BC-9D31-4087-B628-7D213F2B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同一原 contact 產生兩個區間候選，不逐秒建立 Label。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FDA445-DFE5-4824-9F94-7EFF308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5899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BEE1A-A765-4AC2-A96A-5EBB7EBB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完整持有區間：W_B 的兩段空間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6B025-802B-4679-BBC2-DBB2D0D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W_B={t：O_B(t)+4≤4}=[0,2]∪[9,40]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9088A-F075-4673-9B8B-20E92082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876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局部畫至14秒：前包釋放後，第9秒起可完整持有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6D7CB-D350-40BB-8A38-6C7511C0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382000" cy="1714500"/>
          </a:xfrm>
          <a:custGeom xmlns:a="http://schemas.openxmlformats.org/drawingml/2006/main">
            <a:pathLst>
              <a:path w="8382000" h="1714500">
                <a:moveTo>
                  <a:pt x="0" y="0"/>
                </a:moveTo>
                <a:lnTo>
                  <a:pt x="0" y="1714500"/>
                </a:lnTo>
                <a:lnTo>
                  <a:pt x="838200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F3572-205F-4C26-ABD4-BA1F7C1C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19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22DEE-C10C-4A36-8CE4-6993F2BA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82F63-0A39-41BB-BB69-0B761F3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382000" cy="9525"/>
          </a:xfrm>
          <a:custGeom xmlns:a="http://schemas.openxmlformats.org/drawingml/2006/main"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614BE-4CBD-4F24-A94F-2498E41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1197429" cy="9525"/>
          </a:xfrm>
          <a:custGeom xmlns:a="http://schemas.openxmlformats.org/drawingml/2006/main">
            <a:pathLst>
              <a:path w="1197429" h="9525">
                <a:moveTo>
                  <a:pt x="0" y="0"/>
                </a:moveTo>
                <a:lnTo>
                  <a:pt x="1197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BEADC-393E-4C7C-A700-B335905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179" y="3048000"/>
            <a:ext cx="598714" cy="1714500"/>
          </a:xfrm>
          <a:custGeom xmlns:a="http://schemas.openxmlformats.org/drawingml/2006/main">
            <a:pathLst>
              <a:path w="598714" h="1714500">
                <a:moveTo>
                  <a:pt x="0" y="1714500"/>
                </a:moveTo>
                <a:lnTo>
                  <a:pt x="5987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6AF52-F392-43B4-81BF-2EC16EF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893" y="3048000"/>
            <a:ext cx="2993571" cy="9525"/>
          </a:xfrm>
          <a:custGeom xmlns:a="http://schemas.openxmlformats.org/drawingml/2006/main">
            <a:pathLst>
              <a:path w="2993571" h="9525">
                <a:moveTo>
                  <a:pt x="0" y="0"/>
                </a:moveTo>
                <a:lnTo>
                  <a:pt x="29935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4F272-8315-4DAB-A780-7077530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464" y="3048000"/>
            <a:ext cx="598714" cy="1714500"/>
          </a:xfrm>
          <a:custGeom xmlns:a="http://schemas.openxmlformats.org/drawingml/2006/main">
            <a:pathLst>
              <a:path w="598714" h="1714500">
                <a:moveTo>
                  <a:pt x="0" y="0"/>
                </a:moveTo>
                <a:lnTo>
                  <a:pt x="598714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3CBCF-53BA-4F93-9F3E-578C552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179" y="4762500"/>
            <a:ext cx="2993571" cy="9525"/>
          </a:xfrm>
          <a:custGeom xmlns:a="http://schemas.openxmlformats.org/drawingml/2006/main">
            <a:pathLst>
              <a:path w="2993571" h="9525">
                <a:moveTo>
                  <a:pt x="0" y="0"/>
                </a:moveTo>
                <a:lnTo>
                  <a:pt x="29935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0B1C6-D9BE-43DE-8467-077A293B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33304-8784-440F-9FE3-6CA86099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879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49065-57A1-4945-BD6E-0EF09ECD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7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904A1-B492-4C78-A3E5-1AF53F7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736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6335A-E739-43D8-B5D2-B9A72ACD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164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FA399-8A3E-44E9-A539-3E6FAFE8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593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684DB-B767-4ACA-9BAC-44B6FE6E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021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8E42A-9B65-4DFD-B508-91F8E1C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D21D3-CB4B-4E33-A27F-5A9B751A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05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FD242-3C2E-469E-B400-E4C2CE11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能部分接收，不等於已能完整存放整包；等待必須落在同一段 W。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E4453-967B-4599-9A7B-469B4AF8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0899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D1C84-63D6-4C46-8CF7-E1DA459B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第二包：建立四個來源延伸候選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714500"/>
                <a:gridCol w="4000500"/>
                <a:gridCol w="3238500"/>
              </a:tblGrid>
              <a:tr h="6286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Label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完整抵達區間 I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前驅範圍 K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{2}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{1}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[9,11]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{1}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[13,28]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{1}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[3,19]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{1}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F91A-866D-4C71-94E3-65129A59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Q=[L₁:2，L₄:3，L₂:9，L₃:13]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FA105-2A33-4675-A4CA-6963806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Q 依抵達區間下界排序；尚未選定每一跳的實際時間。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AA03E-91CF-468B-8E25-A6504996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53279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72E27C-F97E-44DA-8F9C-24588DC9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L₁：早到 B，卻不能等待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688DD-BF9A-458A-9DFC-EAF599A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AA26F-ADB6-4B4F-917F-4D9776B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E9FC6-A0DE-4AF6-B297-B369D67C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B52C2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DB461-C873-49DC-AFAA-3E76EA79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B52C2C"/>
          </a:solidFill>
          <a:ln xmlns:a="http://schemas.openxmlformats.org/drawingml/2006/main" w="9525">
            <a:solidFill>
              <a:srgbClr val="B52C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CA25D-E7C1-4AED-A013-4A184D4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9287E-EB84-49E1-9809-90804D45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8516-DF07-4065-932B-2073EBF5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4FB09-2025-4E3A-B415-CBF9117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3503E-065A-4C35-B3E1-C01D716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FABB8-37EC-4283-BDB1-891208C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820E5-08AE-4D1D-AC9F-29DE23FE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A3A61-BA3B-4A31-B85A-6A1EADE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85C3D-E30B-4DF1-A86A-F6949970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A3F29-8AC8-4C16-A633-71F46DF7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E9514-C854-4DC6-A5DD-4A60F852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CCD10-F5EA-4DC7-940F-65F6CD7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DB7A4-681A-4D6C-93E1-0340992C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069E0-6371-4447-82CF-6BE06C9B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0D4FC-DAEC-4DB6-BD04-04D2D23B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7C4DA-CB51-4A57-B0C9-A346EE9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2B2A4-662E-4635-BF61-AC42DF37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521C3-2B66-48E7-90B7-51EF654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7A219-D765-47DD-94EB-4425124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EED3F-38E3-476F-9A27-06ED194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C69EC-4D4D-4265-8DCB-63626318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E187C-D228-43C5-90AB-7C6A700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D6C09-5C25-4594-AF24-FE9F772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FC990-2F95-4F37-A9CA-901FE3E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E2BAE-FACA-40CA-ABF1-B471DAF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5735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 抵達 B：I={2}。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210C4-44AE-47B2-8251-CF7EF00A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6697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所屬持有區間：W=[0,2]。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4FA47A-B477-485A-B958-6AC62F04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766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可起送 [9,17]；c5 為 [20,35]。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92D424-E07D-4607-84EE-9848FD8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862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兩條延伸均無法等待銜接。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88C2D2-1A16-4F08-BCAC-6F2146C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Q 剩下 [L₄:3，L₂:9，L₃:13]；不要刪掉晚到 B 的候選。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AAF576-DBE6-48F3-B52B-0567CF7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30452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ECAA86-DC4E-4DEA-9540-DFE685C5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L₄：C 可以探索 c7、c8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6F677-248D-4F4D-A23C-624DCAE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D35A4-48F3-4BE8-904F-4ED4E315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B194C-0E13-48FD-9815-60CD5C71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255B4-A93E-458E-969F-8E337F51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12135-B699-42BB-AE45-E4A3BB01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9E1A8-A0C8-4B7D-82D2-1612EA31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AC631-9EAD-4028-A7C6-234C644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35A5C-77D8-4C1D-A0FD-98F60E9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52A6F-4FAF-4B00-9B1C-978DEBD3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73F50-9881-49B5-A68D-4110946A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1A1A1-DF1D-4774-8C13-A4C7657D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FBE99-83C3-4E7E-810C-C4DBD941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58769-EBB1-42A9-A6F5-C9C27BBE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DE409-4848-4F5E-9BF2-D11D366E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729C0-3599-4B91-A7FF-33A590D5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5F2D6-0307-4804-9293-813BEF33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06119-2073-4BF4-AEFC-353DE1A7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66240-5AE8-41F7-A1F8-5BBF5F8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C7196-16FF-4961-BBB1-752D1039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89C6D-0F35-44AF-85C8-59AA456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BD9D2-BA6E-4CAF-A4FE-6CDC7A61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6FC23-BAF8-49A7-8A3E-957FB7A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B3FA4D-7C4A-48C2-8966-B62C7CB0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8BFF5-76CB-4031-8F18-3D4E6972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7614A-4804-4392-A1A5-210CA9F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F5DCD-5BFE-4A13-A00F-9E10065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D14A1-6346-4307-9CFB-E04175D8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541583-6887-49AA-8DC6-63B08E86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7E7F2C-8172-4FAF-90B3-4410972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E6208-4967-41D4-AE5A-1A6A9F5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242FF9-6034-4C3B-A813-80627BD3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160C2-303C-4DAF-B155-C432FCD9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38C200-96DA-40A3-A927-FD1B11E6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4F7AB4-9BF8-44DA-A42A-5E355E3D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3FF2C5-BD68-48C0-9053-1DE54F8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38E3BB-2C5B-42B2-AF27-AE329BA0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DAED21-B86F-4DA6-8F84-D853663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A7A31-720E-46E9-A5D5-248DC87D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093C62-811D-49D4-A44A-199D224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5B7280-2B2F-4ED0-85F1-AD020783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891855-1FE2-4983-924F-641543D9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573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抵達 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7CB53-69DC-4E76-A2B6-4E9C0819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B2F6F2-1ACE-4B28-8A48-70162D7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0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0BC6D7-6467-45AA-A781-FAEEB42D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2BA445-DEFD-4E88-AD4F-A02FFD60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92FAB7-693B-45F8-878A-508F65EE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05125"/>
            <a:ext cx="1362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2A7D7A-BE76-4910-86C1-59BB1CD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抵達 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948BA4-C60D-4176-A72A-CC152EA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138775-E8E4-448E-82DE-9A9FE86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905250"/>
            <a:ext cx="1362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423EAD-41AF-4376-97B3-F6677D91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054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先加入 L₅：I=[17,30]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0838E4-F693-4974-8893-455EA6C2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c7 容量足夠；c8 還需檢查目的地 D 的接收占用。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EA13C0-F1B9-43B9-9AB2-37752108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0900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4F2FC-780C-43B4-B216-5FA020C0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目的地 D 也有接收占用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CA7B5-327B-4EF6-B67D-2B9A8B2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第一包：c2 發送 8～9 秒，D 接收 9～10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EECCE-F77C-45E7-939D-BD69DC8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876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D 的 O_D(t)：完整交付前的峰值仍須檢查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34F60-D534-4B00-884E-AB52E793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8382000" cy="2190750"/>
          </a:xfrm>
          <a:custGeom xmlns:a="http://schemas.openxmlformats.org/drawingml/2006/main">
            <a:pathLst>
              <a:path w="8382000" h="2190750">
                <a:moveTo>
                  <a:pt x="0" y="0"/>
                </a:moveTo>
                <a:lnTo>
                  <a:pt x="0" y="2190750"/>
                </a:lnTo>
                <a:lnTo>
                  <a:pt x="838200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9D81F-9126-494F-A1CF-8AF6DB1C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68364-69D9-4013-9AC5-26C6F19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6D946-A1ED-4CAB-99CD-0AFB087A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8382000" cy="9525"/>
          </a:xfrm>
          <a:custGeom xmlns:a="http://schemas.openxmlformats.org/drawingml/2006/main"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79B2-C5C4-44E5-84C0-F7F1A12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5388429" cy="9525"/>
          </a:xfrm>
          <a:custGeom xmlns:a="http://schemas.openxmlformats.org/drawingml/2006/main">
            <a:pathLst>
              <a:path w="5388429" h="9525">
                <a:moveTo>
                  <a:pt x="0" y="0"/>
                </a:moveTo>
                <a:lnTo>
                  <a:pt x="5388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B64A0-91F7-44DD-BF55-B2CE68E9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179" y="2714625"/>
            <a:ext cx="598714" cy="2190750"/>
          </a:xfrm>
          <a:custGeom xmlns:a="http://schemas.openxmlformats.org/drawingml/2006/main">
            <a:pathLst>
              <a:path w="598714" h="2190750">
                <a:moveTo>
                  <a:pt x="0" y="2190750"/>
                </a:moveTo>
                <a:lnTo>
                  <a:pt x="5987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41F1D-ED5C-49B0-B4C2-473EA2FB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93" y="2714625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D2252-71CE-41F3-845B-C4E7AC54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93" y="4905375"/>
            <a:ext cx="2394857" cy="9525"/>
          </a:xfrm>
          <a:custGeom xmlns:a="http://schemas.openxmlformats.org/drawingml/2006/main">
            <a:pathLst>
              <a:path w="2394857" h="9525">
                <a:moveTo>
                  <a:pt x="0" y="0"/>
                </a:moveTo>
                <a:lnTo>
                  <a:pt x="23948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168C6-1F95-4276-A831-9536085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BEA1D-2571-4E83-A09A-FB622F16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879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6DAFB-F095-44B9-8E9A-9CAD948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7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9FDE5-2198-4036-A0A8-480990D3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736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E4D3E-36ED-4D36-B226-5C578767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164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41F4B-6853-45DF-885D-6166F9B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593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9093E-86DA-4F52-9B06-738C0AF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021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1456C-2F3F-4D28-AFD0-1E764CF8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48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ED3B6-310A-4622-BA1D-7012D06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F7E67-2542-43B0-8566-481697F5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同樣是 c8，前後不同起送區間可能有不同的接收結果。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67262-4F0E-4988-AF89-FCCE2BE6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77278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88DF59-6FC7-4438-B0B4-D780D67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c8：D 的占用切出兩段可起送時間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C2F6-E3BF-49EE-B090-59F04CB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DF86E-4DAE-4088-9700-318E109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47851-6F96-4453-8211-95914B3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0B119-0E8A-41B6-8105-1086527A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DFB0D-BF63-4AD8-8CB5-9516CE4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7CE16-1A61-4D9B-A267-E5E38E4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E373F-3A0A-4DD7-A3E3-AC995D0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38C2-1930-487D-B9E7-F9B03A50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2FA2D-EAF4-46BC-8C54-0B31EB82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9805B-D8CB-4312-92BC-BF92667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39228-97FF-4358-B90C-A445CC5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4BE9F-A2FF-456E-88A8-B29F8BAE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732DA-E872-4074-9407-23A1940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7A43F-81AB-4621-A15B-9C8F2C39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55D05-3839-4F09-BA35-E91164E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620-9AA9-4652-802B-36E18D9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6F7A8-EA6E-4CF8-A5A7-417E8091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94E08-1E94-4474-A1DB-07898CC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18A39-F035-4439-BB48-598ADFC0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13FA8-A706-4739-9CD2-B6AC9A2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4FA3A-BA62-4143-A994-C2EC80F8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A6E59-ED16-4886-9015-401EE7AD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F8E68-821D-44EB-83DD-17F872DF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B2899-FAB9-4EC0-980E-F95619E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FF246-79E7-4222-B275-EED397EB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58527-B4FD-4155-9F32-753FC451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A373A-BDE2-47E2-B283-C25D91FB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9AFB5-539D-4062-BBFF-F07F3A7B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DE310-75DF-46A0-A2F2-15B3F2F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ED394-147D-4BD3-B3EB-95F8CAEF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C27C2-B4D7-47A0-A5D8-78FE1941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2ADF9-9648-4192-B7FD-8CA6D1E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1A9846-E352-426D-802D-3E0A3123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B2A2D-E2EF-465D-9AFD-ED4A1301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498CB-EEA6-493B-8887-2AA6F9A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70696-C696-4889-8641-FEAE2CB2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DC181F-7885-4B84-85D2-1947B6C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AD5B8-A28E-4E30-9B97-A0672543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126187-F074-4A8F-AAAA-FC92AF76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D40CF3-0DB5-4DDF-AD58-1180301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DCC486-F306-463A-9049-18DB333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748A03-28A9-4F43-BB17-F9E7FB1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E0ADF5-65BF-43AF-B2E3-93CA0A02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65EA40-32B7-457B-9427-D6501FB1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90ED56-46FA-4828-845F-3691A48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94742D-4DF6-4E4E-8BBD-BE77F71E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13C8EA-A6A3-44B3-A169-7282CF05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018478-71D0-4C6E-A8DC-83F4C47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04CF59-8979-4516-8B8E-3A4655D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F26CE9-CAF3-4C5D-B9AE-BF232E41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8B15C1-05D5-43B1-81DF-43B9458C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2619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C50D38-AFEB-4BA2-A690-24020A3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636E51-B716-4C21-81D7-1123E677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2321E1-4358-450A-B441-2DAD9EB6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6F797D-6214-4761-8F8D-880ED80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95302E-CEF9-4741-9173-B67E881E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B475C8-BB84-433C-9FA8-76B3D6A7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785813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0879A0-B158-4EF9-AF06-E1AB964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2BF2F6-A59F-4ADD-9B55-7D04FD6A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C9E91B-494D-4F98-B954-06661BF5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3857625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8C4550-BEC8-4123-AD02-D5F9BC9C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600D3C-B07F-454F-84D0-148C9F79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FE9425-2A45-4D5A-961F-FD75DCA7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13" y="3857625"/>
            <a:ext cx="785813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D3C68D-0525-4DA6-A5E2-620ED734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054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J_c8=[4,8]∪[10,13]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E0A778-7810-4478-B80F-088CED65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輸出是兩段區間；不能把中間不可行的時間一起保留。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22E4F9-C801-41E6-AC47-47EDF2EA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91696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F8994-E0A1-42B6-98B6-FA269A89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完成 L₄ 延伸：更新 Q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524000"/>
                <a:gridCol w="3429000"/>
                <a:gridCol w="3905250"/>
              </a:tblGrid>
              <a:tr h="6786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新Label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抵達區間 I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前驅／K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[17,30]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L₄；[3,19]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[5,9]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L₄；[3,19]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[11,14]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L₄；[3,19]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D4D01-51D1-47F1-BC05-39A085CE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Q=[L₆:5，L₂:9，L₇:11，L₃:13，L₅:17]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14010-F865-463E-8118-7C4EFD81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K 仍須配合 a≤s；下一個取出的是目的地候選 L₆。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D1B8B-4035-4D9D-B1CB-0BFF350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45592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4FD97-2FAC-4CCB-8DFA-5E750FA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取出目的地 L₆：沿前驅回溯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62DE8-7918-4970-A365-3C4818CE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L₆：選完整抵達 D 的時間 5 秒 → c8 起送 4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DA041-347F-4175-A2EC-3B03604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L₄：從 K=[3,19] 選 C 抵達 3 秒，滿足 3≤4。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44631-BA8C-4132-BA37-71816CD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c6：3−1−1=1 秒起送，接回來源 g=1。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D0945-C2D1-4968-BE18-ADC151B1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67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最佳抵達 τ=5；Q 剩餘最小下界為 9，無法改善。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B5080-A969-408F-A7CF-79C3E93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得到 A→C→D；回溯選時間，不是在建立區間時固定選最早值。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A3188-BCFF-4603-AB19-1BE9CEF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27982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CFEA3B-6269-4F42-9C75-7DD0DA3A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第二包：選定的具體排程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3B3A1-C996-474D-AA46-4D40425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39430-0A3B-4F4C-8492-3781AEC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85DF5-BEE4-43FD-B3B2-3F4ACF49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9F96A-A31A-4406-B2BB-8F238D52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F65AC-D75B-45A6-9475-3591BF6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16881-5DB1-40AB-BF52-11475A5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47596-4AD9-414A-8E37-A8CBCF8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F2AE9-91FA-469E-AF30-82302579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2F662-DC0B-4B83-B7D5-07327F5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1B9C5-F940-4237-8F93-6F0DA4ED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5D354-1045-4A57-B7CF-19648E8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48DB0-FDAC-4EE9-81C8-18420F65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EDEB1-D875-48CF-817B-7D496A27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DBAA1-C225-4CB8-9E0D-2193D675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B9312-DBD6-4B6D-94D1-47D186B4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DBB9C-4EA7-4A5F-BE56-7BEC92EF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C1475-18A7-49FD-AC4E-A4029102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00A8A-4F2C-4530-8761-E213846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CB73B-FE65-4EAE-8A5D-E1EAC5F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15A1A-98AB-4004-9B70-28E7D9BB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8A9A3-DF4F-4532-AB32-814F6C5B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F8F12-0CAA-4483-9A29-C7920BD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CE909-289C-44BB-9B9A-564234E0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CF65D-500A-4109-A126-BCBBDA48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BE4AA-68AB-4748-B10A-F7BDF62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89F6F-541F-4B72-9B9B-93316EA8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89662-112F-49C9-9E48-B30A2563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12D1B-DC2A-4B8C-A7E8-AC8DCF6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A4E23-BFD7-464A-9B9B-A6B6182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B5E90-C820-4C6A-B382-C32C07F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C1D55-31A1-4A1D-B845-103EA697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A7A3D-EB9E-457B-8BD1-B627109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565031-4B8D-4D47-A6F5-35604E94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7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44606-4B6C-4967-B40C-034ED86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75235F-9B48-4FC5-A9FC-BD112AC8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51B5C2-609D-4F7A-B9EA-2112482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B9598F-CE4E-48AA-9597-6A04DF9A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BF14C1-9CC6-4C3D-A17C-1F41354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B5C513-EB85-4C3A-B9E9-D35EF60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E4CAA-D223-4858-A384-B55C40E2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5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B1B211-93C7-45C5-95DD-D8EEF58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6B989-FE93-4113-984E-631C460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2854B8-7CD7-4E2F-BDD7-5FEBA8D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2207AE-9B53-438E-97CD-6DD7D8D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825B15-6C16-4132-B8C3-3A9D09BE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10905B-573C-4B91-AC6A-9B39EB2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764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4E8C9E-1638-484F-A3E2-6711B2C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1762125"/>
            <a:ext cx="69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9EAC1B-03F3-47AC-B5A6-49D86714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765061-0141-4136-BE20-AFC6B8BF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472D68-B2EE-489C-A7F2-861ABD3D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76500"/>
            <a:ext cx="69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D59144-DFC6-4040-95BC-F5DEECD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C 等待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8ADBEC-D15F-4F49-9A32-FD1C4DE0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0517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9D0D7F-C15C-4ED8-9251-D6186ED6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69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3F098A-729C-4C14-9965-E3C4E4E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 發送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B4BC26-FDF6-4496-A47A-12168ECE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1594F0-7AD2-4731-AE98-AD733DF1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905250"/>
            <a:ext cx="69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F652DA-5E15-45CE-91AC-0DB92E35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D7AF1D-41DC-4A5B-B2A8-7C9A55B8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334285-6413-444C-A5F3-6B89202D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4429125"/>
            <a:ext cx="69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7483DF-9742-4A8A-B7FF-BD3FDBC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先規劃的第一包抵達 10 秒；後規劃的第二包可以更早在 5 秒抵達。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3891D0-4813-45B4-95AC-106736DD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13988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63790-4E02-49F7-B8FF-D03E0D20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提交資源：R、O、F 一起更新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5143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2000250"/>
              </a:tblGrid>
              <a:tr h="40745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初始 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兩包接受後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24D98-C563-498A-8ABD-F504D1E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新增發送預約：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E65CA-75EA-44D0-B63F-8DCD3A22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c6：[1,2)</a:t>
            </a:r>
          </a:p>
          <a:p xmlns:a="http://schemas.openxmlformats.org/drawingml/2006/main">
            <a:pPr algn="l">
              <a:defRPr sz="23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c8：[4,5)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9F1C0-FB52-4D81-B18C-5F70BC9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加入 C、D 的本包 Buffer 曲線。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3CD95-1171-4CB4-BA0F-416FD2A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只提交選定排程；其他候選區間不占用全域資源。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C2154-DEF2-49C5-9558-AC8B96A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297916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9EA67-0741-4637-8E40-64CA412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兩包接受後：中繼 Buffer 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564E7-D28C-439D-9BEA-6CBFAEB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B：第一包，峰值 4 MB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54212-41A3-451B-81D7-0F5416ED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4095750" cy="2047875"/>
          </a:xfrm>
          <a:custGeom xmlns:a="http://schemas.openxmlformats.org/drawingml/2006/main">
            <a:pathLst>
              <a:path w="4095750" h="2047875">
                <a:moveTo>
                  <a:pt x="0" y="0"/>
                </a:moveTo>
                <a:lnTo>
                  <a:pt x="0" y="2047875"/>
                </a:lnTo>
                <a:lnTo>
                  <a:pt x="4095750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6F22C-C202-4D40-94A9-F2743DFE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EFAC1-7A6D-489D-9CE1-CD581BB2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874B3-4848-4F53-A028-17032CC5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4095750" cy="9525"/>
          </a:xfrm>
          <a:custGeom xmlns:a="http://schemas.openxmlformats.org/drawingml/2006/main"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FC02A-F401-4A28-9A32-D727376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585107" cy="9525"/>
          </a:xfrm>
          <a:custGeom xmlns:a="http://schemas.openxmlformats.org/drawingml/2006/main">
            <a:pathLst>
              <a:path w="585107" h="9525">
                <a:moveTo>
                  <a:pt x="0" y="0"/>
                </a:moveTo>
                <a:lnTo>
                  <a:pt x="5851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40F7C-D8FA-48C3-B8B0-EECF0BA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57" y="2714625"/>
            <a:ext cx="292554" cy="2047875"/>
          </a:xfrm>
          <a:custGeom xmlns:a="http://schemas.openxmlformats.org/drawingml/2006/main">
            <a:pathLst>
              <a:path w="292554" h="2047875">
                <a:moveTo>
                  <a:pt x="0" y="2047875"/>
                </a:moveTo>
                <a:lnTo>
                  <a:pt x="2925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A5925-ED27-4830-BC68-7144D4B0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411" y="2714625"/>
            <a:ext cx="1462768" cy="9525"/>
          </a:xfrm>
          <a:custGeom xmlns:a="http://schemas.openxmlformats.org/drawingml/2006/main">
            <a:pathLst>
              <a:path w="1462768" h="9525">
                <a:moveTo>
                  <a:pt x="0" y="0"/>
                </a:moveTo>
                <a:lnTo>
                  <a:pt x="1462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4DE82-8FA1-4A9A-AD3F-08A9F62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2714625"/>
            <a:ext cx="292554" cy="2047875"/>
          </a:xfrm>
          <a:custGeom xmlns:a="http://schemas.openxmlformats.org/drawingml/2006/main">
            <a:pathLst>
              <a:path w="292554" h="2047875">
                <a:moveTo>
                  <a:pt x="0" y="0"/>
                </a:moveTo>
                <a:lnTo>
                  <a:pt x="292554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FB7B4-6A2A-4BBC-B9BD-84CE563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32" y="4762500"/>
            <a:ext cx="1462768" cy="9525"/>
          </a:xfrm>
          <a:custGeom xmlns:a="http://schemas.openxmlformats.org/drawingml/2006/main">
            <a:pathLst>
              <a:path w="1462768" h="9525">
                <a:moveTo>
                  <a:pt x="0" y="0"/>
                </a:moveTo>
                <a:lnTo>
                  <a:pt x="1462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B7F56-3C26-4C5B-8507-FFA42E9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C4FA0-36A9-4BC3-B979-94C1151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557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94566-D644-400B-BC44-B5ADB778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664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03E36-9CE8-49CF-9E16-29A53CB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771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EE1D7-CD88-492F-928A-89807EA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879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BF207-20E1-4297-A7D3-005AF471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986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A28D9-2966-407B-BBB7-73FE781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93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0A24E-7DC5-46D7-8722-B3987CB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70A63-A79E-4582-B26F-A670EF93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CDAC7-941B-4F58-A766-4F68356A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C：第二包，峰值 4 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E110E-3724-42D2-82DD-68EE150B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524250" cy="2047875"/>
          </a:xfrm>
          <a:custGeom xmlns:a="http://schemas.openxmlformats.org/drawingml/2006/main">
            <a:pathLst>
              <a:path w="3524250" h="2047875">
                <a:moveTo>
                  <a:pt x="0" y="0"/>
                </a:moveTo>
                <a:lnTo>
                  <a:pt x="0" y="2047875"/>
                </a:lnTo>
                <a:lnTo>
                  <a:pt x="3524250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7D87B-2D43-48CB-A3AF-C809E18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19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97354-1395-4372-A9CA-EF7CC2C2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E5063-A462-4330-AB15-4595B61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524250" cy="9525"/>
          </a:xfrm>
          <a:custGeom xmlns:a="http://schemas.openxmlformats.org/drawingml/2006/main"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F8B0E-984C-4BFF-BAC2-9740BA05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503464" cy="9525"/>
          </a:xfrm>
          <a:custGeom xmlns:a="http://schemas.openxmlformats.org/drawingml/2006/main">
            <a:pathLst>
              <a:path w="503464" h="9525">
                <a:moveTo>
                  <a:pt x="0" y="0"/>
                </a:moveTo>
                <a:lnTo>
                  <a:pt x="5034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A06C2-0527-4064-BDE0-8E498C9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464" y="2714625"/>
            <a:ext cx="251732" cy="2047875"/>
          </a:xfrm>
          <a:custGeom xmlns:a="http://schemas.openxmlformats.org/drawingml/2006/main">
            <a:pathLst>
              <a:path w="251732" h="2047875">
                <a:moveTo>
                  <a:pt x="0" y="2047875"/>
                </a:moveTo>
                <a:lnTo>
                  <a:pt x="2517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BFB10-C77A-4DC8-A538-2CFCC8AB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196" y="2714625"/>
            <a:ext cx="251732" cy="9525"/>
          </a:xfrm>
          <a:custGeom xmlns:a="http://schemas.openxmlformats.org/drawingml/2006/main">
            <a:pathLst>
              <a:path w="251732" h="9525">
                <a:moveTo>
                  <a:pt x="0" y="0"/>
                </a:moveTo>
                <a:lnTo>
                  <a:pt x="2517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CCCED-8784-4BAC-9F32-EC550046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929" y="2714625"/>
            <a:ext cx="251732" cy="2047875"/>
          </a:xfrm>
          <a:custGeom xmlns:a="http://schemas.openxmlformats.org/drawingml/2006/main">
            <a:pathLst>
              <a:path w="251732" h="2047875">
                <a:moveTo>
                  <a:pt x="0" y="0"/>
                </a:moveTo>
                <a:lnTo>
                  <a:pt x="251732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A70BD2-2E1D-4EA0-8D66-D7D46E5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661" y="4762500"/>
            <a:ext cx="2265589" cy="9525"/>
          </a:xfrm>
          <a:custGeom xmlns:a="http://schemas.openxmlformats.org/drawingml/2006/main">
            <a:pathLst>
              <a:path w="2265589" h="9525">
                <a:moveTo>
                  <a:pt x="0" y="0"/>
                </a:moveTo>
                <a:lnTo>
                  <a:pt x="22655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64ED2B-DCFC-48CC-B4C6-AD741D41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9D40C9-5FA2-412B-9EAA-2B9D673E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64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A93417-B0DC-4D59-ABE8-3AAA2446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629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E4283-C489-4276-8CDB-C1BDD546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093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0B13A2-1F43-408E-96BA-019ACE7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57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D13C55-F6BE-4786-A8F0-FF284AE3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021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B0D24A-2663-4893-87DA-815C7BF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486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8E500-4633-4DA9-BEB3-7B1E85C9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905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889662-9A35-442B-BA44-87BE015B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905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0E844A-9744-4A2D-BFDB-9983CC62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B 與 C 分別不超限；D 的接收時段為 4～5 秒及 9～10 秒。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38A0B5-16F5-441A-A8ED-E557032C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367134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99C383-FFE7-489B-BE43-0A59903E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補充：晚到 B 的候選仍然可行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F286A-EFB7-4A8E-972C-46752FA9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3C8F1-E2D6-40EB-BE20-16DDB166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9F485-F7B7-4D8E-B967-323F848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645BF-2CE2-48AF-9EE9-5AFC79F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8FD7D-F88B-4FC4-8461-29DB2948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010FB-D138-4FA8-81B3-0415EA12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702C1-D117-430D-A03B-01E060D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7B547-5B9C-493E-9841-3866C719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FBD93-4FE3-448D-A136-C0D998C9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56F67-BCBF-4049-8D7B-87704C05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2C53F-9176-4696-BAF5-A4D2103C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60909-2B8D-497B-BEA5-8A7C795F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[1,11]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4B247-588A-4F44-8D51-6782D306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[12,28]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7F00A-9050-4574-9CA3-5F85F098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[8,18]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4E230-9474-4D6D-94E4-5F408609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[20,36]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B301F-1B95-48DB-A6D7-FE061503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[1,18]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498BF-D945-4565-8FE9-7CBB835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[16,30]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228F5-33B4-4DCC-8AE0-A3D172E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[4,14]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AC568-FB0F-4FF5-8EBC-F9AD2F63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CC5EA-E0AB-4072-A9DB-9BCBA1FD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EA97-ABE5-4CD6-B190-3456E2CF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BDE79-5146-4150-98D1-B0491C3B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47A5C-50C1-4A23-B0C7-2FF3837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A04F2-B115-47F7-94A7-4CD3C71F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96FA5-8398-426D-98B8-450ACF3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06345-4A90-4B5A-B3DE-96A8C69D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43452-D231-42EC-95AD-DA81DA8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1B32B-7ED0-40C8-BDF5-8BFF65D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48BBC5-8D39-496C-8377-14A2FA8D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5735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補充分析，不屬於停止後的 Q 執行。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7643C-E949-4323-9B8B-C6CF98F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6697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c3：8～9 秒；B 完整抵達 9 秒。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9B4BC-F492-4B61-9202-DF6B89F1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766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c2：9～10 秒；D 在 11 秒完整收到。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96630F-33E1-438B-B94C-09275F3B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862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此路徑可行，但比 A→C→D 的 5 秒晚。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7E7B46-FC3C-4EFF-AE42-57F608D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晚到 B 的候選不能因早到候選而被直接刪除。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7E3B30-F114-4CC5-BC31-A045D1FB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07393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8568F-B639-4A54-8561-54BE310E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補充：c4 的長區間如何接續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2BAD0-8D55-4C92-9EAE-9AA4FD4E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c4：起送 [12,27] → 抵達 B 的 I=[13,28]。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F0A32-68FC-499C-BBFC-FF150B1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 c2：可起送部分縮為 [13,17] → 抵達 D [15,19]。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33578-7A8C-429D-9511-C13DE78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 c5：起送 [20,35] → 抵達 D [22,37]。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90049-CB01-4859-B3D2-A8DCCA26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每次銜接均要求：有前驅抵達時間 a≤s。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8C486-2156-4FBD-ACA0-669FBC7A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這是區間縮小的示例；不是每段只挑最早時間。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6D66F-10BB-4E95-98CA-6C547043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20504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95244-F7BF-4559-AD51-B764008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完整流程：由區間探索到具體排程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8CFF5-507F-4C71-9D26-28D19630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以本包大小與既有預約，計算 J 與 W。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23C0E-44D9-4D52-ADA4-5D43FA94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從 Q 取出區間 Label，探索 outgoing contact。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15F5E-F270-47CC-B5EF-800A383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檢查容量與等待銜接，建立新的區間候選。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5F34F-620B-49BA-90EE-F937712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目的地候選回溯成具體排程，更新最佳抵達時間。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48EE9-5DC8-48C4-A9EF-6451AD5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5. 搜尋結束且完整驗證後，提交資源，再處理下一包。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298A3-0AAF-415C-A48F-403FA04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正式方法以區間計算取代固定間隔起送枚舉。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70A0E-B18F-4007-8361-05BDA45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950746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A75B7-048B-4EC2-9B99-5B2F3CCE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如何由曲線得到可起送區間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4F75-5350-4A28-A554-AB303AD2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先由窗口與整包傳輸時間，得到原始起送範圍。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84C4E-7964-47DF-BDA7-F4D9F122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依既有曲線、傳播延遲與傳送預約的時間邊界分段。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F1B01-AD88-476A-9765-2C494381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每段解接收／發送不超限的不等式，保留可行範圍。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C1B84-7097-454F-8E36-6C4BA377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合併真正相連的區間，保留端點能否使用的標記。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931C1-0D43-4E9F-8753-CB7926E3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本例可得到 c3 的 {1}∪[8,10]，以及 c8 的 [4,8]∪[10,13]。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3B6F5-7A1B-47A5-8A8E-51862853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868948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470F5-1C4B-4088-BB77-C6563679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子區間共用原 contact 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AAA07-6D6F-47A0-8C8B-2906D68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分成兩個可起送區間，R[c3] 仍只有 40 MB。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4C15F-18BA-482F-8393-24DA7F90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候選互為替代方案，不在建立 Label 時各自扣容量。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599D-A644-420C-A2A3-401F5BE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選定完整路徑後，每次使用原 contact 扣除一包大小。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2D478-5379-4E1F-839A-5114D55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若重訪同一 contact，沿 pred 累計本路徑使用量。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65AC2-DA94-4B08-8604-79B17CA1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本例只接受 c6→c8，c3 的剩餘容量維持 40 MB。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F97AD-3BA0-4B58-B794-AF3233A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153635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6110D-0D99-48FE-AFE6-5B68B12A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排序與停止：下界不是實際時間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F0DF6-CCBD-4FD1-9EEA-EB2568E9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依抵達區間下界排序，不固定選定該時間。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0276E-9C16-4950-A5E5-AE6D002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L₆ 可回溯得到實際可行抵達時間 τ=5。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B4452-247F-4786-8355-F6E2B7D9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其餘候選下界為 9、11、13、17，不能改善 5。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E52E0-21DB-40B8-9190-13539F84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無路徑只在搜尋耗盡後回報；中斷或端點問題另行回報。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15B46-CF0F-49B5-924F-AA80E2B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取出第一個目的地候選，不等於可以跳過回溯與驗證。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661AD-2BC9-4542-B19E-44FE5C6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252212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A69DD-BF64-49F9-B4E6-26318B41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符號整理：J、I、W、K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1047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286750"/>
              </a:tblGrid>
              <a:tr h="5794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J_c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本包在 contact c 可起送的時間區間集合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此 Label 可完整抵達目前節點的區間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W_v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節點 v 可完整持有本包的時間區間集合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I 與某一段 W 的交集；仍須滿足 a≤s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d_c；δ_c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傳輸時間 S/r_c；傳播延遲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4FCEB-19A3-4948-AD34-384B3962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J 看起送，I 看抵達，W 看持有，K 保留前驅時間範圍。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82108-2314-426B-85BA-7ABE131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379433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A1743-94A1-4B06-BB7E-7512586E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延伸判別式：接收、發送與等待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82BD-A120-4A2C-B820-0184FF9C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d_c=S/r_c；f=s+d_c；h=s+δ_c；a′=f+δ_c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586D6-AD51-41CF-A8BD-240E849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接收：O_B(t)+r_c(t−h)≤M_B，t∈[h,a′]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47529-7C2E-44FA-A0ED-CCF8971A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發送：O_A(t)+S−r_c(t−s)≤M_A，t∈[s,f]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4F385-6AD5-4CB7-A183-79B6D9D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等待：a、s 同屬一段 W_A，且 a≤s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162C4-CAC7-47EE-AA05-7A3F040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容量、時窗、預約時段與抵達期限也必須通過。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B71DE-C992-4C81-B12A-934A975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750944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DBC7E-411A-40BF-A315-1419178F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候選規則：先不做支配刪除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4927B-967B-435F-8FA2-9F226BD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早到 B 的候選不能等，不代表晚到候選也不能用。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DA764-AB89-4E95-8E9E-BCE9749E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不同前驅與不同持有區間，先分開保留。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F9B3C-29CF-418E-8A3C-129A384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先驗證區間計算、等待銜接與回溯，不急著刪候選。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77A1D-65A9-4FC9-9353-73A8865C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正確性與複雜度尚待證明，不宣稱一定比舊方法快。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2C873-FCB3-4C57-99B8-13E1D29F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原先枚舉方法不再是正式流程；新區間方法仍需驗證。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FB2F2-41EA-493D-AB8C-C1C9A83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76006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13DD8-A7BA-4FD3-9CD3-7CA20049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 Label Setting：候選虛擬碼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11839-B575-4842-AB26-22A762B1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477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Build start intervals J and holding intervals W for this bundle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L0 ← (c0, {g}, ∅, ∅); Q ← {L0}; best ← ∅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while Q is not empty: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best exists and LowerBound(Q) ≥ Arrival(best): break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L ← ExtractMin(Q, inf I)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node(L) = destination: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P ← TraceBackWithTimes(L)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ValidateAndUpdateBest(P);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for each outgoing original contact c: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if CapacityFails(L, c):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for each holding interval w at node(L):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K ← I(L) ∩ w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if K is empty: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for each segment j in CompatibleStarts(J[c], K, w):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    N ← (c, j + S/r_c + δ_c, L, K)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    Insert(Q, N)          // no dominance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return best, or NO_ROUTE if search is exhausted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64B73-1981-42F2-AA05-8C5588D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外層逐包處理：完整驗證所選排程後，才提交 R、O、F。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F9306-27D1-4756-BBC5-4C8D2E90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133391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77E0-B121-445B-8CF9-B074AD0B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本版結論與尚待完成事項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63983-E8E6-40C0-BEBC-45528842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長時窗可保留多段起送選擇，不必逐秒建立 Label。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294FC-1B33-4BD7-B730-CD83514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本例第一包 X→B→D：10 秒抵達。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EDC26-F7E7-4207-B556-0D699202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本例第二包 A→C→D：5 秒抵達，依序規劃不等於依序抵達。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BF88-B7EC-4C28-9880-2B9C40C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接下來完成區間求解、時間銜接及回溯的實作與驗證。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2746E-4A85-4266-8532-F6AB49A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本版是候選方法與解析圖解，尚未證明一般正確性或效能優勢。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A0E84-677B-4D24-899B-B565AED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8258136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2026-10-20T23:27:21.8340000Z</dcterms:created>
  <dcterms:modified xsi:type="dcterms:W3CDTF">2026-10-20T23:27:21.8340000Z</dcterms:modified>
</coreProperties>
</file>