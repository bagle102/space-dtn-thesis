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808ea531de4f05" /><Relationship Type="http://schemas.openxmlformats.org/officeDocument/2006/relationships/extended-properties" Target="/docProps/app.xml" Id="Rb3705717e47a4483" /><Relationship Type="http://schemas.openxmlformats.org/officeDocument/2006/relationships/officeDocument" Target="/ppt/presentation.xml" Id="Re906e5a866e241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2d1679a224b64"/>
  </p:sldMasterIdLst>
  <p:notesMasterIdLst>
    <p:notesMasterId xmlns:r="http://schemas.openxmlformats.org/officeDocument/2006/relationships" r:id="R53cf60084b1947ab"/>
  </p:notesMasterIdLst>
  <p:sldIdLst>
    <p:sldId xmlns:r="http://schemas.openxmlformats.org/officeDocument/2006/relationships" id="256" r:id="R0b263c9127be4d84"/>
    <p:sldId xmlns:r="http://schemas.openxmlformats.org/officeDocument/2006/relationships" id="257" r:id="Rb6b1691204f74927"/>
    <p:sldId xmlns:r="http://schemas.openxmlformats.org/officeDocument/2006/relationships" id="258" r:id="Rf6064b4f2aa8436b"/>
    <p:sldId xmlns:r="http://schemas.openxmlformats.org/officeDocument/2006/relationships" id="259" r:id="R7d775d013f044e90"/>
    <p:sldId xmlns:r="http://schemas.openxmlformats.org/officeDocument/2006/relationships" id="260" r:id="R974401dba8714c60"/>
    <p:sldId xmlns:r="http://schemas.openxmlformats.org/officeDocument/2006/relationships" id="261" r:id="Rd1d6508dc348408e"/>
    <p:sldId xmlns:r="http://schemas.openxmlformats.org/officeDocument/2006/relationships" id="262" r:id="Rf498d54352d84190"/>
    <p:sldId xmlns:r="http://schemas.openxmlformats.org/officeDocument/2006/relationships" id="263" r:id="Rea995df163e84d51"/>
    <p:sldId xmlns:r="http://schemas.openxmlformats.org/officeDocument/2006/relationships" id="264" r:id="R95e6718852d74260"/>
    <p:sldId xmlns:r="http://schemas.openxmlformats.org/officeDocument/2006/relationships" id="265" r:id="R20abd0487fda405b"/>
    <p:sldId xmlns:r="http://schemas.openxmlformats.org/officeDocument/2006/relationships" id="266" r:id="Rfaea837ea96b4438"/>
    <p:sldId xmlns:r="http://schemas.openxmlformats.org/officeDocument/2006/relationships" id="267" r:id="R5f905ff0b6844bfd"/>
    <p:sldId xmlns:r="http://schemas.openxmlformats.org/officeDocument/2006/relationships" id="268" r:id="R9de0e975007541e6"/>
    <p:sldId xmlns:r="http://schemas.openxmlformats.org/officeDocument/2006/relationships" id="269" r:id="R3364a407a6df44d3"/>
    <p:sldId xmlns:r="http://schemas.openxmlformats.org/officeDocument/2006/relationships" id="270" r:id="R79db03f327cf477b"/>
    <p:sldId xmlns:r="http://schemas.openxmlformats.org/officeDocument/2006/relationships" id="271" r:id="R806affa62b3a4ff7"/>
    <p:sldId xmlns:r="http://schemas.openxmlformats.org/officeDocument/2006/relationships" id="272" r:id="Raa4d0fe47e9543b0"/>
    <p:sldId xmlns:r="http://schemas.openxmlformats.org/officeDocument/2006/relationships" id="273" r:id="Rc5dfabf6707743c6"/>
    <p:sldId xmlns:r="http://schemas.openxmlformats.org/officeDocument/2006/relationships" id="274" r:id="R6712b52e95d74b19"/>
    <p:sldId xmlns:r="http://schemas.openxmlformats.org/officeDocument/2006/relationships" id="275" r:id="R4571489dba2743e5"/>
    <p:sldId xmlns:r="http://schemas.openxmlformats.org/officeDocument/2006/relationships" id="276" r:id="R0f36950348c640c0"/>
    <p:sldId xmlns:r="http://schemas.openxmlformats.org/officeDocument/2006/relationships" id="277" r:id="R02d08667e014479d"/>
    <p:sldId xmlns:r="http://schemas.openxmlformats.org/officeDocument/2006/relationships" id="278" r:id="Rd37deb1a1fa04b13"/>
    <p:sldId xmlns:r="http://schemas.openxmlformats.org/officeDocument/2006/relationships" id="279" r:id="R2ea54be122204807"/>
    <p:sldId xmlns:r="http://schemas.openxmlformats.org/officeDocument/2006/relationships" id="280" r:id="R5415600c27754892"/>
    <p:sldId xmlns:r="http://schemas.openxmlformats.org/officeDocument/2006/relationships" id="281" r:id="Rf5cb6649c9d249da"/>
    <p:sldId xmlns:r="http://schemas.openxmlformats.org/officeDocument/2006/relationships" id="282" r:id="R2a9c5db484dc4260"/>
    <p:sldId xmlns:r="http://schemas.openxmlformats.org/officeDocument/2006/relationships" id="283" r:id="R70067631c51c45a7"/>
    <p:sldId xmlns:r="http://schemas.openxmlformats.org/officeDocument/2006/relationships" id="284" r:id="Rb5dc8cd71b924c22"/>
    <p:sldId xmlns:r="http://schemas.openxmlformats.org/officeDocument/2006/relationships" id="285" r:id="R6ebaf7bf8d354c0a"/>
    <p:sldId xmlns:r="http://schemas.openxmlformats.org/officeDocument/2006/relationships" id="286" r:id="R58b3e89e786c4083"/>
    <p:sldId xmlns:r="http://schemas.openxmlformats.org/officeDocument/2006/relationships" id="287" r:id="Reeb2dc284bfa426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cb9038fb04677" /><Relationship Type="http://schemas.openxmlformats.org/officeDocument/2006/relationships/slideMaster" Target="/ppt/slideMasters/slideMaster1.xml" Id="R2592d1679a224b64" /><Relationship Type="http://schemas.openxmlformats.org/officeDocument/2006/relationships/notesMaster" Target="/ppt/notesMasters/notesMaster1.xml" Id="R53cf60084b1947ab" /><Relationship Type="http://schemas.openxmlformats.org/officeDocument/2006/relationships/presProps" Target="/ppt/presProps.xml" Id="Re32914530dd94fc7" /><Relationship Type="http://schemas.openxmlformats.org/officeDocument/2006/relationships/viewProps" Target="/ppt/viewProps.xml" Id="R9f021ae54cdd420f" /><Relationship Type="http://schemas.openxmlformats.org/officeDocument/2006/relationships/tableStyles" Target="/ppt/tableStyles.xml" Id="R3ef8c7915e784c11" /><Relationship Type="http://schemas.openxmlformats.org/officeDocument/2006/relationships/slide" Target="/ppt/slides/slide1.xml" Id="R0b263c9127be4d84" /><Relationship Type="http://schemas.openxmlformats.org/officeDocument/2006/relationships/slide" Target="/ppt/slides/slide2.xml" Id="Rb6b1691204f74927" /><Relationship Type="http://schemas.openxmlformats.org/officeDocument/2006/relationships/slide" Target="/ppt/slides/slide3.xml" Id="Rf6064b4f2aa8436b" /><Relationship Type="http://schemas.openxmlformats.org/officeDocument/2006/relationships/slide" Target="/ppt/slides/slide4.xml" Id="R7d775d013f044e90" /><Relationship Type="http://schemas.openxmlformats.org/officeDocument/2006/relationships/slide" Target="/ppt/slides/slide5.xml" Id="R974401dba8714c60" /><Relationship Type="http://schemas.openxmlformats.org/officeDocument/2006/relationships/slide" Target="/ppt/slides/slide6.xml" Id="Rd1d6508dc348408e" /><Relationship Type="http://schemas.openxmlformats.org/officeDocument/2006/relationships/slide" Target="/ppt/slides/slide7.xml" Id="Rf498d54352d84190" /><Relationship Type="http://schemas.openxmlformats.org/officeDocument/2006/relationships/slide" Target="/ppt/slides/slide8.xml" Id="Rea995df163e84d51" /><Relationship Type="http://schemas.openxmlformats.org/officeDocument/2006/relationships/slide" Target="/ppt/slides/slide9.xml" Id="R95e6718852d74260" /><Relationship Type="http://schemas.openxmlformats.org/officeDocument/2006/relationships/slide" Target="/ppt/slides/slide10.xml" Id="R20abd0487fda405b" /><Relationship Type="http://schemas.openxmlformats.org/officeDocument/2006/relationships/slide" Target="/ppt/slides/slide11.xml" Id="Rfaea837ea96b4438" /><Relationship Type="http://schemas.openxmlformats.org/officeDocument/2006/relationships/slide" Target="/ppt/slides/slide12.xml" Id="R5f905ff0b6844bfd" /><Relationship Type="http://schemas.openxmlformats.org/officeDocument/2006/relationships/slide" Target="/ppt/slides/slide13.xml" Id="R9de0e975007541e6" /><Relationship Type="http://schemas.openxmlformats.org/officeDocument/2006/relationships/slide" Target="/ppt/slides/slide14.xml" Id="R3364a407a6df44d3" /><Relationship Type="http://schemas.openxmlformats.org/officeDocument/2006/relationships/slide" Target="/ppt/slides/slide15.xml" Id="R79db03f327cf477b" /><Relationship Type="http://schemas.openxmlformats.org/officeDocument/2006/relationships/slide" Target="/ppt/slides/slide16.xml" Id="R806affa62b3a4ff7" /><Relationship Type="http://schemas.openxmlformats.org/officeDocument/2006/relationships/slide" Target="/ppt/slides/slide17.xml" Id="Raa4d0fe47e9543b0" /><Relationship Type="http://schemas.openxmlformats.org/officeDocument/2006/relationships/slide" Target="/ppt/slides/slide18.xml" Id="Rc5dfabf6707743c6" /><Relationship Type="http://schemas.openxmlformats.org/officeDocument/2006/relationships/slide" Target="/ppt/slides/slide19.xml" Id="R6712b52e95d74b19" /><Relationship Type="http://schemas.openxmlformats.org/officeDocument/2006/relationships/slide" Target="/ppt/slides/slide20.xml" Id="R4571489dba2743e5" /><Relationship Type="http://schemas.openxmlformats.org/officeDocument/2006/relationships/slide" Target="/ppt/slides/slide21.xml" Id="R0f36950348c640c0" /><Relationship Type="http://schemas.openxmlformats.org/officeDocument/2006/relationships/slide" Target="/ppt/slides/slide22.xml" Id="R02d08667e014479d" /><Relationship Type="http://schemas.openxmlformats.org/officeDocument/2006/relationships/slide" Target="/ppt/slides/slide23.xml" Id="Rd37deb1a1fa04b13" /><Relationship Type="http://schemas.openxmlformats.org/officeDocument/2006/relationships/slide" Target="/ppt/slides/slide24.xml" Id="R2ea54be122204807" /><Relationship Type="http://schemas.openxmlformats.org/officeDocument/2006/relationships/slide" Target="/ppt/slides/slide25.xml" Id="R5415600c27754892" /><Relationship Type="http://schemas.openxmlformats.org/officeDocument/2006/relationships/slide" Target="/ppt/slides/slide26.xml" Id="Rf5cb6649c9d249da" /><Relationship Type="http://schemas.openxmlformats.org/officeDocument/2006/relationships/slide" Target="/ppt/slides/slide27.xml" Id="R2a9c5db484dc4260" /><Relationship Type="http://schemas.openxmlformats.org/officeDocument/2006/relationships/slide" Target="/ppt/slides/slide28.xml" Id="R70067631c51c45a7" /><Relationship Type="http://schemas.openxmlformats.org/officeDocument/2006/relationships/slide" Target="/ppt/slides/slide29.xml" Id="Rb5dc8cd71b924c22" /><Relationship Type="http://schemas.openxmlformats.org/officeDocument/2006/relationships/slide" Target="/ppt/slides/slide30.xml" Id="R6ebaf7bf8d354c0a" /><Relationship Type="http://schemas.openxmlformats.org/officeDocument/2006/relationships/slide" Target="/ppt/slides/slide31.xml" Id="R58b3e89e786c4083" /><Relationship Type="http://schemas.openxmlformats.org/officeDocument/2006/relationships/slide" Target="/ppt/slides/slide32.xml" Id="Reeb2dc284bfa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27ff620bd41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d4a616dbc4e42" /><Relationship Type="http://schemas.openxmlformats.org/officeDocument/2006/relationships/notesMaster" Target="/ppt/notesMasters/notesMaster1.xml" Id="R0debf64aa625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2c660b39f4948" /><Relationship Type="http://schemas.openxmlformats.org/officeDocument/2006/relationships/notesMaster" Target="/ppt/notesMasters/notesMaster1.xml" Id="R7057b7d66d8643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956ac536146de" /><Relationship Type="http://schemas.openxmlformats.org/officeDocument/2006/relationships/notesMaster" Target="/ppt/notesMasters/notesMaster1.xml" Id="R46716f79091c44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3295aed414371" /><Relationship Type="http://schemas.openxmlformats.org/officeDocument/2006/relationships/notesMaster" Target="/ppt/notesMasters/notesMaster1.xml" Id="Ra9b30914a0b844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5ec0d73311497f" /><Relationship Type="http://schemas.openxmlformats.org/officeDocument/2006/relationships/notesMaster" Target="/ppt/notesMasters/notesMaster1.xml" Id="Rec564c375e4f4a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d71e835c644d56" /><Relationship Type="http://schemas.openxmlformats.org/officeDocument/2006/relationships/notesMaster" Target="/ppt/notesMasters/notesMaster1.xml" Id="R22fcde32efae4b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b3c43c6a0456c" /><Relationship Type="http://schemas.openxmlformats.org/officeDocument/2006/relationships/notesMaster" Target="/ppt/notesMasters/notesMaster1.xml" Id="R732c6bb6d5b249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d61881f32b4ce3" /><Relationship Type="http://schemas.openxmlformats.org/officeDocument/2006/relationships/notesMaster" Target="/ppt/notesMasters/notesMaster1.xml" Id="Rd4c38a08a2c6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5470c735804a88" /><Relationship Type="http://schemas.openxmlformats.org/officeDocument/2006/relationships/notesMaster" Target="/ppt/notesMasters/notesMaster1.xml" Id="R689757e4da1c46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179fb4f3cf4f62" /><Relationship Type="http://schemas.openxmlformats.org/officeDocument/2006/relationships/notesMaster" Target="/ppt/notesMasters/notesMaster1.xml" Id="Rbd5acacfca974f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de030c00b4444" /><Relationship Type="http://schemas.openxmlformats.org/officeDocument/2006/relationships/notesMaster" Target="/ppt/notesMasters/notesMaster1.xml" Id="Red35791e2a614e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5885b6d06445bd" /><Relationship Type="http://schemas.openxmlformats.org/officeDocument/2006/relationships/notesMaster" Target="/ppt/notesMasters/notesMaster1.xml" Id="Rfb1930e9dec742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4cae76ccfb4106" /><Relationship Type="http://schemas.openxmlformats.org/officeDocument/2006/relationships/notesMaster" Target="/ppt/notesMasters/notesMaster1.xml" Id="R521e20ddff2148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7ece7798344dd6" /><Relationship Type="http://schemas.openxmlformats.org/officeDocument/2006/relationships/notesMaster" Target="/ppt/notesMasters/notesMaster1.xml" Id="Ra8b2bf9002a449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0da2f6f093402a" /><Relationship Type="http://schemas.openxmlformats.org/officeDocument/2006/relationships/notesMaster" Target="/ppt/notesMasters/notesMaster1.xml" Id="Rf2b065eb22f04d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2c98347aa44671" /><Relationship Type="http://schemas.openxmlformats.org/officeDocument/2006/relationships/notesMaster" Target="/ppt/notesMasters/notesMaster1.xml" Id="R590e14a13e8e4a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944c15dfe148e2" /><Relationship Type="http://schemas.openxmlformats.org/officeDocument/2006/relationships/notesMaster" Target="/ppt/notesMasters/notesMaster1.xml" Id="Re8d9ec8c33464c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e8a8da1208442a" /><Relationship Type="http://schemas.openxmlformats.org/officeDocument/2006/relationships/notesMaster" Target="/ppt/notesMasters/notesMaster1.xml" Id="R3c213003636d49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3509e2ca6f4320" /><Relationship Type="http://schemas.openxmlformats.org/officeDocument/2006/relationships/notesMaster" Target="/ppt/notesMasters/notesMaster1.xml" Id="R1afaed63183943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4c43409f3c4688" /><Relationship Type="http://schemas.openxmlformats.org/officeDocument/2006/relationships/notesMaster" Target="/ppt/notesMasters/notesMaster1.xml" Id="R53adf9a9c6bc4aa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448a935d4b46b3" /><Relationship Type="http://schemas.openxmlformats.org/officeDocument/2006/relationships/notesMaster" Target="/ppt/notesMasters/notesMaster1.xml" Id="Re1ee547293024d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9e67331f08400a" /><Relationship Type="http://schemas.openxmlformats.org/officeDocument/2006/relationships/notesMaster" Target="/ppt/notesMasters/notesMaster1.xml" Id="R2c9cfc25f6704e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5ef726fa06455f" /><Relationship Type="http://schemas.openxmlformats.org/officeDocument/2006/relationships/notesMaster" Target="/ppt/notesMasters/notesMaster1.xml" Id="R4e0f1c7d808346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b05d7d6aa34011" /><Relationship Type="http://schemas.openxmlformats.org/officeDocument/2006/relationships/notesMaster" Target="/ppt/notesMasters/notesMaster1.xml" Id="Rb51ce87b05ab40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57d94e8f4a4a7f" /><Relationship Type="http://schemas.openxmlformats.org/officeDocument/2006/relationships/notesMaster" Target="/ppt/notesMasters/notesMaster1.xml" Id="R811e9cc783004c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6a79c6378846d8" /><Relationship Type="http://schemas.openxmlformats.org/officeDocument/2006/relationships/notesMaster" Target="/ppt/notesMasters/notesMaster1.xml" Id="R90edfbb350d0464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2c77d23d84423d" /><Relationship Type="http://schemas.openxmlformats.org/officeDocument/2006/relationships/notesMaster" Target="/ppt/notesMasters/notesMaster1.xml" Id="R373a2e70b16d43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1b085ea6ef843dc" /><Relationship Type="http://schemas.openxmlformats.org/officeDocument/2006/relationships/notesMaster" Target="/ppt/notesMasters/notesMaster1.xml" Id="R41cf317689d64e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3e041b23c6a47e8" /><Relationship Type="http://schemas.openxmlformats.org/officeDocument/2006/relationships/notesMaster" Target="/ppt/notesMasters/notesMaster1.xml" Id="R5909c15ac1e744e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dde099b08f546cc" /><Relationship Type="http://schemas.openxmlformats.org/officeDocument/2006/relationships/notesMaster" Target="/ppt/notesMasters/notesMaster1.xml" Id="Rd1a0df9f3dd5493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64760f6b4d437d" /><Relationship Type="http://schemas.openxmlformats.org/officeDocument/2006/relationships/notesMaster" Target="/ppt/notesMasters/notesMaster1.xml" Id="Rd9ed3b533313463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9ff2bd8f9f4773" /><Relationship Type="http://schemas.openxmlformats.org/officeDocument/2006/relationships/notesMaster" Target="/ppt/notesMasters/notesMaster1.xml" Id="R4ed5b2fc9dcd4d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以1013原拓譜與兩包需求修訂，不採長contact拓譜。不再逐秒枚舉，也不使用抵達區間Label。建立Label時即決定s與A；以已接受的占用曲線精確求可行起送時段。本文僅整理候選定義與可手算例子，未執行新搜尋器或驗證一般完備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中央掌握已接受的R/O/F預約；每包依序規劃。節點執行已提交排程，不在候選探索期間廣播更新。時段是本包的搜尋輔助，不永久改寫物理Contact Plan。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Label欄位與contact編號沒有一對一關係。L_i的i僅為Label建立編號，c欄位保存獨立的contact識別。來源L0=(c0,g,—,空)，c0是虛擬contact。n(L,c)可沿pred回算或快取，並不是重新引入U欄位。Q依A排序，同A依建立順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保留1013參數：各節點上限4MB；S=4MB；速率4MB/s；每次傳輸1秒。c2/c5/c6傳播延遲1秒，其餘0。第一包X到D於0可用，第二包A到D於1可用。固定逐包規劃順序，不是依交付時間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R是本包搜尋前的剩餘aggregate配額；不假設完全由F推得。F仍另行檢查時間不重疊。原c7物理時窗可傳4MB，但輸入剩餘配額為2MB，不能自行補回。各切片共用原contactID；候選間不互扣容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來源L0時間0。c1窗口2至3秒，只允許2秒起送，延遲0，完整抵達3。來源從g到起送都須可持有整包；本例無背景占用。這是固定排程解析，不是執行新搜尋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取出L1在B於3秒抵達，完整延伸其outgoingcontacts。c2起送6完成7傳播1抵達8；c5起送10完成11傳播1抵達12。兩個候選都在搜尋期間建立，但尚未占用全域資源。接收端D無既有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本例來源至B唯一c1，B至D只有c2/c5。c2抵達8早於c5抵達12，固定排程獨立驗證可行後接受。一般新切片搜尋的最優性仍是證明草稿，不能把本例當一般證明。提交c1[2,3)、c2[6,7)，R各扣4。B曲線2至3接收、3至6持有、6至7送出釋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H_B由前包O_B加上本包S=4不超過M_B=4得到。原B占用曲線連續，故H_B=[0,2]並[7,12]，端點可取。中間有任何正占用便不能完整持有本包，但接收與送出時可以只占部分資料量，不能把H_B直接當作接收時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本頁為候選方法，尚待驗證。採A3b獨立剩餘容量配額及P事件順序（釋放先於接納）。來源A時間1可用，先把outgoing c3、c6、c4都處理完。依開始時間排序只是可讀的掃描順序，不是Q的排序。c3起送1抵達B2；c6起送1傳送2結束並傳播1，抵達C3；c4可起送7至8，每段選最早7，抵達B8。依此次建立順序為L1、L2、L3，不沿用舊版L4編號。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原c4窗口7至9、傳輸時間1，因此物理可起送[7,8]；本例A可等待，B背景在7後為0，F無衝突。s7抵達8，s8抵達9；兩者同接收端持有時段[7,12]、同前驅與同contact次數。選s7者可以等到9模擬s8後續。此為本例替代理由，不是跨不同路徑無條件支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此頁是獨立釋放示意，不改原PPT第一包B於6至7釋放的數值。假設B原包7至8以4MB/s送出，新包同時以4MB/s接收，合計恆為4。另一contact窗口1至10，傳輸需1秒，沒有傳送預約衝突且來源可持有時，可起送[7,9]。允許不同contacts同時收發，不含共享收發器互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已完整延伸來源，Q存L1B2、L2C3、L3B8。即使c4起送7，是在規劃時先建立未來候選，不代表模擬時鐘跑到7秒才檢查c6。c8與c7必須等C的Label被取出才延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L1由c3起送1、完整抵達2，接收檢查可行。c2剩餘0先由容量拒絕。c5唯一10起送，但L1的完整持有時段止於2，不能跨2至7背景占用。這不是當初接收檢查錯誤，而是前綴可以接收卻無法接上後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C由c6在1起送，2傳完、傳播1，3完整收到。可按contact開始時間先檢查c8再c7；完整檢查完此Label再取Q。c8窗口2至3，傳輸1，最晚2起送，早於A3所以失敗。c7剩餘配額2小於4，所以失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L3c4在7起送、8完整抵達。R[c2]=0，跳過。c5起送10，8到10都位於B可持有時段[7,12]。傳輸10至11，傳播1，D接收11至12，完整抵達12。L4=(c5,12,10,L3)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此版Label在建立時時間已確定，回溯只收集既有欄位，不再反向選時間。L4指L3，L3指L0。完整驗證容量、F與所有節點占用，再接受。圖例只支持本例排程；一般最優性依起送切片完備性與支配證明，仍為候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B第一包2至3升4、3至6持有4、6至7降0；第二包7至8升4、8至10持有4、10至11降0。各段於接點拼接，不把兩段端點值相加。第7秒兩包占用都為0。圖為固定排程，不是新路由器模擬輸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所有數值沿用原PPT。第一包只扣c1/c2各4；第二包只扣c4/c5各4。F原本未列既有時間背景的部分保持輸入，以下僅列本次新增；不從R自動猜測F。c7配額仍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本頁為候選方法，尚待驗證。採A3b獨立剩餘容量配額及P事件順序（釋放先於接納）。採使用者同意的P語意，不再採背景前後最大值交叉相加的Rule B。每個節點同一時刻先完成交付釋放，再接納來源新包。例M1，舊包在g時由1降0，本包由0增1，事件前後總量均1。來源初始化用O_src(g+)+S&lt;=M，同時確認g前的既有排程可行。不要再直接要求g屬於用max(O-,O+)+S定義的一般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目的地在完整抵達A先達到S的接收峰值，再交付釋放；若同時有其他來源接納，依P釋放後才接納。接收終點檢查O_dst(A-)+S&lt;=M，交付後再檢查O_dst(A+)+0&lt;=M。一般中繼bundle在此時占用連續S，須同時承受背景前後變化。故目的地Label不要求落在一般完整持有時段，也不需等待；接收切片終點要用目的地專用條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此處列連續區段公式。d=S/r，f=s+d，h=s+δ，Anew=f+δ。普通中繼節點的本包曲線在背景跳變時刻連續，因此分別檢查背景前後值加同一個本包占用。來源g與目的地A端點按20及21頁。傳輸前必須完整收完；接收通過才建立Label，未知後續等待在下一次延伸檢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J_c即外部方案Σ0(c)，是每包專用輔助資料，固定S/截止與既有R/O/F。J包含contact起送窗[start,end-d]、Anew&lt;=D*、F排除(a-d,b)、sender傳送buffer、receiver接收buffer。O有限分段線性，對每一段與移動傳收窗的交集，總占用對t為線性，最大值由交集端點及事件點兩側求得；再解對s的線性不等式、保留開閉端點並合併。這是精確求解方向，尚未實作。本頁不把一般端點檢查錯當只檢查整個contact起訖。目的地接收終點另外使用P前值；因此一般接收後屬於H的引理不套用到終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對每個J與前驅L，先限制到L能從A連續持有整包的同一段時間；一般Label以H分量判斷。來源L0在g使用P事件後值，建立從g開始、右側可完整持有的專用初始等待區段，不直接查g是否屬於普通H。每個裁切後非空連通區間若有最小值，取其最早s，建立具體Anew。若最小值不可取，記錄該被略過分支的arrival下界；不要加epsilon。相同前綴同contact的次數相同，普通接收端同一連通切片的arrival像集位於同一H分量，故較早者能等晚者；目的地只比較可行抵達時間。此為證明草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A3b候選充分條件：相同普通節點與完整持有分量，A1&lt;=A2，所有之後仍可能使用的原contact使用次數n1&lt;=n2，至少有一項嚴格改善或同值保留先建立者。最簡單先對全部contact逐項比較，避免未證的縮減。n沿pred回算，可快取但不加入U。這是保守充分條件，不宣稱必要且充分。來源L0端點特殊，獨立保留，不與普通返回來源Label合併。目的地無後續資源，直接按抵達時間比較。被支配但尚未取出的Label失效，已取出的Label仍可比較且保留pred物件供回溯；正時間推進下新子Label不會支配較早已處理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本頁為另立診斷例，不改原PPT拓譜。沿用已保存反例：S=1，U可持有[0,2]並[5,20]。早路徑X→U→V→U於5返回U，已使用c:U→V一次；晚路徑X→U於5.5抵達，尚未用c。R[c]=1。後續都需要c，早者不能再用，晚者能5.5起送c，7起送goal，8到D。先前精確有理數程式僅核對固定排程，未執行新切片搜尋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LB=incompleteLB，初始化正無窮。每次略過最小值不可取的分支，記錄其裁切後起送下確界lo+d+δ的最小值；未生成分支的實際arrival嚴格大於該界，後續正時間也不可能更早。目的地首次有效取出後先驗證完整排程。A*&lt;=LB時在其餘生成與dominance完整等前提下可回報OPTIMAL；A*&gt;LB只能FEASIBLE_NOT_PROVEN_OPTIMAL。Q空且LB&gt;=D*才可能在期限內NO_PATH；否則UNKNOWN。運算逾時UNKNOWN，任意限制Pareto大小則HEURISTIC。這些標記是候選證明草稿；若實作尚有未處理情形，不能因LB正無窮就聲稱最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按節點造訪k構造一條分段函數b_k(t)，而不是把閉區間ramp與hold在接點重複相加。普通造訪：接收h至A線性0→S、A至下一起送s保持S、s至f線性S→0，外部0。接點只有同一個函數值S，不是兩個S。來源g之前0、g之後S到s1再下降；目的地在A保留事件前S、事件後0。相同時間依P合併先釋放再接納，檢查總量事件前後與區段最大值。可重訪同節點，將不重疊造訪的完整函數加入一次。提交R逐hop扣S，F聯集[s,f)，O按造訪函數加入；先完整驗證，再原子更新，不能更新一半才發現失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每一符號首次出現均在對應頁定義，此表供查閱。D_dead為交付截止，T_H已知contact與預約涵蓋範圍，D*=min；T_cpu是運算時間上限。R保留A3b獨立quota與F並行；O只含已接受bundle，不含本次尚未提交候選。H只描述完整持有，不等於接收可行集合；來源g和目的地交付按P例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此為簡報層級候選虛擬碼，不是已完成程式。BuildStartIntervals的精確分段規則見第23頁；RootAdmissibleP用g事件後值並檢查初始化，RootWaitingWindowP建立來源專用等待範圍。普通H使用背景兩側檢查；目的地起送集合使用第21頁終點例外。PopGoalStatus依第27頁，前提有正確求解器、正確dominance、精確有理數、無啟發式剪枝；不得把尚未實作當已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CompatibleSegments對J與可等待範圍取交集；普通Label須在同H分量，來源L0使用g事件後開始的專用等待範圍，不與普通來源返回Label混合支配。每個連通片先判斷空與開閉旗標，取最小值若存在；只有下確界則更新incompleteLB。TryInsertByDominance按照25頁的充分條件，比較活躍open與保留closedlabels，失效候選不刪除pred物件。DstLabel不要求一般H，使用抵達時間比較。Q耗盡狀態依27頁，只有在求解與剪枝完整等前提下宣稱無解。完整路徑驗證成功後才按28頁提交，若同模型失敗保留案例且停止後續效能比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候選方法，尚待驗證。採A3b獨立剩餘容量配額及P事件順序（釋放先於接納）。已完成候選定義與原PPT兩包排程解析，不是已完成新演算法實作。採A3b與P，具體Label不變；需完成精確切片求解、P特殊端點、容量歷史Pareto與incompleteLB結果判定，獨立比對小案例。原PPT排程與之前固定排程程式證據不能轉成新搜尋器測試通過。SIPP提供位置加可停留時段與最早到達的概念依據，不直接證明DTN逐byte容量模型。來源：https://www.cs.cmu.edu/~maxim/files/sipp_icra11.pdf。沒有確認本方法新穎性、一般完備性或效率提升；不討論與學長或2024論文關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90c65a6c444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aa38bfd74e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3cde001654e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e545605b64d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271424a0145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c3754a4644d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69e47ace147a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d721a6e3148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395a00ed64c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4f7017d1e4f7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d65beb68d43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0b8422e3d4073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17CB1-9435-41DF-82BB-EBE192493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3155AB-ECC4-4CB3-BF8A-893BABB874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0D94CAE-DCE3-48FB-A997-859733C91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2F43941-8EB1-4187-83BE-D8ABB908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987B219-6AEA-4BA8-8156-6C1F123A4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ADF516-9F4E-4E4C-92BD-1729E5A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580DB40-74D7-4B89-8FCB-5AC492301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EF24556-A827-4E86-9219-D3657EC0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D220CB07-8D76-45C8-B823-9B0C603CA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E56A76A-34A6-45AB-B621-E82D19180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6A7B8F0-048C-4A93-8975-1B1B36798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C627E21-C2D9-4132-8BEC-38F2F15F3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E2EC14-8140-4ABB-8108-131B9462D3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55DD071-4CA6-4DEB-B5D9-8AA4B1866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6ABFE10-ED91-40FB-8305-7B6C125143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2D9E51-6359-4255-B60A-539E2E4D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102497E-E12B-4757-BE39-DE36964D5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EEB9E700-D46F-41AA-9B07-4D7359B66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AA103239-40F4-48E6-A385-EC0BFCC84B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6CBF9251-9BED-4996-AE9C-5DD38E3CD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6607526-40E0-46EA-AFBE-854EE2171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07FE15-FD05-4DE0-8404-D42E72011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76FB4E-56B6-4D68-A3B8-58BFC6A9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B07415C-80DE-4F77-BFD2-52ABB574F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B547701-8215-43DE-B7B7-401322A835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EE8E636-F393-470A-9840-FC82F2D83C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B13719B0-E439-4F10-878A-74858F6BE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09:13:30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82037E58-115C-47B8-AFB5-74C255EC6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1B7303D6-44E0-420C-BA71-C9B6D3A11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B37EA7-2E24-434D-B3D7-217E54E2F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556FE757-70C0-4D1B-84F2-7884EF9C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09:13:30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28D2C89A-C339-4FFA-BF94-10DCE1189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1304B679-7543-4BBC-ADFF-DC36462A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DF65CFB0-D7FF-4A0E-BE40-12AD98113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09:13:30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1B5EDC65-E733-4DFA-B875-E7E3B6D05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9D3D81AC-8F66-4CA3-B3A8-F05A43D70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6F7296-5C65-4814-8ADE-5B1F309E2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F4933B9-EB6E-41FF-BA9F-1ED249F96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01B082-3E49-4A50-9580-5864B143F4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E587D37B-ED61-4FE1-8485-9DD49D19F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06CAC0A-AB69-4732-BB4E-8B13B0486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93F33B9-5448-47F6-82BC-7FE04A520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908B78D-C03A-4470-94C0-8B7170BF8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B893DC8-701B-4758-ADB7-CC80CCBE22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EBCF15F-4849-4782-9AEE-0C1EC5C8A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FEF147C2-0717-47EA-A315-AE5CD6C13E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5047B99-EB23-4EC5-B2E7-78B0D89C6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255FF7D4-0920-40E5-ABF6-E67CA5474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D6AF44-41C0-4192-8DF8-BB3D41342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BEA3CCE-8088-484E-AD86-6D144DB2D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BD34116-9287-4371-84BC-FD6D97FCD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3AC95EF-96F5-4BC7-A115-B424D1B4D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57EAE0F-F82A-4FA1-A50E-B7FB5BE4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C6A94BBF-BEFC-481B-9438-527EF1307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15B7249-6406-48E7-B715-6CCD73AA0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CB53C38-D2B6-4857-AD30-A57D67D67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09DEB2D-D732-4E9A-BA07-2C037AB0C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7FD0F2-6911-46A0-B68F-D57125AE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09:13:30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4de2bbc0340f4" /><Relationship Type="http://schemas.openxmlformats.org/officeDocument/2006/relationships/slideLayout" Target="/ppt/slideLayouts/slideLayout1.xml" Id="R0db725cd558e478c" /><Relationship Type="http://schemas.openxmlformats.org/officeDocument/2006/relationships/slideLayout" Target="/ppt/slideLayouts/slideLayout2.xml" Id="Rb252824e1751487b" /><Relationship Type="http://schemas.openxmlformats.org/officeDocument/2006/relationships/slideLayout" Target="/ppt/slideLayouts/slideLayout3.xml" Id="R489f88ae44b74852" /><Relationship Type="http://schemas.openxmlformats.org/officeDocument/2006/relationships/slideLayout" Target="/ppt/slideLayouts/slideLayout4.xml" Id="R81507fd5bf0b40f7" /><Relationship Type="http://schemas.openxmlformats.org/officeDocument/2006/relationships/slideLayout" Target="/ppt/slideLayouts/slideLayout5.xml" Id="Rd69c44417ac04ae6" /><Relationship Type="http://schemas.openxmlformats.org/officeDocument/2006/relationships/slideLayout" Target="/ppt/slideLayouts/slideLayout6.xml" Id="R4c48a3539f924b95" /><Relationship Type="http://schemas.openxmlformats.org/officeDocument/2006/relationships/slideLayout" Target="/ppt/slideLayouts/slideLayout7.xml" Id="R10f3762926ec49f7" /><Relationship Type="http://schemas.openxmlformats.org/officeDocument/2006/relationships/slideLayout" Target="/ppt/slideLayouts/slideLayout8.xml" Id="Rdd8a3b873f1b4a5a" /><Relationship Type="http://schemas.openxmlformats.org/officeDocument/2006/relationships/slideLayout" Target="/ppt/slideLayouts/slideLayout9.xml" Id="R52ded408fd19474f" /><Relationship Type="http://schemas.openxmlformats.org/officeDocument/2006/relationships/slideLayout" Target="/ppt/slideLayouts/slideLayout10.xml" Id="R5faf1019cbf941f7" /><Relationship Type="http://schemas.openxmlformats.org/officeDocument/2006/relationships/slideLayout" Target="/ppt/slideLayouts/slideLayout11.xml" Id="R4c5a2be577d74f9b" /><Relationship Type="http://schemas.openxmlformats.org/officeDocument/2006/relationships/slideLayout" Target="/ppt/slideLayouts/slideLayout12.xml" Id="R7e9a313718324d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48D016A4-ABFB-4F58-A123-2AFB6746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2EBC1E-4899-4D02-942B-DB610249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A795A-1FC5-4DC0-B4FF-1A4571CCCE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09:13:30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153DEDF-26CC-481C-861F-FFD318218C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E1FE2B4-9A84-42DF-9FC9-64E3A777FB0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725cd558e478c"/>
    <p:sldLayoutId xmlns:r="http://schemas.openxmlformats.org/officeDocument/2006/relationships" id="2147483650" r:id="Rb252824e1751487b"/>
    <p:sldLayoutId xmlns:r="http://schemas.openxmlformats.org/officeDocument/2006/relationships" id="2147483651" r:id="R489f88ae44b74852"/>
    <p:sldLayoutId xmlns:r="http://schemas.openxmlformats.org/officeDocument/2006/relationships" id="2147483652" r:id="R81507fd5bf0b40f7"/>
    <p:sldLayoutId xmlns:r="http://schemas.openxmlformats.org/officeDocument/2006/relationships" id="2147483653" r:id="Rd69c44417ac04ae6"/>
    <p:sldLayoutId xmlns:r="http://schemas.openxmlformats.org/officeDocument/2006/relationships" id="2147483654" r:id="R4c48a3539f924b95"/>
    <p:sldLayoutId xmlns:r="http://schemas.openxmlformats.org/officeDocument/2006/relationships" id="2147483655" r:id="R10f3762926ec49f7"/>
    <p:sldLayoutId xmlns:r="http://schemas.openxmlformats.org/officeDocument/2006/relationships" id="2147483656" r:id="Rdd8a3b873f1b4a5a"/>
    <p:sldLayoutId xmlns:r="http://schemas.openxmlformats.org/officeDocument/2006/relationships" id="2147483657" r:id="R52ded408fd19474f"/>
    <p:sldLayoutId xmlns:r="http://schemas.openxmlformats.org/officeDocument/2006/relationships" id="2147483658" r:id="R5faf1019cbf941f7"/>
    <p:sldLayoutId xmlns:r="http://schemas.openxmlformats.org/officeDocument/2006/relationships" id="2147483659" r:id="R4c5a2be577d74f9b"/>
    <p:sldLayoutId xmlns:r="http://schemas.openxmlformats.org/officeDocument/2006/relationships" id="2147483660" r:id="R7e9a313718324d3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daf9401a84e5f" /><Relationship Type="http://schemas.openxmlformats.org/officeDocument/2006/relationships/notesSlide" Target="/ppt/notesSlides/notesSlide1.xml" Id="Rd66c55632f89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81ae7524184640" /><Relationship Type="http://schemas.openxmlformats.org/officeDocument/2006/relationships/notesSlide" Target="/ppt/notesSlides/notesSlide2.xml" Id="R46e496f9056c4b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6de30589947b7" /><Relationship Type="http://schemas.openxmlformats.org/officeDocument/2006/relationships/notesSlide" Target="/ppt/notesSlides/notesSlide3.xml" Id="R4bbcc1ce15f74e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e5743d34a4f6d" /><Relationship Type="http://schemas.openxmlformats.org/officeDocument/2006/relationships/notesSlide" Target="/ppt/notesSlides/notesSlide4.xml" Id="R5131342af57745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be4c9bb504387" /><Relationship Type="http://schemas.openxmlformats.org/officeDocument/2006/relationships/notesSlide" Target="/ppt/notesSlides/notesSlide5.xml" Id="R8bfdfee0f8ea42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e1552cb44433e" /><Relationship Type="http://schemas.openxmlformats.org/officeDocument/2006/relationships/notesSlide" Target="/ppt/notesSlides/notesSlide6.xml" Id="R0d2aec29a96e42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3e4dd62da40ac" /><Relationship Type="http://schemas.openxmlformats.org/officeDocument/2006/relationships/notesSlide" Target="/ppt/notesSlides/notesSlide7.xml" Id="R75dac25f5bc84e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fffdc52f34722" /><Relationship Type="http://schemas.openxmlformats.org/officeDocument/2006/relationships/notesSlide" Target="/ppt/notesSlides/notesSlide8.xml" Id="R34fdabb0ec6749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963f447fd4d83" /><Relationship Type="http://schemas.openxmlformats.org/officeDocument/2006/relationships/notesSlide" Target="/ppt/notesSlides/notesSlide9.xml" Id="R3b77c2149b5d45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f186f25f4af2" /><Relationship Type="http://schemas.openxmlformats.org/officeDocument/2006/relationships/notesSlide" Target="/ppt/notesSlides/notesSlide10.xml" Id="R08fbae19cb3b4f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1a62e93da43af" /><Relationship Type="http://schemas.openxmlformats.org/officeDocument/2006/relationships/notesSlide" Target="/ppt/notesSlides/notesSlide11.xml" Id="Rfd7491599d7d4a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27c2cb039495c" /><Relationship Type="http://schemas.openxmlformats.org/officeDocument/2006/relationships/notesSlide" Target="/ppt/notesSlides/notesSlide12.xml" Id="R7ef02ae5924745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c0c420e974b0c" /><Relationship Type="http://schemas.openxmlformats.org/officeDocument/2006/relationships/notesSlide" Target="/ppt/notesSlides/notesSlide13.xml" Id="R38371958f7a44e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ad0060bec480c" /><Relationship Type="http://schemas.openxmlformats.org/officeDocument/2006/relationships/notesSlide" Target="/ppt/notesSlides/notesSlide14.xml" Id="R07f6a4cfa82542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def71483342a2" /><Relationship Type="http://schemas.openxmlformats.org/officeDocument/2006/relationships/notesSlide" Target="/ppt/notesSlides/notesSlide15.xml" Id="Re7a1a4a95b7a42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0f13538a644cc" /><Relationship Type="http://schemas.openxmlformats.org/officeDocument/2006/relationships/notesSlide" Target="/ppt/notesSlides/notesSlide16.xml" Id="R217259aa1f494e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c9badaf3341b5" /><Relationship Type="http://schemas.openxmlformats.org/officeDocument/2006/relationships/notesSlide" Target="/ppt/notesSlides/notesSlide17.xml" Id="Ra88a8f6f3e194c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f68c2e1b245c4" /><Relationship Type="http://schemas.openxmlformats.org/officeDocument/2006/relationships/notesSlide" Target="/ppt/notesSlides/notesSlide18.xml" Id="Rfa299326d9c641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49be2f3b24303" /><Relationship Type="http://schemas.openxmlformats.org/officeDocument/2006/relationships/notesSlide" Target="/ppt/notesSlides/notesSlide19.xml" Id="Rd8439d85fcec40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0ce16a6e74e84" /><Relationship Type="http://schemas.openxmlformats.org/officeDocument/2006/relationships/notesSlide" Target="/ppt/notesSlides/notesSlide20.xml" Id="Rca9963d7cab844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6a8fea294b1a" /><Relationship Type="http://schemas.openxmlformats.org/officeDocument/2006/relationships/notesSlide" Target="/ppt/notesSlides/notesSlide21.xml" Id="R3be0c936ec4040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df07f0f4747a9" /><Relationship Type="http://schemas.openxmlformats.org/officeDocument/2006/relationships/notesSlide" Target="/ppt/notesSlides/notesSlide22.xml" Id="R23e39569abc648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73bedfd7e4e21" /><Relationship Type="http://schemas.openxmlformats.org/officeDocument/2006/relationships/notesSlide" Target="/ppt/notesSlides/notesSlide23.xml" Id="R542c80e793a84e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28fdc2e164ebb" /><Relationship Type="http://schemas.openxmlformats.org/officeDocument/2006/relationships/notesSlide" Target="/ppt/notesSlides/notesSlide24.xml" Id="R5b66d102eed4471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788a54c4f4801" /><Relationship Type="http://schemas.openxmlformats.org/officeDocument/2006/relationships/notesSlide" Target="/ppt/notesSlides/notesSlide25.xml" Id="Re310887c006e48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63646cec94c84" /><Relationship Type="http://schemas.openxmlformats.org/officeDocument/2006/relationships/notesSlide" Target="/ppt/notesSlides/notesSlide26.xml" Id="Rc677011108d8424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b62df64da410c" /><Relationship Type="http://schemas.openxmlformats.org/officeDocument/2006/relationships/notesSlide" Target="/ppt/notesSlides/notesSlide27.xml" Id="R09d68770b6944b2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3652437164c01" /><Relationship Type="http://schemas.openxmlformats.org/officeDocument/2006/relationships/notesSlide" Target="/ppt/notesSlides/notesSlide28.xml" Id="R3b1785c9dc4a46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a448514974740" /><Relationship Type="http://schemas.openxmlformats.org/officeDocument/2006/relationships/notesSlide" Target="/ppt/notesSlides/notesSlide29.xml" Id="R10a3f3d9fad7463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553ad06ad48f3" /><Relationship Type="http://schemas.openxmlformats.org/officeDocument/2006/relationships/notesSlide" Target="/ppt/notesSlides/notesSlide30.xml" Id="R133092bf60c845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c478e81e449b" /><Relationship Type="http://schemas.openxmlformats.org/officeDocument/2006/relationships/notesSlide" Target="/ppt/notesSlides/notesSlide31.xml" Id="R2dce790377714b6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ff8637fad48c1" /><Relationship Type="http://schemas.openxmlformats.org/officeDocument/2006/relationships/notesSlide" Target="/ppt/notesSlides/notesSlide32.xml" Id="Rd536011c93124d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7A150-4849-4B78-B634-7FB1C9E9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可行起送時段：Label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C9C8F-5C8F-4A47-A927-5742C20E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28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A11CD-B96C-47E3-9395-8E11895B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計算可用時段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contact＋buffer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6E6C1-CE58-4979-8572-5D5E5A97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09152-4A5C-4C9A-8134-FDA926B9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33625"/>
            <a:ext cx="2428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1B277-1B9C-475D-9FF3-C2ECEE83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431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選定起送時間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每段取可行最早點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DFD8D-0BC6-485B-BF08-449D1E88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D4F9F-BA07-4494-804E-FFAED1A3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33625"/>
            <a:ext cx="2428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3EE65-0398-4946-8536-40AE9F7D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建立具體 Label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(c, A, s, pred)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D4FCA-1002-457A-BF37-39A9197A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3FA1F-4B89-41A6-908C-E76BCCC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3625"/>
            <a:ext cx="2428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5CC81-E53E-4D2E-867B-CE4B43C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4317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完成路徑後</a:t>
            </a:r>
          </a:p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驗證並提交資源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DD531-8C1A-44A7-B666-9266F1E6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以可行時段取代逐秒起送迴圈。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FA48C-5545-424B-BAD5-9E465E80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單包最早抵達；前包確認後，下一包才使用更新資源。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1B2D2-22E9-4196-ABC0-56281F2F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每個 Label 都有確定的起送時間與完整抵達時間。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B154B-F0AE-4F5A-9AFB-B941DF56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64470-721E-4DFB-9B11-28389339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7357479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313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3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3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中央維護剩餘容量、Buffer 占用及 contact 已預約發送時段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2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前一包確認並更新預約後，再處理下一包。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D71A0-FB3A-49C8-ADE4-48EA9347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DE70-2DBB-43FB-B18B-AE3FBCB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與優先佇列 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B556C-EAE6-4737-B5DF-F371B8E6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8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(c, A, s, pred)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333625"/>
          <a:ext xmlns:a="http://schemas.openxmlformats.org/drawingml/2006/main" cx="10477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8763000"/>
              </a:tblGrid>
              <a:tr h="533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欄位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定義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最後使用的原始 contact；目前節點為其接收端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整包完整抵達目前節點的時間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在 c 上實際開始傳送的時間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前一個 Label，供路徑與各跳時間回溯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DBD99-9E45-4FC6-BF4C-C409CF4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Q 依 A 由小到大取出；Label 編號與 contact 編號分開。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4BC1E-4594-40E2-AF5D-52471F98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E2268-8A9B-4F39-81F9-8BE7E863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5361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8BD0994-8C0A-4BB9-BDAE-744E0D0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原拓譜與兩包需求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221D6-55A8-4680-95F2-59C3A359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EC30A-C51C-4A40-8B2C-4BC0E51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CA393-240F-47AE-8B96-D7B1E1F1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94996-D1AA-40E7-843A-80CDC60B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89FBF-2456-4E94-BDD8-CB89629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13861-A224-4452-B818-76761387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04933-F32A-4AAF-B462-27350B12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BA843-3F16-45A9-A0A2-479C278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889B5-6B9A-47CC-A184-EB12FFC7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ED213-23EF-4CF2-BB2A-3AF455EC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76921-5F1A-43C1-BBC5-F3D9377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6402E-9CE4-4197-BD5C-F0E2834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D4DF7-D3AA-4ACE-9F8D-BC638A7E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4ABC2-E6CE-4624-98AB-9FDFEC05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5BDF8-7EFF-4B4F-826C-DD628756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51B0C-E51D-40C2-941A-4B6099A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25AEC-F32C-4B87-A982-D380A14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16CB8-B29C-40FA-9A2E-F9045CAA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D670F-6F25-4C2B-8FAC-EE6C4EE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E1950-FE25-4CF7-9F82-ACEC1ED2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8C88A-05F3-4569-A183-63201476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5E4DCB-413C-428C-90BA-DA36E73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5F112-37DC-4E48-A271-3FC43614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3895C-BFA0-413D-91E0-44B1EBBE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1E555-7989-4FE2-B01A-A6FF1FF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B9527-F447-4690-BFD2-3521CAFA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5B093-647E-4CDD-82F5-98F90BCC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40337-2DF1-4F41-BFDA-7A957D43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766336-1967-41BD-8EE9-E1674FCA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D85D2-4D99-4C45-963B-F72A98B6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0E939C-2830-4AED-8861-B0E4ABE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A39929-95BB-4D56-99F9-6C9B2387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21EF7-1C6C-4119-A59A-044CB6F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A79E0-F045-4272-A8E1-46E22DF6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BF1AA2-61DF-4575-8BC4-55EBFB7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7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25409-10E6-4AC3-A6C7-BAFF9EAC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219631-F9DF-4BC6-9E00-7694DD3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6853BA-AB1C-465C-9188-E4F9B92C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25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176775-29E0-4D12-A5E9-B16ED254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F770C1-90EE-4E84-894F-01E8A0E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125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EACDAE-2989-4ACD-B6A5-03E3A33C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3350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E42430-7EBC-4BA2-93EC-F7B6223D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E659BC-EFE5-48C1-A3C1-AA85834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EF998F-CC4D-4CB5-A1EC-18D95466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24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1732BB-2851-454F-82B0-7EF4C061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B575B8-3E39-46CB-9D11-3AEB053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76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619840-788F-474B-BFBF-7ACED3E2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1762125"/>
            <a:ext cx="32543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C2AB94-3E01-487E-BDD5-7A9497F9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51DD11-D739-42C3-A493-708A3214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57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1820BC-CF83-4774-BF24-625BF616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32543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D73D6C-4B0F-43AF-8AF4-05F67622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150EEB-9C1F-421B-8BC9-A0CA3583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38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73E153-9137-4322-B056-1E5A84BB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188" y="2524125"/>
            <a:ext cx="32543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B3A11A-8BFD-4AF2-9A45-83A92F53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3B3F53-38EB-47E8-A8D7-52E596F2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19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EAFD54-217A-4981-BD12-8B2501D7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813" y="2905125"/>
            <a:ext cx="650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901B02-5052-4D24-9180-3B681640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D280E2-915E-4BE1-9796-AA1975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0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B985C4-045B-4852-A120-4289222B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125" y="3286125"/>
            <a:ext cx="32543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93493B-BA69-44A7-97D7-F5B6151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9CE6ACA-98C8-4C1D-ADBE-1734C455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D8A2A5-6F30-4F4F-BC1F-07832957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188" y="3667125"/>
            <a:ext cx="32543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C6FD00-9E0D-4CFC-9EFA-BE16871E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0A58A1-51F5-4920-A438-248F26EE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6BA767-309E-41E8-99B2-A201FFE0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4048125"/>
            <a:ext cx="32543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29B3BD-363F-411E-BCE1-9BF1C171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001566-4209-4154-9520-4A5FA8F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43425"/>
            <a:ext cx="3905250" cy="9525"/>
          </a:xfrm>
          <a:custGeom xmlns:a="http://schemas.openxmlformats.org/drawingml/2006/main"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170E14-A73F-4907-8D28-6FC91141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429125"/>
            <a:ext cx="32543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25E3593-ECBC-4DD7-8709-231CFE87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S=4 MB；r=4 MB/s；各節點 buffer 上限=4 MB。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8E60F7-9CB3-4573-A956-F374052C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X→D，g=0；第二包 A→D，g=1。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B5C8F0-66D9-40BF-A313-9C10963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整包傳輸需 1 秒；兩包依固定順序規劃。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D53215-64E0-4028-B289-F2A1FCD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AED419-1993-41EC-9AED-19B87CB8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8885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85676-E85F-4A1A-A9DB-FD797EFF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與容量配額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685925"/>
          <a:ext xmlns:a="http://schemas.openxmlformats.org/drawingml/2006/main" cx="104775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619250"/>
                <a:gridCol w="1809750"/>
                <a:gridCol w="1428750"/>
                <a:gridCol w="2286000"/>
                <a:gridCol w="2381250"/>
              </a:tblGrid>
              <a:tr h="400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傳送時窗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δ（秒）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初始 R（MB）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第一包後 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X→B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[6,7]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[7,9]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B→D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[10,11]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A→C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[4,5]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C→D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2AFA8-2709-46F7-BA74-7779C121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R 檢查資料量，F 檢查傳送時段；兩者都保留。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86218-A59B-4222-9912-BC34C9C4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AF683-B44C-4C91-9A45-EAF769FD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8950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36905C-8C67-40E2-A00D-64559C9F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第一包：經 c1 完整抵達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35E0A-4CC7-4642-A2BC-6DE7D0E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46CA3-68D8-4334-A423-9A5FD79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DD553-B601-46D7-A164-430F4DF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8EEBB-2D73-46FA-89A4-60393AC8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F6152-92A7-4E31-A7A0-24FC3EE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18E97-D966-4DE2-853E-F4B50A67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5D536-BC66-4FCC-908C-FC3975B0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43E9D-C05A-4173-AA02-95BC0843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29279-BC3E-4062-9D6D-A88395EA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C0540-B1C2-409A-971D-13EF4F77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AAC61-CB2E-4421-8A3B-7EF40187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205AE-A791-4F57-A0E9-EEC38394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0134E-B7B3-4078-9FA8-8973941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822F9-B9A4-4F26-B5B8-440C6663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08428-B0CD-4AB1-9624-B3BCA9BE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B7C02-50C1-42CE-A42D-239C4894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16CE7-464C-42EE-9DCB-3E716FE8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B53FF-5D3B-434F-B6C4-F9E7246B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CC6ED-4024-47D7-9B23-AABC66F6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A0838-BE42-4869-A1D1-EA6AEBE0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63AEB-E909-42FA-AAEA-D9AEC7D9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02B0F-23B8-495B-9B50-10AC8418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4A1A1-14A0-419A-B811-A7A8E56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5E6AB-D8A1-41DB-A582-8D589E9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99E22-9404-4D1B-A33A-81FB36F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1E722-8FCA-49A5-BEFB-B14C4DF7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EFF72-CE5F-47DC-BCC4-217225A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5320D-C8C0-4D18-94A8-26BD5382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5971D-EEF6-44BC-B80F-BB6D916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E320B-28D9-4666-9A44-1D204783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4DEA19-EA16-44DD-9873-CF7FDE8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00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0716EE-4B62-42F3-9A4C-8C363A31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2DB85-3F70-48F9-A16B-533FF8D8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00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40AC81-E283-4E3C-A21B-A01F1034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752256-E37F-4ACD-9F2C-DBB41B90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400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8A5682-462F-4D19-9BD3-38355E85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AB345B-6398-4BE5-87D6-3DA2A031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400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282DF7-1E46-4A7C-9ADB-13564486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86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052E41-7E96-4620-8ECD-BD609E69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400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D5F84B-9DCB-4E53-8890-FDCE7ED7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00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09FEE4-DDD9-4016-9FA7-774F5390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9F11E5-AECE-4A57-A371-1498423E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C14F8F-4D43-4273-99F4-8324795F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8C3E11-EB10-4F6C-AAA7-961AA39B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X 傳送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10E8F3-513D-41F3-BB77-985945CA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6BA08E-3BD9-4F2B-ACCB-5666B43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1D6ACD-1851-4594-BA2E-BFD9F24B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C0190F-86DF-44B0-80E0-15C7446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5B2631-79FB-4AE0-BE3A-962222DD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A5BFE2-6FEC-4C09-B8C3-A5AF549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 = (c1, 3, 2, L₀)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EA4B10-AC9B-4851-9195-EE1352E7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6257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Q：[L₁：A=3]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56C976-45F3-4626-BA12-E0E2855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完整接收後才可轉送；建立 Label 時已確定 s 與 A。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4725CE-9505-454E-997A-E17C637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898328-7451-46C3-A984-4D908F68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1462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584DEB-8DF0-467A-9B3B-02428DE3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第一包：在 B 檢查 c2、c5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E6909-BCE2-440B-BEBB-64A0BA47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B35D2-6F92-4010-9CFB-426472D4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B8163-301C-49F6-946D-82508D02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A5034-DF40-4DCA-8D1F-0EDB6DC7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B047B-5218-4BFC-AFE6-50257EB5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F13E7-A9CA-487B-8F99-FB5571C9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8CE4A-E2EA-421E-B030-2B4D7CB6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3DC36-3FC5-4E6A-A8F9-068C3BAE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7869B-D9EF-4E6E-A918-54395AC3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3BF7C-9F52-49FF-BB6A-5C72E148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F37B9-4605-4CBF-9444-5807C76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19F81-D937-43D8-933D-B76D94B2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243EB-8B36-49F2-B876-BCC01E18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DA996-BFCD-440A-A85F-5523CEDB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E84E3-C0FC-4F8F-B787-6E293F20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D5DA-DF14-4CAD-930B-182BE3C1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2B793-17E8-49DA-9C88-A8D2C8EB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7206C-88F0-4FC9-BC76-61AC5A6C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803E7-96F2-46AE-ACA5-016C5BE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042E1-386B-4697-82E5-0F2E2399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88109-BF21-47C0-A9ED-ACB562D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77AB7-9F23-41FC-A268-8C851D2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914BC-3B1B-4FC4-83CE-83BE656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3DA66-6116-4F23-B6F4-FA96F77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FD7A9-D124-4A6D-970A-3EB1D346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9FACC-F62B-42CD-8F23-AD96DE1F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B76929-BEC4-46F3-A882-F119D061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D7DD8-F978-43E7-977D-760F2627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8BB00-0B79-4842-AD7F-B43F7F14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BB5BD-AAC9-46F1-9E96-324E47B3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A2AF90-989D-4774-9EDF-F4630C7F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64A9D-4F2D-436C-BF14-C3CDEF2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67349-1E3B-4752-9ED0-1040F957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9DA27E-92F3-4D98-B51A-53C9354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C7B101-DFA2-4CE3-97DB-04726E74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9DAAFB-3A1D-49CD-BC45-2256BAE3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2AEA66-F97A-41BD-BEA9-772C249C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58A9EB-35E2-4AEB-A9B8-D81D1AA5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E3823C-BFA6-4F9C-869B-E74F6B6C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63AABD-D2D4-495C-9878-68AB273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B00EA8-F086-44A7-B012-69587B40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B3F893-A5EB-4995-8EA1-52E68AD5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5246D5-01EB-433D-BA1D-3F9E03EF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5AB576-F385-4CED-8105-5D7DE20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722C10-E9E6-4690-9B91-2D350BF8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傳送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55DC2A-DE6A-4FC5-874C-9B790FE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50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4F7E7D-902D-43A4-BCCE-A1855BCE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C02E6C-CC77-4D0D-B066-B32881A1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192DD7-DFE8-45F7-9298-2B339C27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FA57DF-6699-4901-98D3-0C6A11E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76225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CE2D8B-0FBA-4373-8EDA-44C12D2D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 傳送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60E13A-5AD4-4D6B-A71A-C447169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301A3F-B2AF-4E5D-8BFE-6FE489AC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52425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2A980B-584D-409D-9E1B-87D9A53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3F4B94-B1E8-46C9-8EB6-C1E04442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8C6EAE-9A48-4D23-B2EE-DBA5C180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00" y="409575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C37A79-CFDC-4DA7-8E1C-6BE324E8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816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L₂：A=8　　L₃：A=12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CA5FD4-A035-470B-A5D9-9E4F87D9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Q 先取出抵達 8 秒的目的地候選；候選不先扣資源。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CA3547-3497-4530-B9AA-4B389168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BE0F26-3559-4551-85E6-DD6575E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7771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7A04C8-37DE-42EF-87C3-7CEBDF1C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第一包：選路並預約資源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B31D-B0A9-4EB9-B82E-CA24BA7A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45A00-8FA2-42FE-ABB6-7B97D9B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45D8C-8DAC-4F35-91D8-539104F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B1D40-02C0-460F-85D5-739C0023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5E8CE-CEA7-45EB-B9A7-3B9B5B7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B485F-DAE4-4688-B3F4-67E1C05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71B03-D5BF-4384-9A7B-0DAF32C9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1B6BE-693B-47B0-9E61-B788F2D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C8516-A1B0-4F21-A4BE-66EAEA4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8E5C1-06CF-45A5-AC90-F0B531A2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A8E3F-6E0E-4D55-B853-F29B0DBF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C9A83-7B9B-43FA-A442-14D4B00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47FD4-994D-452D-B2B1-E06A6A76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7B00A-59B6-463D-9BF2-95827168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FE1E2-4637-4F04-B1A4-5A4CBB9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AE20C-669F-47D3-B45B-6ECB60AA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22E6C-D9B8-4B3C-A9D7-0951230C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3B15E-F8A8-4554-8636-FDACFED9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8A9AE-3D0C-4CC2-8DC3-EB60E8FA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3BD7B-BA11-46B2-BFA5-B64152D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F172D-AA28-4789-9B8B-B26702B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0DC8F-253A-498E-8916-E325309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E30CE-C2CF-421C-A9EB-D80095E1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BCD97-BBE7-4CB9-91EB-81AF5A0A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DF2AC-22FE-4BAC-952B-2A7B72FB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ACE8D-E8F5-47EF-8D0B-AE66ADE8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3BB29-BD30-49EC-AFFB-15C6A53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BC59E3-48AF-48B9-A4C5-B8B867A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1A459F-A52C-4295-B5D5-73507931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B：第一包占用（MB）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C4FD94-81FC-41B7-8484-91BDB970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2095500"/>
          </a:xfrm>
          <a:custGeom xmlns:a="http://schemas.openxmlformats.org/drawingml/2006/main">
            <a:pathLst>
              <a:path w="4191000" h="2095500">
                <a:moveTo>
                  <a:pt x="0" y="0"/>
                </a:moveTo>
                <a:lnTo>
                  <a:pt x="0" y="2095500"/>
                </a:lnTo>
                <a:lnTo>
                  <a:pt x="4191000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2D9539-3ABA-4CDA-858B-ED0F152B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29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7FC517-16BF-4F5F-BBD2-5841FAD5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5AC534-2583-41A3-9409-C6E6B1C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8F944A-4E89-4E3D-978F-588CA854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698500" cy="9525"/>
          </a:xfrm>
          <a:custGeom xmlns:a="http://schemas.openxmlformats.org/drawingml/2006/main">
            <a:pathLst>
              <a:path w="698500" h="9525">
                <a:moveTo>
                  <a:pt x="0" y="0"/>
                </a:moveTo>
                <a:lnTo>
                  <a:pt x="69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5D3876-793B-40E9-93CF-756E4912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476500"/>
            <a:ext cx="349250" cy="2095500"/>
          </a:xfrm>
          <a:custGeom xmlns:a="http://schemas.openxmlformats.org/drawingml/2006/main">
            <a:pathLst>
              <a:path w="349250" h="2095500">
                <a:moveTo>
                  <a:pt x="0" y="2095500"/>
                </a:moveTo>
                <a:lnTo>
                  <a:pt x="34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EE6272-A62E-457F-A575-FF25B4E3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047750" cy="9525"/>
          </a:xfrm>
          <a:custGeom xmlns:a="http://schemas.openxmlformats.org/drawingml/2006/main"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E8ADAA-C025-4389-A9EA-055AC566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349250" cy="2095500"/>
          </a:xfrm>
          <a:custGeom xmlns:a="http://schemas.openxmlformats.org/drawingml/2006/main">
            <a:pathLst>
              <a:path w="349250" h="2095500">
                <a:moveTo>
                  <a:pt x="0" y="0"/>
                </a:moveTo>
                <a:lnTo>
                  <a:pt x="349250" y="2095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75FFEA-F984-47AC-A144-EA27A47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750" y="4572000"/>
            <a:ext cx="1746250" cy="9525"/>
          </a:xfrm>
          <a:custGeom xmlns:a="http://schemas.openxmlformats.org/drawingml/2006/main">
            <a:pathLst>
              <a:path w="1746250" h="9525">
                <a:moveTo>
                  <a:pt x="0" y="0"/>
                </a:moveTo>
                <a:lnTo>
                  <a:pt x="174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BCB22C-553D-4729-917F-487B5963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544FC5-ABE1-480F-8DB7-B3B740DB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B33B36-D2C7-4DA3-B231-72C2B201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6431AC-63A8-4B39-BA2D-A32056A8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4A4B34-1587-4BF5-8E15-E661CE8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62F026-A91A-48B1-B132-54521B0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2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E1F86F-E49B-4268-8B99-074486E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14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8CD83B-0FF1-4EE9-AE61-F3C4749B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714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3F92B-1904-447E-AD44-9FB2CAA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選定：c1 起送 2 → c2 起送 6 → D 抵達 8。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06C0E1-9AFA-4315-B3E4-79A38809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R[c1]：4→0；R[c2]：4→0。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3F6EF4-5A3C-4565-B559-DBAB7ACB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提交後，第二包才讀取新的 R、F、O。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7BA3EA-4839-42DC-BA9C-66748ADC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先驗證完整排程，再提交；不預約尚未選定的候選。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696456-074C-459A-A198-60F62CD3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A5D0BC-D720-4FF7-80BE-265FFDF5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4885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3E6FD-D06E-49F4-888D-32DD3F63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第二包：B 能完整持有的時段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9B1EB-31DF-4FEB-8016-C3E07F57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 既有占用 O_B(t)；S=M_B=4 MB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2D72B-EDC7-4ADC-93A6-F2ED4199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8763000" cy="2190750"/>
          </a:xfrm>
          <a:custGeom xmlns:a="http://schemas.openxmlformats.org/drawingml/2006/main">
            <a:pathLst>
              <a:path w="8763000" h="2190750">
                <a:moveTo>
                  <a:pt x="0" y="0"/>
                </a:moveTo>
                <a:lnTo>
                  <a:pt x="0" y="2190750"/>
                </a:lnTo>
                <a:lnTo>
                  <a:pt x="876300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11FD0-6788-49DC-BC8D-0A425A7B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5CF3C-3EDB-439C-92BB-56E5BE7A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57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4141C-CFEA-43C3-9FE0-C6AB8214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8763000" cy="9525"/>
          </a:xfrm>
          <a:custGeom xmlns:a="http://schemas.openxmlformats.org/drawingml/2006/main"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78A0F-BFFB-4413-91C8-CE404B8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460500" cy="9525"/>
          </a:xfrm>
          <a:custGeom xmlns:a="http://schemas.openxmlformats.org/drawingml/2006/main">
            <a:pathLst>
              <a:path w="1460500" h="9525">
                <a:moveTo>
                  <a:pt x="0" y="0"/>
                </a:moveTo>
                <a:lnTo>
                  <a:pt x="146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A38FF-3EE5-458C-BE31-9638E0C5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000250"/>
            <a:ext cx="730250" cy="2190750"/>
          </a:xfrm>
          <a:custGeom xmlns:a="http://schemas.openxmlformats.org/drawingml/2006/main">
            <a:pathLst>
              <a:path w="730250" h="2190750">
                <a:moveTo>
                  <a:pt x="0" y="2190750"/>
                </a:moveTo>
                <a:lnTo>
                  <a:pt x="73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687A2-8E6A-4CFF-B152-5DA58A8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190750" cy="9525"/>
          </a:xfrm>
          <a:custGeom xmlns:a="http://schemas.openxmlformats.org/drawingml/2006/main"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F04A1-8F0A-4222-9A6F-456DD66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730250" cy="2190750"/>
          </a:xfrm>
          <a:custGeom xmlns:a="http://schemas.openxmlformats.org/drawingml/2006/main">
            <a:pathLst>
              <a:path w="730250" h="2190750">
                <a:moveTo>
                  <a:pt x="0" y="0"/>
                </a:moveTo>
                <a:lnTo>
                  <a:pt x="73025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B065D-51BD-4775-A3A2-01D9B17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4191000"/>
            <a:ext cx="3651250" cy="9525"/>
          </a:xfrm>
          <a:custGeom xmlns:a="http://schemas.openxmlformats.org/drawingml/2006/main">
            <a:pathLst>
              <a:path w="3651250" h="9525">
                <a:moveTo>
                  <a:pt x="0" y="0"/>
                </a:moveTo>
                <a:lnTo>
                  <a:pt x="365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390BE-B5BD-47E5-8F7C-F6543E4E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CADF3-F037-4687-850E-30359E9E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7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92291-62E3-4625-936E-88D3FC01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EBF31-9D9C-44EA-A23B-83616EB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4E45E-5E60-4322-A7B0-EDB6A4B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33457-FAA8-48B9-924E-009519F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53E3D-F47C-4273-8708-F1500366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338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7B5FF-F2C6-486D-A196-00D0BD9F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333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39709-3614-4ABC-9757-F3BF9ADD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可持有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795EC-013A-4765-864F-1D34D20A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9334500" cy="9525"/>
          </a:xfrm>
          <a:custGeom xmlns:a="http://schemas.openxmlformats.org/drawingml/2006/main"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74046-7CD1-408D-BD38-47957065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46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36CD9-6A90-4596-9BC9-BED0CF8E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0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34FA0-371C-479D-95F3-87E3F7F0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9334500" cy="9525"/>
          </a:xfrm>
          <a:custGeom xmlns:a="http://schemas.openxmlformats.org/drawingml/2006/main">
            <a:pathLst>
              <a:path w="9334500" h="9525">
                <a:moveTo>
                  <a:pt x="0" y="0"/>
                </a:moveTo>
                <a:lnTo>
                  <a:pt x="933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059B7-AF55-438C-8560-7DA8F3D1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4953000"/>
            <a:ext cx="365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D69808-01A1-4781-B20A-8172152A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H_B = [0,2] ∪ [7,12]；不同時段的候選不能只比較早晚。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01A598-01FD-45FC-9CE9-6161C8A3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DAFB60-37D5-4254-82F7-922F759A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30897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C4CE7E-0C68-4A85-A06B-4234D49A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第二包：延伸來源的三個 contacts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3DA34-34B9-4D86-8C6C-570D10FB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15D97-BC1C-4D2D-9A27-62132C1C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3A926-9A29-404A-8522-3533180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46A59-774C-4258-9803-ED4195B3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82D37-475B-4201-98C5-056BD03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80A7A-8EC2-44C5-B8C4-6386A8E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4E940-7895-4124-87CF-90D6B7C5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A45B6-CB64-4261-A1BA-37852C54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DC532-A45B-4A1E-8927-7A8D462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C1BB6-2F1A-43BC-8FE9-E9C3A8E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81ED0-492B-4D11-8AD4-F1E50468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28A9E-92D9-41F5-8F18-7185D44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4B83A-B9BD-4A06-AE5A-41341CA7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5D93A-CF31-492E-9C6E-A01BCAA3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488F8-34D9-485F-B36A-B64A5887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6658F-D7B0-415C-8B84-46800A1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2E75D-B024-408E-A7BF-E25F0CA0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DE2CE-745D-4C1A-AB89-C9E463BB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FF5440-D69B-42BA-9098-1AD1EE8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ADEF8-789F-457A-A89A-2081451E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26C27-8584-431A-A4D4-676C0E3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BB3B0-31B0-4353-82EF-43F1ED8C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64194-14A9-45D7-8E01-297BC45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396DA-EF14-4AB6-8553-12BB6345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3E72F-FA54-48A8-A58F-3254FDA2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E1D79-D0F2-442B-B684-BF537BCB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CFECD-D025-42CF-B685-6387E7BE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7F416-DD86-438B-B7EB-D37344E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143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1190625"/>
                <a:gridCol w="1190625"/>
                <a:gridCol w="1571625"/>
              </a:tblGrid>
              <a:tr h="5953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檢查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選定 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抵達 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新 Label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L₃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0F6096-A1A3-4FBD-BC17-CFEFEC3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的可行起送時段為 [7,8]。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B35B4-5180-4CA9-905C-35E78FEF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先延伸完 L₀，再依 Q 的抵達時間選下一個 Label。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E6625-C38E-4C2E-BA11-77D54A9F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8C212-C4A2-42F3-B380-201ED13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0303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1C7D5-9DBE-4FB1-B107-4CCFFAE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c4：一段可行時間只選最早點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1F79F-7A1A-454F-A8C4-FEC9066A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8096250" cy="9525"/>
          </a:xfrm>
          <a:custGeom xmlns:a="http://schemas.openxmlformats.org/drawingml/2006/main"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26C45-45B0-4BBA-9B8A-CC2E7507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6E5A4-4D84-43C5-8C63-A9F8A31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0CD01-5B4E-410B-A414-66918D22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FE643-F6A9-42E4-A99E-0F8F1CA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850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A18B8-165D-445F-85AF-B0C72C29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9E8DF-D220-4155-AFAA-B3762A5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1A73F-978F-4BE6-83A7-B487F519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6CB00-5CA2-4499-8A9A-789C1B86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BAE95-8244-44D8-B906-D9646066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0C661-73A2-46A7-8850-5131992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3975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787FC-96BC-4134-A952-9B73129F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125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5F0C4-D555-4A9B-9A80-34FE4B5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B72A9-95D8-4B9D-A4DF-DF82FDFE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2F08A-93BB-4EBE-A8A6-9AFB712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162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A286A-E117-49B7-9A4E-435B194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162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BEF59-B8D4-4C37-96DA-0216C2B6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原 c4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F80F6-3D21-4955-A93C-5469F7D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8667750" cy="9525"/>
          </a:xfrm>
          <a:custGeom xmlns:a="http://schemas.openxmlformats.org/drawingml/2006/main">
            <a:pathLst>
              <a:path w="8667750" h="9525">
                <a:moveTo>
                  <a:pt x="0" y="0"/>
                </a:moveTo>
                <a:lnTo>
                  <a:pt x="866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8E6EB-16AE-4282-8E58-4946B794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063" y="2190750"/>
            <a:ext cx="1349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EBA61-3137-4353-B260-14017AA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可起送 J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4EF2F-E2A8-4763-B91D-87A42FD9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8667750" cy="9525"/>
          </a:xfrm>
          <a:custGeom xmlns:a="http://schemas.openxmlformats.org/drawingml/2006/main">
            <a:pathLst>
              <a:path w="8667750" h="9525">
                <a:moveTo>
                  <a:pt x="0" y="0"/>
                </a:moveTo>
                <a:lnTo>
                  <a:pt x="866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8A39E-AB03-4AC4-96C1-3FBDD8BB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063" y="3143250"/>
            <a:ext cx="67468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EBB7F-FF78-41AD-840C-36C748DD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選定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003AE-73C8-4D95-AA7D-95AE944B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8667750" cy="9525"/>
          </a:xfrm>
          <a:custGeom xmlns:a="http://schemas.openxmlformats.org/drawingml/2006/main">
            <a:pathLst>
              <a:path w="8667750" h="9525">
                <a:moveTo>
                  <a:pt x="0" y="0"/>
                </a:moveTo>
                <a:lnTo>
                  <a:pt x="866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5EA69-08FC-4CE6-B9F5-BE6E4A8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063" y="4086225"/>
            <a:ext cx="9525" cy="276225"/>
          </a:xfrm>
          <a:custGeom xmlns:a="http://schemas.openxmlformats.org/drawingml/2006/main"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9742C-FD78-4B06-956F-D4E8D33F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建立 L₃=(c4,8,7,L₀)；不建立 [8,9] 抵達區間 Label。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062ED-BB5F-47B9-8EAF-95F9C216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5BA2F6-E86F-42BE-B4BC-80D966F0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4786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EC0C2-3083-418A-952E-0CBF2700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接收可行，不必等到空間完全清空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ADB33-4E37-4627-93EA-675A7FB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獨立示意：前包在 7～8 秒釋放，新包同步接收。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0DBEC-6CF9-4AD3-8E04-7BF8AEDB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866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 占用量：橘＝前包；藍＝新包；綠＝合計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58AA5-D5B2-4666-8CBE-6DEE7D3D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8286750" cy="2000250"/>
          </a:xfrm>
          <a:custGeom xmlns:a="http://schemas.openxmlformats.org/drawingml/2006/main">
            <a:pathLst>
              <a:path w="8286750" h="2000250">
                <a:moveTo>
                  <a:pt x="0" y="0"/>
                </a:moveTo>
                <a:lnTo>
                  <a:pt x="0" y="2000250"/>
                </a:lnTo>
                <a:lnTo>
                  <a:pt x="8286750" y="2000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52F30-DD35-4F75-8E25-1079F13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253C-836F-4CB0-B3B9-BF3F0A6E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6DBBD-6F05-47EA-BD61-96A1663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8286750" cy="9525"/>
          </a:xfrm>
          <a:custGeom xmlns:a="http://schemas.openxmlformats.org/drawingml/2006/main">
            <a:pathLst>
              <a:path w="8286750" h="9525">
                <a:moveTo>
                  <a:pt x="0" y="0"/>
                </a:moveTo>
                <a:lnTo>
                  <a:pt x="828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83673-CE1D-49CE-859B-72C7EBBB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4833938" cy="9525"/>
          </a:xfrm>
          <a:custGeom xmlns:a="http://schemas.openxmlformats.org/drawingml/2006/main">
            <a:pathLst>
              <a:path w="4833938" h="9525">
                <a:moveTo>
                  <a:pt x="0" y="0"/>
                </a:moveTo>
                <a:lnTo>
                  <a:pt x="4833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C3814-03EF-42CC-A61A-D2C7AE8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857500"/>
            <a:ext cx="690563" cy="2000250"/>
          </a:xfrm>
          <a:custGeom xmlns:a="http://schemas.openxmlformats.org/drawingml/2006/main">
            <a:pathLst>
              <a:path w="690563" h="2000250">
                <a:moveTo>
                  <a:pt x="0" y="0"/>
                </a:moveTo>
                <a:lnTo>
                  <a:pt x="690563" y="2000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6E72F-6D0F-4B48-88D1-A324AD7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2762250" cy="9525"/>
          </a:xfrm>
          <a:custGeom xmlns:a="http://schemas.openxmlformats.org/drawingml/2006/main"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3748A-572F-4227-8849-E97B252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1B4A9-D7F0-4798-9772-6664836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BACB5-FAA5-4A45-9979-28D58838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66297-C129-4EC0-8F96-B589E79D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A72DA-650B-4408-A17B-614A00A2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14351-F1EC-4D67-B9E2-1C37F98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08FEB-9CBE-447A-8BEC-CE74627E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006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CE092-3642-400E-9FB7-55EF45A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00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32793-3C9B-40F7-9FAF-866D0D7B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4833938" cy="9525"/>
          </a:xfrm>
          <a:custGeom xmlns:a="http://schemas.openxmlformats.org/drawingml/2006/main">
            <a:pathLst>
              <a:path w="4833938" h="9525">
                <a:moveTo>
                  <a:pt x="0" y="0"/>
                </a:moveTo>
                <a:lnTo>
                  <a:pt x="4833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9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0D518-1852-4D77-9F52-638D85C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2857500"/>
            <a:ext cx="690563" cy="2000250"/>
          </a:xfrm>
          <a:custGeom xmlns:a="http://schemas.openxmlformats.org/drawingml/2006/main">
            <a:pathLst>
              <a:path w="690563" h="2000250">
                <a:moveTo>
                  <a:pt x="0" y="2000250"/>
                </a:moveTo>
                <a:lnTo>
                  <a:pt x="690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588A3-6536-454D-87D5-C83047D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762250" cy="9525"/>
          </a:xfrm>
          <a:custGeom xmlns:a="http://schemas.openxmlformats.org/drawingml/2006/main"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33339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1F0C7-9EA3-4995-8699-A5B6B7F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8286750" cy="9525"/>
          </a:xfrm>
          <a:custGeom xmlns:a="http://schemas.openxmlformats.org/drawingml/2006/main">
            <a:pathLst>
              <a:path w="8286750" h="9525">
                <a:moveTo>
                  <a:pt x="0" y="0"/>
                </a:moveTo>
                <a:lnTo>
                  <a:pt x="828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07C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E7ED6-C9AB-4471-9664-497405A4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必須計算「既有占用＋逐步接收量」，不能只看何時完全空出。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FA219-21B2-451A-9020-19FE63D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EB33C-BC6F-404B-AA8A-B0B3AC13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906536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B5B89-D51B-44C9-8B63-42AAEC89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的排序：依抵達時間，不依編號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6EE11-B96F-494B-BBC0-30F39580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5C153-5CBF-4CCB-A553-47A8AF7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 = (c3, 2, 1, L₀)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CA1B2-E169-4193-B33E-8551FCB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67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AC68E-06AD-4C18-BE8A-BB9D2A0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76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5A4DD-3C6A-40A3-9F7B-C5A99C1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= (c6, 3, 1, L₀)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74A70-53DE-4549-AE8B-CB010E7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12545-4E75-450C-96AB-1FF01C2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99A68-92C2-485D-8198-11D3370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L₃ = (c4, 8, 7, L₀)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E9735-B39B-4188-8684-2800A506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先取 L₁：到 B，完整抵達時間 2 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6C1B0-85CC-4AA4-9494-55B647D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接著取 L₂：到 C，完整抵達時間 3 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0B75E-7DE0-4F00-AA22-EC277E97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最後取 L₃：到 B，完整抵達時間 8 秒。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43707-9A82-4E36-8CF5-2C4CAD17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建立候選的順序、實際傳送時間、Q 取出順序是三件事。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7BDA4-2D80-4F9F-BD6C-9FF32EC4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BA164-D3AD-4FA0-A94F-386345E2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40968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034F9B-1BBF-4987-A7E0-3EF9194B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L₁：早到 B 仍無法往下走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22702-8CF3-4ABD-8BF9-853DF1AC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5C681-CF10-4E7D-93D7-1C95186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50A98-3012-42CF-B89E-FEDE619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B52C2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E0EAD-478F-42BF-9BDB-8CDE6A3B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B52C2C"/>
          </a:solidFill>
          <a:ln xmlns:a="http://schemas.openxmlformats.org/drawingml/2006/main" w="9525">
            <a:solidFill>
              <a:srgbClr val="B52C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BD833-70AF-45B6-B582-0032DD84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AE32E-13F4-4B6C-9AB1-6C15F6C5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F9BA0-3A9F-48A2-94F4-D9B580F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3414C-954C-4B09-84A8-2F9DCD70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EBBC9-5D73-42F6-871F-29193655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6CEA7-730D-414B-BEEA-47AB4F16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76085-8D54-4DD6-A9AE-E13BB4C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335ED-0841-4AA1-93D9-873A650F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4D8C7-1C66-44E9-A2CE-6917BDB5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79B08-87E4-4968-8FEF-660CEDA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19BD54-F139-46D9-9A9E-4308CAB7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D78DE-2B9E-455D-B806-C101AF55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3C025-2DDF-43AB-9701-763C288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DF6C6-C3A6-4A06-89E4-0C67C95F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76C77-673F-46A0-8A2B-1FF8649B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9B18A-8ABC-471F-8A66-9713CF1B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55DC4-47F3-4777-B283-8DF8DF59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56EAC-E08F-4053-9162-C1CFADD7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33E3D-848B-43C4-B86A-49AC948C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41254-9455-491B-97D6-11C5B7E0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060EE-ED23-48CA-8DEA-5829A06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0AE9B-F3AB-46B3-8A9A-9FD4650E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700CF1-EDCB-4BB5-9A29-D890FE4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024A6-151B-4CE8-BC4B-A6DF3CE3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8733A-6BD3-42F9-8E44-D43D7C83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L₁：c3 起送 1，抵達 B 為 2 秒。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B0147-FB0F-4850-9E08-040E5D9D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c2：R=0 &lt; S=4，容量不足。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8E4F9-9ACD-4DC6-B868-757A603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c5：需等到 10 秒，中途 buffer 會超限。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E8C220-B183-4EE0-9509-093D204F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H_B 的 [0,2] 與 [7,12] 不相連。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D5AB75-722F-48C1-91D2-F0B2C38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沒有建立子 Label；Q 剩下 [L₂：3，L₃：8]。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2E80D-43F6-4251-9E7F-E7F91D23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F8F85-0995-4FD9-93EE-DE2AD53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48445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7BDA3-C1F2-4CE2-AA3B-9977FCC4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L₂：在 C 先檢查 c8、c7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4F756-1993-4A38-9C92-F3E90057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C8E5B-D4FB-4A78-B81B-CCDAB90D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20E86-F032-4450-8F30-FCE2B7D8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4D81B-86AB-4964-B7D1-3C9E209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47FF-5081-4847-A6BD-07BB256B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55431-18FF-4D1C-BB74-877DB1A5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F0D4E-FC3D-4775-80A9-8B32BD9F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3333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5168E-4B6C-4414-B737-D4B86EBC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BF467-1F3F-4799-A75F-BC08C7C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B52C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FFB1A-1BD4-4EDE-9B58-0DE7C67F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B52C2C"/>
          </a:solidFill>
          <a:ln xmlns:a="http://schemas.openxmlformats.org/drawingml/2006/main" w="9525">
            <a:solidFill>
              <a:srgbClr val="B52C2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F0096-951D-4C76-AD7C-F767CA55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8FA36-4AF2-4FB2-A600-38B6563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C7FB1-A99C-46E4-8321-4BD8FC6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FA2CB-86C4-43D0-914B-A85BF4C0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AE4B2-DF39-4165-B94C-2D793CA9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989A9-6641-4243-AF58-79CF1BAD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DD1FF-E4FB-49AB-BFF7-8665B9A1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5A7C4-CB55-4010-BD9A-B94C5C88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B52C2C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B52C2C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DFC40-E0CC-4F1E-BF1F-E890024F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31E16-2CC5-4872-8B1A-8EEF7A8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6A969-F8F6-4E8E-9E85-EC881ACA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8B716-5510-4130-8994-0FE00955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DBC08-19A5-4AD8-B544-38CCBA2B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D798D-7797-4220-A00A-225FF3FA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82B3D-5637-439C-9DA0-07348476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C2207-2DAC-4D05-AF57-A97D95FF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BD217-0403-4352-8AC5-14C179F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2D00D-4140-4675-A579-5DFDF9A8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AA15AE-D1FE-471B-9DDA-1615AABC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L₂：c6 起送 1，完整抵達 C 為 3 秒。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EB3248-D193-4A25-8930-AF153E63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c8：最晚 2 秒起送，3 秒才收到，已來不及。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92390-2C12-4573-A2CD-764A9AD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c7：R=2 MB &lt; S=4 MB，容量不足。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9A8DD9-8859-4755-889F-850B059D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兩個 contacts 都失敗，繼續處理 Q。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59CA46-2EAC-47B2-B254-4DFF29F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沒有建立子 Label；Q 剩下 [L₃：8]。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23EAE5-979D-43D1-AD00-84EED58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59E2C0-321D-411D-A1A3-558D718A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7784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56DF86-2297-4AC3-B404-3477C90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L₃：晚到 B 可以接上 c5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C121D-B10F-4865-BC96-1F217D9C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1" y="2092771"/>
            <a:ext cx="1493471" cy="237598"/>
          </a:xfrm>
          <a:custGeom xmlns:a="http://schemas.openxmlformats.org/drawingml/2006/main">
            <a:pathLst>
              <a:path w="1493471" h="237598">
                <a:moveTo>
                  <a:pt x="0" y="0"/>
                </a:moveTo>
                <a:lnTo>
                  <a:pt x="1493471" y="237598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98ABF-80EF-49D5-87EA-06B4868A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869" y="2277776"/>
            <a:ext cx="100053" cy="75254"/>
          </a:xfrm>
          <a:custGeom xmlns:a="http://schemas.openxmlformats.org/drawingml/2006/main">
            <a:pathLst>
              <a:path w="100053" h="75254">
                <a:moveTo>
                  <a:pt x="11972" y="0"/>
                </a:moveTo>
                <a:lnTo>
                  <a:pt x="100053" y="52592"/>
                </a:lnTo>
                <a:lnTo>
                  <a:pt x="0" y="75254"/>
                </a:lnTo>
                <a:lnTo>
                  <a:pt x="11972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34EDC-F65E-4217-A8F8-97783471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535" y="2504538"/>
            <a:ext cx="1640809" cy="784735"/>
          </a:xfrm>
          <a:custGeom xmlns:a="http://schemas.openxmlformats.org/drawingml/2006/main">
            <a:pathLst>
              <a:path w="1640809" h="784735">
                <a:moveTo>
                  <a:pt x="0" y="0"/>
                </a:moveTo>
                <a:lnTo>
                  <a:pt x="1640809" y="7847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11E55-C8E7-4EAD-BF0F-5D29051F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977" y="3213806"/>
            <a:ext cx="102367" cy="75467"/>
          </a:xfrm>
          <a:custGeom xmlns:a="http://schemas.openxmlformats.org/drawingml/2006/main">
            <a:pathLst>
              <a:path w="102367" h="75467">
                <a:moveTo>
                  <a:pt x="32877" y="0"/>
                </a:moveTo>
                <a:lnTo>
                  <a:pt x="102367" y="75467"/>
                </a:lnTo>
                <a:lnTo>
                  <a:pt x="0" y="68743"/>
                </a:lnTo>
                <a:lnTo>
                  <a:pt x="32877" y="0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8EBB7-114E-4724-B8CC-347150BE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512" y="2592925"/>
            <a:ext cx="1634141" cy="1411303"/>
          </a:xfrm>
          <a:custGeom xmlns:a="http://schemas.openxmlformats.org/drawingml/2006/main">
            <a:pathLst>
              <a:path w="1634141" h="1411303">
                <a:moveTo>
                  <a:pt x="0" y="1411303"/>
                </a:moveTo>
                <a:lnTo>
                  <a:pt x="16341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107C4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C3165-9873-423B-A2EC-DA494D26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663" y="2592925"/>
            <a:ext cx="96990" cy="91092"/>
          </a:xfrm>
          <a:custGeom xmlns:a="http://schemas.openxmlformats.org/drawingml/2006/main">
            <a:pathLst>
              <a:path w="96990" h="91092">
                <a:moveTo>
                  <a:pt x="0" y="33422"/>
                </a:moveTo>
                <a:lnTo>
                  <a:pt x="96990" y="0"/>
                </a:lnTo>
                <a:lnTo>
                  <a:pt x="49806" y="91092"/>
                </a:lnTo>
                <a:lnTo>
                  <a:pt x="0" y="33422"/>
                </a:lnTo>
              </a:path>
            </a:pathLst>
          </a:custGeom>
          <a:solidFill xmlns:a="http://schemas.openxmlformats.org/drawingml/2006/main">
            <a:srgbClr val="107C41"/>
          </a:solidFill>
          <a:ln xmlns:a="http://schemas.openxmlformats.org/drawingml/2006/main" w="9525">
            <a:solidFill>
              <a:srgbClr val="107C4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0B46D-6FE4-4803-A302-38149C92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391" y="4242117"/>
            <a:ext cx="1495733" cy="271951"/>
          </a:xfrm>
          <a:custGeom xmlns:a="http://schemas.openxmlformats.org/drawingml/2006/main">
            <a:pathLst>
              <a:path w="1495733" h="271951">
                <a:moveTo>
                  <a:pt x="0" y="0"/>
                </a:moveTo>
                <a:lnTo>
                  <a:pt x="1495733" y="271951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3BE89-D354-4572-8D41-9C53E34A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595" y="4459544"/>
            <a:ext cx="100529" cy="74971"/>
          </a:xfrm>
          <a:custGeom xmlns:a="http://schemas.openxmlformats.org/drawingml/2006/main">
            <a:pathLst>
              <a:path w="100529" h="74971">
                <a:moveTo>
                  <a:pt x="13631" y="0"/>
                </a:moveTo>
                <a:lnTo>
                  <a:pt x="100529" y="54524"/>
                </a:lnTo>
                <a:lnTo>
                  <a:pt x="0" y="74971"/>
                </a:lnTo>
                <a:lnTo>
                  <a:pt x="13631" y="0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03C29-4B60-408A-A6AD-E52B23E4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92" y="3578802"/>
            <a:ext cx="1650288" cy="861020"/>
          </a:xfrm>
          <a:custGeom xmlns:a="http://schemas.openxmlformats.org/drawingml/2006/main">
            <a:pathLst>
              <a:path w="1650288" h="861020">
                <a:moveTo>
                  <a:pt x="0" y="861020"/>
                </a:moveTo>
                <a:lnTo>
                  <a:pt x="1650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0D0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D3135-A4A3-44EB-AAD4-AB5EA1AA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309" y="3578802"/>
            <a:ext cx="102071" cy="77838"/>
          </a:xfrm>
          <a:custGeom xmlns:a="http://schemas.openxmlformats.org/drawingml/2006/main">
            <a:pathLst>
              <a:path w="102071" h="77838">
                <a:moveTo>
                  <a:pt x="0" y="10281"/>
                </a:moveTo>
                <a:lnTo>
                  <a:pt x="102071" y="0"/>
                </a:lnTo>
                <a:lnTo>
                  <a:pt x="35248" y="77838"/>
                </a:lnTo>
                <a:lnTo>
                  <a:pt x="0" y="10281"/>
                </a:lnTo>
              </a:path>
            </a:pathLst>
          </a:custGeom>
          <a:solidFill xmlns:a="http://schemas.openxmlformats.org/drawingml/2006/main">
            <a:srgbClr val="D0D0D9"/>
          </a:solidFill>
          <a:ln xmlns:a="http://schemas.openxmlformats.org/drawingml/2006/main" w="9525">
            <a:solidFill>
              <a:srgbClr val="D0D0D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C8358-79E9-4D8F-AA3F-287DA22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c1 [2,3]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ED853-A91D-4507-8198-55AE3C4D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05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c3 [1,2]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35DD1-1B8B-451B-B246-E18CBD91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718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c4 [7,9]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F03A0-FCD4-4E0B-9B1C-B6411BA4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c2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71A5D-3597-43AE-9D3D-46047D9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c5 [10,11]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2E8BE-4597-4285-9F1D-D1D96FC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c6 [1,2]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01138-ED91-4905-A559-83AB9B6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910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c7 [4,5]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3C1F1-6C81-4DBB-885D-A717B94C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577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999999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999999"/>
                </a:solidFill>
                <a:latin typeface="DFKai-SB"/>
                <a:ea typeface="DFKai-SB"/>
                <a:cs typeface="DFKai-SB"/>
              </a:rPr>
              <a:t>c8 [2,3]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E3879-F8D8-4BAD-942C-E6262B40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B89E0-CCB0-471F-A364-4D71721B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CCD84-19BB-4656-B6DE-16BC933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F0566-9562-48F0-84DA-EB431D7C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62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868CE-AFEC-4C6A-8D79-265ADE72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BA7AE-F946-4F7E-B7B5-457073B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0ADEC-AEDB-43EC-A8B9-F294A39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904CEC-7DBC-4FEC-BD98-041570CE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43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E151D-4ECB-4D31-B4D4-1629DF3B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33339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8B082-9062-4B02-8E40-FCE0B723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7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D02C4-83C5-46B7-AAFC-64C8AD58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71352-43CC-4551-9EA4-043DC64F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401CB-CF14-43DB-8B5C-F61D7E65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3BFC5-FA83-48BA-B330-A4B5DA84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79CC3-6C42-4DBB-9E65-49859B2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AA8238-76F9-40F8-ACC1-2E78968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840900-EA51-4A85-921F-78CB3491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F5E887-1632-4658-8C55-FF14451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25D30D-1DCA-4AEC-95C9-558580C7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B34A58-042E-4E55-9B44-FBE5229A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792F6C-D655-4235-835D-865B4C5D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9EAD80-F8CB-455E-A507-7F243AC8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F18A69-3B5E-4192-B3B9-0E5A12B1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9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7F0CF3-D94F-4CD2-91A6-5C76B400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857750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94F15B-2072-46A4-B056-FDAA1B5F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972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0FAD45-8BE7-40E3-9D0A-6E64DEE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72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52805A-8F58-4BAD-98B2-09F23E47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BF6C0A-D373-47D3-A081-FE1E682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A4327F-00FA-4730-BAED-F351A625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09550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213C56-A8C3-41A6-AA56-965E88DF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B 等待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DF5435-1805-4D64-B63D-2037E6F7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983FE4-C1D9-42BB-8268-7D7242E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857500"/>
            <a:ext cx="63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F2C20C-C204-445D-B7DA-DFE4DB7A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B 傳送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D1CE1E-674E-4CC9-9E23-A7DE79E4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0D0078-138D-45EB-8BD3-172369F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61950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3A60C4-0C46-429B-9BCE-1622DEB9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043316-D0A9-44E6-8297-EB28A863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3810000" cy="9525"/>
          </a:xfrm>
          <a:custGeom xmlns:a="http://schemas.openxmlformats.org/drawingml/2006/main"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3D07B4-70B9-497B-84E5-5D3FDF7C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00" y="4381500"/>
            <a:ext cx="31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567F60-DCA3-424E-8A30-599B0760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建立 L₄=(c5,12,10,L₃)，加入 Q；尚未扣除全域資源。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AE575C-51A2-4E67-B04B-51742DD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6FF171-5F0D-46E1-804D-E44EDF11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54353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7E33D-C24F-4C1C-9754-F0353AF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取出目的地：沿 pred 回溯排程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152A5-ED47-49AB-8270-76F5CA7C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8FD3E-6761-4701-80F5-40785C8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 = (c₀, 1, —, ∅)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795F4-6D71-472D-B821-EC46143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D4DF-4C69-4183-BDB6-1D4C3C36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19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L₃ = (c4, 8, 7, L₀)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68EA2-95D2-4A1C-B8CF-8CD100EF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BB85D-8D78-46BA-9D97-FBFD9C1E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L₄ = (c5, 12, 10, L₃)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99ABE-3AB4-4EEA-85CE-9C9F291E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F0419-CCCA-4692-9C2A-7814BFDA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45694-4065-4FED-9FC5-C4CF069D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A→B：c4 在 7～8 秒傳送，8 秒完整抵達。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5C14F-E0FB-492A-90B8-7B0C3DFD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B→D：c5 在 10～11 秒傳送，12 秒完整抵達。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A120F-6E3E-4A59-92E7-455E161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回溯是讀取已確定的時間，不是到這時才選時間。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ABB54-94B9-44D3-A89B-D623DBA2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輸出路徑 A→B→D 與每一跳的實際起送、抵達時間。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9FA37-3CE3-4555-A17C-C30F8F8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3B02D-BC14-4B53-9A12-0ADE6915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771083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E382D8-4EE5-4BAF-9D6C-2AC73AD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兩包提交後：B 的 buffer 占用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A4D05-BF40-4A60-A54B-91D5236E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橘：第一包；綠：第二包；上限 4 MB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4F760-C5F8-46DE-9B95-63F2ED6B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8572500" cy="2381250"/>
          </a:xfrm>
          <a:custGeom xmlns:a="http://schemas.openxmlformats.org/drawingml/2006/main">
            <a:pathLst>
              <a:path w="8572500" h="2381250">
                <a:moveTo>
                  <a:pt x="0" y="0"/>
                </a:moveTo>
                <a:lnTo>
                  <a:pt x="0" y="2381250"/>
                </a:lnTo>
                <a:lnTo>
                  <a:pt x="8572500" y="23812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63CB1-261D-4B4E-8D9A-443C8531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24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36F6C-3B4A-4707-8A11-1A6C9E6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2E4A8-753C-4899-AFAA-06FAA284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1077A-5077-41E6-8E8F-933D0B45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428750" cy="9525"/>
          </a:xfrm>
          <a:custGeom xmlns:a="http://schemas.openxmlformats.org/drawingml/2006/main"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24822-C393-43B9-9DC7-7D57F603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714375" cy="2381250"/>
          </a:xfrm>
          <a:custGeom xmlns:a="http://schemas.openxmlformats.org/drawingml/2006/main">
            <a:pathLst>
              <a:path w="714375" h="2381250">
                <a:moveTo>
                  <a:pt x="0" y="238125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BF650-DF64-4829-933E-5BF4B065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86000"/>
            <a:ext cx="2143125" cy="9525"/>
          </a:xfrm>
          <a:custGeom xmlns:a="http://schemas.openxmlformats.org/drawingml/2006/main">
            <a:pathLst>
              <a:path w="2143125" h="9525">
                <a:moveTo>
                  <a:pt x="0" y="0"/>
                </a:moveTo>
                <a:lnTo>
                  <a:pt x="2143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E9F71-BA22-43C8-ABA1-942C16F0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714375" cy="2381250"/>
          </a:xfrm>
          <a:custGeom xmlns:a="http://schemas.openxmlformats.org/drawingml/2006/main">
            <a:pathLst>
              <a:path w="714375" h="2381250">
                <a:moveTo>
                  <a:pt x="0" y="0"/>
                </a:moveTo>
                <a:lnTo>
                  <a:pt x="714375" y="2381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5F1EC-D2ED-4FA1-BA76-D6C23569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67250"/>
            <a:ext cx="3571875" cy="9525"/>
          </a:xfrm>
          <a:custGeom xmlns:a="http://schemas.openxmlformats.org/drawingml/2006/main">
            <a:pathLst>
              <a:path w="3571875" h="9525">
                <a:moveTo>
                  <a:pt x="0" y="0"/>
                </a:moveTo>
                <a:lnTo>
                  <a:pt x="3571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7670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20C05-6296-4608-B327-B3E620F7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E5A1E-A79A-4839-A7D8-FC70F8AC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D046B-FDA0-4DA7-A3F5-990B7326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1527D-9847-46A6-B21B-4EDE1AB1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D8BA9-9C2C-4ACB-87C4-26A8C381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17BB3-3816-4163-9F62-6719B634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309D7-B75A-4FB6-8EA9-A08F13A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10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682FF-51A0-4C7B-95CA-A75C7C2D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810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86431-EDC4-42AC-B968-A324A9F7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5000625" cy="9525"/>
          </a:xfrm>
          <a:custGeom xmlns:a="http://schemas.openxmlformats.org/drawingml/2006/main">
            <a:pathLst>
              <a:path w="5000625" h="9525">
                <a:moveTo>
                  <a:pt x="0" y="0"/>
                </a:moveTo>
                <a:lnTo>
                  <a:pt x="500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DCA49-0393-497E-9DBB-7461D184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714375" cy="2381250"/>
          </a:xfrm>
          <a:custGeom xmlns:a="http://schemas.openxmlformats.org/drawingml/2006/main">
            <a:pathLst>
              <a:path w="714375" h="2381250">
                <a:moveTo>
                  <a:pt x="0" y="238125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D2B75-D9DC-42CD-91AC-46D5EAC2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1428750" cy="9525"/>
          </a:xfrm>
          <a:custGeom xmlns:a="http://schemas.openxmlformats.org/drawingml/2006/main"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7DFD4-B22B-4C03-B45B-68CFA90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714375" cy="2381250"/>
          </a:xfrm>
          <a:custGeom xmlns:a="http://schemas.openxmlformats.org/drawingml/2006/main">
            <a:pathLst>
              <a:path w="714375" h="2381250">
                <a:moveTo>
                  <a:pt x="0" y="0"/>
                </a:moveTo>
                <a:lnTo>
                  <a:pt x="714375" y="2381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C20A3-D110-44FC-8220-0A9C6470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67250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07C4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E4085-D670-4A13-875A-CFBA606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兩包在 B 的合計峰值為 4 MB，沒有超過上限。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C41A8-E1FF-42C1-B18A-AFAD3B8F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A16C2-91BB-4353-B529-A83A5714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034861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F5036-6CD1-4F04-AF94-2B91ED16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兩包接受後的資源表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905000"/>
                <a:gridCol w="2000250"/>
                <a:gridCol w="2000250"/>
                <a:gridCol w="2857500"/>
              </a:tblGrid>
              <a:tr h="402167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初始 R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第一包後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第二包後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本次新增 F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[2,3)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[6,7)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[7,8)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[10,11)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ADB81-0301-40CD-BB41-E9BAA564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每次使用原 contact 扣 S；切片不各自獲得一份容量。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0C4BA-A30C-4538-A91B-224BAD7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CA2F-4FFD-41B0-8760-D97039E6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83521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EE3CA-9290-4665-B78D-85C0B128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 事件順序：先釋放，再接納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47846-5D1E-4A6F-A1D0-10A02979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示例：本包 S=1 MB；buffer 上限=1 MB。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190750"/>
                <a:gridCol w="2190750"/>
                <a:gridCol w="2286000"/>
              </a:tblGrid>
              <a:tr h="60721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同一時刻 g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既有資料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本包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合計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事件前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釋放舊資料後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接納本包後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9D7A8-4234-4CBC-B1C1-49141941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來源在 g 接納本包：檢查 O_src(g⁺)+S ≤ M_src。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0B7F9-B56C-4523-AF41-CC57F35E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435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來源之後的等待與送出，仍須完整檢查。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606D0-AC63-4946-81F4-68F35E8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這是明確選定的事件規則，不代表任意事件順序都可行。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88CD3-9573-4DF9-A92D-FB36551C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21912-A5B2-488B-9C76-5FF17680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68880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1B182-C574-41CC-9B77-A2CD48B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目的地：保留峰值，再交付釋放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34D85-53D6-45D8-93FE-65071EAF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接收期間：逐步增加本包的占用。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B23CE-B271-481B-8CC5-754C5F21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完整抵達 A：先檢查 O_dst(A⁻)+S ≤ M_dst。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BFBC6-343A-46CF-B887-BDA227E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交付釋放後：檢查 O_dst(A⁺) ≤ M_dst。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BEE67-2E0E-49ED-BB00-3B40144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目的地不再轉送，不套用一般中繼節點的等待條件。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BD0D7-D154-4A59-8F0E-EC8296B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來源初始化、目的地終點、一般中繼節點，分開處理端點。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F7729-4D70-43BF-A118-60B336A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09D94-92E7-4C93-BB7B-4D8CE37F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193567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179E5-E173-41CF-97D5-2DAD9EE6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接收、等待、送出的 buffer 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2CC1B-22E4-47BD-8C99-2308EDF0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d=S/r_c；f=s+d；h=s+δ_c；A_new=f+δ_c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DA5B2-20AB-4532-BBF6-499E16D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等待：O_u(t)+S ≤ M_u，t∈[A,s]。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14051-E5F6-45B9-85D1-4E5B884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送出：O_u(t)+S−r_c(t−s) ≤ M_u，t∈[s,f]。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6945C-0BC4-4EF1-AE4A-4590CB58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接收：O_v(t)+r_c(t−h) ≤ M_v，t∈[h,A_new]。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DF86-77C9-4601-A748-B5AB687B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跳變時檢查兩側；來源與目的地端點依 P 特別處理。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A4648-B352-4BCC-A499-AF620854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接收可行就建立 Label；能否等下一跳，下一次延伸再判斷。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E6611-6061-430E-ADE7-98720707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13E04-5630-4084-83AB-EF1E526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36193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FC116-1F6F-4B9A-8624-21378ED0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可行起送時段如何求出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8F4F8-0798-4DAB-B35B-9A60A514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先限制：contact 時窗、截止時間、已預約傳送時段。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4D09C-0214-40CD-AC53-F6AED7A1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加入：傳送期間釋放、接收期間增加的 buffer 條件。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08888-2374-4AD6-B729-E8C24E3E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以占用曲線各線性段、轉折點與事件兩側解不等式。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9AD58-C5B0-4E51-B2DF-263091FE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合併得到可行起送時段 J_c，保留開閉端點。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E3488-807E-46DC-8043-804061B5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J_c 是本包的搜尋輔助；不永久改寫原始 Contact Plan。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D1ACF-6FAC-4838-A749-AFE194E0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04EAD-A879-4B03-8C91-3C2142A4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864435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89F3D-69C3-4BC8-8241-4CD4CA6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從可行時段選出具體起送時間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331A7-B68B-4534-BFD7-FEB995EC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將 J_c 裁切到「A 之後、能持續等待」的時段。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F54C4-9993-4399-ADC6-EDDF8494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每個非空區段取可取得的最早起送時間 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D8461-1C43-4219-A9E5-6BC850FF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計算 A_new=s+S/r_c+δ_c。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E473B-2F16-4FF1-92A9-69D4275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建立 N=(c,A_new,s,L)，再比較 dominance。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CFFC-0365-49B1-A7F4-ABBF01E3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只有下確界、沒有最早點：記錄下界，不任選 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4B493-C90D-4CB3-959A-E056377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有限個時段仍逐段處理；沒有逐秒建立 Label。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43AAA-0D92-42A1-B94D-8B68CAA9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B865E-0548-422C-BCD1-32B8E9C5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057884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D5EEC-2876-4C85-9CE2-C231A957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Dominance：時間與容量歷史一起比較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25576-EB3D-46A1-861C-141DF39A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同一節點、同一個可完整持有的時段。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F7307-EF8B-423F-AE04-0FDE5114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 的抵達時間不晚於 L₂。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D1251-0970-4502-A553-4180A4A5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 對各原 contact 的已用次數，不多於 L₂。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C374-CE49-457A-804A-831BE1FE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全部符合，才以 L₁ 取代 L₂；不可比較就都保留。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88629-913F-4C98-A999-19600BA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n(L,c) 由 pred 回算；比較容量歷史，不增加 Label 欄位。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AEFE2-A96B-47ED-90F7-E3429DB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3CACA-AB1B-4E5C-8003-635F03F6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531197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808F5-1136-4CE6-B657-2BFAC522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為什麼要比較 contact 使用次數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D968B-7093-45EF-A52A-C31A9552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獨立示例：S=1，R[c]=1；兩條路徑後面都需要 c。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809750"/>
                <a:gridCol w="2190750"/>
                <a:gridCol w="304800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U 的候選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抵達時間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已使用 c 次數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還能使用 c？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繞路返回 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否：容量已用完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另一條路到 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5.5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是：仍有容量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DC812-57E3-4D73-9361-341DF77C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兩者都在 U 的同一個可持有時段 [5,20]。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55068-5D5D-4659-9DD7-E03B7ED0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只因早到就刪晚到，會刪掉後面唯一可行的路徑。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2864D-9575-4176-AF17-34DEC43B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允許循環時，容量必須按原 contact 的實際使用次數累計。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1BCF3-7AC5-4021-9978-FBAB7729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829A6-8CF4-4E9E-8ABF-6A8DA7B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159630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7FD24-D45C-4DD0-8A2D-620501F3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搜尋結果：最優、可行、無解或未知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1742-2DDF-4C17-92C0-DD68E155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478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D*=min(交付截止, 規劃期限)；A* 是驗證後的抵達時間。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048250"/>
              </a:tblGrid>
              <a:tr h="515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條件（完整性前提另須成立）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結果標記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目的地排程 A* ≤ incompleteLB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OPTIMAL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目的地排程 A* &gt; incompleteLB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FEASIBLE_NOT_PROVEN_OPTIMAL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Q 空；incompleteLB ≥ D*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NO_PATH_WITHIN(D*)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Q 空；incompleteLB &lt; D*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UNKNOWN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運算逾時／任意限縮候選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UNKNOWN／HEURISTIC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A6DF8-9A56-4260-8092-39D5C46A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incompleteLB：被略過分支的抵達下界；最優性仍屬證明草稿。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64983-B04B-4E92-90BF-02BDF952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F0479-1A81-4F8C-BC8B-54123D13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64536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DF0C55-CEA7-4170-B011-93313508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提交 buffer：每次造訪只寫一條曲線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075B3-3DA4-4DDE-9AE5-F1A88EBE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0125"/>
            <a:ext cx="8001000" cy="9525"/>
          </a:xfrm>
          <a:custGeom xmlns:a="http://schemas.openxmlformats.org/drawingml/2006/main"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302D-E386-4E59-9372-AC3A66B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D0A68-561D-4D1D-B225-1E8750A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913BE-BFAA-45AF-B0C3-98961ACA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5B3B4-E647-462B-AE00-D881AF6F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EDA2A-EE30-40D1-BEC6-42E063A8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830D5-E460-4AF5-B196-F7B981C4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6C7FB-4047-4030-8588-2F05A157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1F942-4DFD-44FD-A4A2-F62D52B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77B07-2A8E-43EB-9A97-6214CFA2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B302-8D92-4E0D-9B7D-12E616D2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AD84C-88C9-431A-A004-260A5655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777F0-7989-49E2-A215-6C68C2B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74CAE-E728-4B41-A8ED-FA87AEB6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10125"/>
            <a:ext cx="9525" cy="57150"/>
          </a:xfrm>
          <a:custGeom xmlns:a="http://schemas.openxmlformats.org/drawingml/2006/main"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77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95A86-64E1-42F2-99A3-097E2D8B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924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06F25-EFC4-4CFA-BCC6-66A4A958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24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90A25-D766-4753-88ED-A228683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接收 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FFC15-4D5A-4233-9ACE-76AF4A0C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00300"/>
            <a:ext cx="8763000" cy="9525"/>
          </a:xfrm>
          <a:custGeom xmlns:a="http://schemas.openxmlformats.org/drawingml/2006/main"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ECDFB-58DC-40D4-A497-60CD902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27E50-2211-48F0-BAB3-6FDE2BA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等待 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FCD1D-F542-49E1-9FE5-32F7B4BD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05175"/>
            <a:ext cx="8763000" cy="9525"/>
          </a:xfrm>
          <a:custGeom xmlns:a="http://schemas.openxmlformats.org/drawingml/2006/main"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43058-8F37-4934-89DB-17064D0A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9087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99531-1886-445B-8BAE-08BE2CB2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送出 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9049C4-CEF1-40A0-81D2-D833099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0050"/>
            <a:ext cx="8763000" cy="9525"/>
          </a:xfrm>
          <a:custGeom xmlns:a="http://schemas.openxmlformats.org/drawingml/2006/main"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DCE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99EB58-5596-45C6-A92C-94CAFE25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4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69A86A-B1C4-44F6-99D3-E3BD34CD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接收終點與等待起點都是同一個 S；拼接，不重複相加。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0A8AD-F2DD-4E0D-9941-6ACF5D4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19776-415F-4998-9151-381B80DF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630121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7A120-741D-4BBB-9AD6-45450BE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符號與輸入整理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239000"/>
              </a:tblGrid>
              <a:tr h="412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符號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33399"/>
                          </a:solidFill>
                          <a:latin typeface="DFKai-SB"/>
                          <a:ea typeface="DFKai-SB"/>
                          <a:cs typeface="DFKai-SB"/>
                        </a:rPr>
                        <a:t>意義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S；r_c；δ_c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本包大小；傳輸速率；傳播延遲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A；s；d=S/r_c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前驅完整抵達；本跳起送；傳輸時間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R[c]；F_c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剩餘容量配額；已預約傳送時段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O_v(t)；M_v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已接受 bundles 的占用；buffer 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H_v；J_c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整包可持有時段；可行起送時段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n(L,c)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沿 pred 計算本路徑使用 c 的次數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D_dead；T_H；D*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交付截止；規劃期限；兩者較小值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incompleteLB；T_cpu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DFKai-SB"/>
                          <a:ea typeface="DFKai-SB"/>
                          <a:cs typeface="DFKai-SB"/>
                        </a:rPr>
                        <a:t>略過分支抵達下界；程式運算時間上限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67245-9ACF-4D29-8F0E-64438D30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所有候選皆以 (c,A,s,pred) 表示；依 A 決定探索順序。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FF727-10DD-43FB-86CC-4E4FD70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D185F-9C49-4A8C-9E7C-0C88110C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284601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46A90-5A2D-4A7C-BD54-FAFC79C5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英文虛擬碼：初始化與取出候選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7420B-CB44-4142-A77C-59F6F1E4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66800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Dstar ← min(deliveryDeadline, planningHorizon)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if not RootAdmissibleP(source, g, S): return INVALID_INPUT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H ← BuildHoldingComponents(O, M, S)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J ← BuildStartIntervals(contacts, O, F, S, Dstar, P)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L0 ← (c0, g, —, null)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Q ← priority queue ordered by (arrival, creationOrder)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InsertRoot(Q, L0); incompleteLB ← +infinity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while Q is not empty: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CPU timeout: return UNKNOWN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L ← ExtractMin(Q)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L is inactive: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node(L) = destination: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route ← TraceBack(L)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ValidateWholeSchedule(route)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return GoalStatus(route, incompleteLB)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ExtendOutgoingContacts(L)       // next slide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D8AF1-85A7-4242-A827-35A13ED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來源按 P 初始化；時間在建立 Label 時確定，回溯只讀取排程。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1DA38-9DAA-4E3C-93DF-E4852B66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80765-C7F1-4511-99CC-0326E31B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094084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C7C13-B6F8-4347-9928-16BA1E25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英文虛擬碼：延伸與更新候選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E7D3B-996A-4A91-BCB8-6F6B7D9B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66800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for each outgoing original contact c of node(L):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if S * (UseCount(L,c) + 1) &gt; R[c]: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for B in CompatibleSegments(J[c], L, H, P):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result ← EarliestAttainableStart(B)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if result is EMPTY: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if result is NOT_ATTAINED(lo):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incompleteLB ← min(incompleteLB, lo + S/r(c) + delay(c))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    continue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s ← result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Anew ← s + S/r(c) + delay(c)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N ← (c, Anew, s, L)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      TryInsertByDominance(N, Q, retainedLabels)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// After Q is exhausted: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return ExhaustedStatus(incompleteLB, Dstar)</a:t>
            </a:r>
          </a:p>
          <a:p xmlns:a="http://schemas.openxmlformats.org/drawingml/2006/main">
            <a:pPr algn="l"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// Driver: validate route; commit R, F and per-visit occupancy.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27B4-2371-452B-A7A4-BE00ECEA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只處理有限可行時段；不建立逐秒起送迴圈。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8C76C-9298-44CD-A5EB-AB3D9C82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14601-44F7-4223-B26F-3DF7514B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7441405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1AF18-6774-4687-A080-AF2D733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3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候選方法的範圍與下一步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EDADB-E0AB-4BF7-AE35-54D558F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已整理：具體 Label、起送時段、容量與等待條件。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4DE0A-5271-44DD-9270-EB25CB89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本例：第一包 8 秒、第二包 12 秒完整抵達。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74ED-A879-433B-9B0E-871C70B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待實作：區間求解、P 端點、容量歷史與結果標記。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2F193-1DDA-4F22-AD6B-AAD9B635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待驗證：不漏解、最早抵達、循環與資源提交。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74F42-38A8-4909-8A75-63B4A52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文獻依據：SIPP；DTN 模型仍須另行證明與查核。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67E38-F4F5-49C4-B6B6-3DD0F238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先用小案例找錯並保留反例，再進行效能比較。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0ED9A-53F4-469D-ACCC-3D4BCFC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6682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425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候選方法，尚待驗證｜A3b：容量配額｜P：釋放先於接納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EA2FD-45D6-4D3A-A00E-4698CD9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960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77777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777777"/>
                </a:solidFill>
                <a:latin typeface="DFKai-SB"/>
                <a:ea typeface="DFKai-SB"/>
                <a:cs typeface="DFKai-SB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06500611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2026-10-21T00:31:26.4600000Z</dcterms:created>
  <dcterms:modified xsi:type="dcterms:W3CDTF">2026-10-21T00:31:26.4600000Z</dcterms:modified>
</coreProperties>
</file>